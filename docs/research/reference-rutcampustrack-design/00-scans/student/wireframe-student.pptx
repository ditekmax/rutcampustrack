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4" r:id="rId8"/>
    <p:sldId id="265" r:id="rId9"/>
    <p:sldId id="268" r:id="rId10"/>
    <p:sldId id="269" r:id="rId11"/>
    <p:sldId id="270" r:id="rId12"/>
    <p:sldId id="271" r:id="rId13"/>
    <p:sldId id="272" r:id="rId14"/>
    <p:sldId id="273" r:id="rId15"/>
    <p:sldId id="266" r:id="rId16"/>
    <p:sldId id="267"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37" autoAdjust="0"/>
    <p:restoredTop sz="94660"/>
  </p:normalViewPr>
  <p:slideViewPr>
    <p:cSldViewPr snapToGrid="0" showGuides="1">
      <p:cViewPr varScale="1">
        <p:scale>
          <a:sx n="148" d="100"/>
          <a:sy n="148" d="100"/>
        </p:scale>
        <p:origin x="1084" y="80"/>
      </p:cViewPr>
      <p:guideLst>
        <p:guide orient="horz" pos="2160"/>
        <p:guide pos="30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D569F4-EA2A-B274-9068-9C3FD8209509}"/>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86F417E-E8CF-0F59-D7FC-A4E946122D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5E05DD81-22AC-451A-0742-A4BA8D88BA3A}"/>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5" name="Нижний колонтитул 4">
            <a:extLst>
              <a:ext uri="{FF2B5EF4-FFF2-40B4-BE49-F238E27FC236}">
                <a16:creationId xmlns:a16="http://schemas.microsoft.com/office/drawing/2014/main" id="{17F7D94C-3AFD-260A-82F1-AA0B88B3943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0692FD4-9453-257E-C141-F08B51FB52AD}"/>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4049137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5E8FDA-CC55-8607-8E11-2E4B9B0E083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26091937-6B20-29E5-15E7-BC48618D77F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C8CE2E3-F7E7-5625-F292-0150960B417E}"/>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5" name="Нижний колонтитул 4">
            <a:extLst>
              <a:ext uri="{FF2B5EF4-FFF2-40B4-BE49-F238E27FC236}">
                <a16:creationId xmlns:a16="http://schemas.microsoft.com/office/drawing/2014/main" id="{0CEFD9E9-E8AB-7C62-AE72-F38759BB3D9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321C42C-59A7-70EF-F9C6-BE2FD58044DC}"/>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4130171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A65528-1992-AF4B-5B19-C8B13FB4A9E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51724451-E787-604A-56F2-B27B2E6086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B24E030-8B97-8144-5AAB-FDE966E0BDCC}"/>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5" name="Нижний колонтитул 4">
            <a:extLst>
              <a:ext uri="{FF2B5EF4-FFF2-40B4-BE49-F238E27FC236}">
                <a16:creationId xmlns:a16="http://schemas.microsoft.com/office/drawing/2014/main" id="{9C242DA1-D14D-F6D3-6A1C-34CDDC59688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CE2E281-92B4-CF94-C040-E10263459A75}"/>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348451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7FD110-692D-530C-4215-A11E9FC0F82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A7607DB8-3A30-9518-06BB-9E917D12F75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AB89088-2C18-D458-72AE-93660425EAB7}"/>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73C9D276-DC2C-B324-D2A2-A6535379F4F7}"/>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6" name="Нижний колонтитул 5">
            <a:extLst>
              <a:ext uri="{FF2B5EF4-FFF2-40B4-BE49-F238E27FC236}">
                <a16:creationId xmlns:a16="http://schemas.microsoft.com/office/drawing/2014/main" id="{6B729F3A-C942-FB7C-3A24-1B5821EEFFF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A953408-2055-33DC-1D8F-618C657BE9B9}"/>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1805165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E0A29B-3F48-934B-4B8D-BC9DD7C7E5FA}"/>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EC923FF0-5FF5-DDDB-9843-D6BFDE6750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C9987B02-CB4B-9F6D-06CD-341256686C4A}"/>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5C23254D-71DA-0F8B-91AA-BAB5E8BE2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767F756-2892-F272-45B1-E30E1D58FE5D}"/>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D74BE57D-50EC-E511-D2D6-FBAD005BDF7D}"/>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8" name="Нижний колонтитул 7">
            <a:extLst>
              <a:ext uri="{FF2B5EF4-FFF2-40B4-BE49-F238E27FC236}">
                <a16:creationId xmlns:a16="http://schemas.microsoft.com/office/drawing/2014/main" id="{277B8031-E378-CC53-4D2D-48ACEEEA5A08}"/>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BC48247F-F0CE-FCD3-7565-CB2C40F1F6F1}"/>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3058021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F2E0E1-69E2-13BD-990E-52A1533B3B0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3C748F94-3E74-02BD-7185-2CB0B132D456}"/>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4" name="Нижний колонтитул 3">
            <a:extLst>
              <a:ext uri="{FF2B5EF4-FFF2-40B4-BE49-F238E27FC236}">
                <a16:creationId xmlns:a16="http://schemas.microsoft.com/office/drawing/2014/main" id="{6115B8B2-46CD-775E-7A40-5F6A35C988E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864C014-E834-3FC4-10E2-EC0714FE7496}"/>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771708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9BD2EAD2-0655-E14D-880B-B45EC1B15004}"/>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3" name="Нижний колонтитул 2">
            <a:extLst>
              <a:ext uri="{FF2B5EF4-FFF2-40B4-BE49-F238E27FC236}">
                <a16:creationId xmlns:a16="http://schemas.microsoft.com/office/drawing/2014/main" id="{F6B16F70-4866-DD38-A2DB-7208D2865915}"/>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E3A4F78C-8361-1FD2-422A-87F40F45FA80}"/>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3260750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EC2F0E-59A8-7476-180B-5F21161364CE}"/>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53B93A0F-BCC9-F5D2-3736-6D6BE1E864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E7782033-0C85-16BC-26DD-B16479737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A32DE48-88DD-B8DA-5909-29F36D96BC98}"/>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6" name="Нижний колонтитул 5">
            <a:extLst>
              <a:ext uri="{FF2B5EF4-FFF2-40B4-BE49-F238E27FC236}">
                <a16:creationId xmlns:a16="http://schemas.microsoft.com/office/drawing/2014/main" id="{10066BF1-1304-B99A-87D6-AD3EA37E08E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A3DC220F-FA37-166B-9437-2D64DC20957F}"/>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829432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4A1543-9368-2EA2-045D-730F85B3BB2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774A546D-9B5F-A07C-DEE1-BFB1A9E2B7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B5C69CBE-C764-A103-D40C-84AAA6A49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7AD4AA0-124A-9A38-52FF-10A08308C7B7}"/>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6" name="Нижний колонтитул 5">
            <a:extLst>
              <a:ext uri="{FF2B5EF4-FFF2-40B4-BE49-F238E27FC236}">
                <a16:creationId xmlns:a16="http://schemas.microsoft.com/office/drawing/2014/main" id="{9A4CE48B-36AC-8223-B743-271CF1C6835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E21E882-15B5-F6EA-583A-5CEC10C51A86}"/>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3110363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14D03E-87AD-0FD3-01D7-429DAE0FFE67}"/>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D19B4D04-1567-AC48-1C7B-EF72FDD6C177}"/>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855B488-9029-6DDA-617E-03241ECF2DB9}"/>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5" name="Нижний колонтитул 4">
            <a:extLst>
              <a:ext uri="{FF2B5EF4-FFF2-40B4-BE49-F238E27FC236}">
                <a16:creationId xmlns:a16="http://schemas.microsoft.com/office/drawing/2014/main" id="{3DB3449D-2E69-D639-8689-8C483B3AE00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2F6E826-B435-84AA-7369-F1CC503CCB72}"/>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1332971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141BAA4-0D15-ABF8-B9D7-926BC4C78EF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4A888BD4-C4BD-3EC9-E75C-D10FCB40823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4A7A7A5-1CBF-D669-F7F1-ECC6C69F1A4F}"/>
              </a:ext>
            </a:extLst>
          </p:cNvPr>
          <p:cNvSpPr>
            <a:spLocks noGrp="1"/>
          </p:cNvSpPr>
          <p:nvPr>
            <p:ph type="dt" sz="half" idx="10"/>
          </p:nvPr>
        </p:nvSpPr>
        <p:spPr/>
        <p:txBody>
          <a:bodyPr/>
          <a:lstStyle/>
          <a:p>
            <a:fld id="{3B5EE0D0-FC15-4AD6-B0F2-4DCC61B8EC95}" type="datetimeFigureOut">
              <a:rPr lang="ru-RU" smtClean="0"/>
              <a:t>27.07.2026</a:t>
            </a:fld>
            <a:endParaRPr lang="ru-RU"/>
          </a:p>
        </p:txBody>
      </p:sp>
      <p:sp>
        <p:nvSpPr>
          <p:cNvPr id="5" name="Нижний колонтитул 4">
            <a:extLst>
              <a:ext uri="{FF2B5EF4-FFF2-40B4-BE49-F238E27FC236}">
                <a16:creationId xmlns:a16="http://schemas.microsoft.com/office/drawing/2014/main" id="{E7810F88-E32F-BF23-2C81-A93B81C710A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A685E8B-9B4A-07DF-6376-F153348A8638}"/>
              </a:ext>
            </a:extLst>
          </p:cNvPr>
          <p:cNvSpPr>
            <a:spLocks noGrp="1"/>
          </p:cNvSpPr>
          <p:nvPr>
            <p:ph type="sldNum" sz="quarter" idx="12"/>
          </p:nvPr>
        </p:nvSpPr>
        <p:spPr/>
        <p:txBody>
          <a:bodyPr/>
          <a:lstStyle/>
          <a:p>
            <a:fld id="{3C61CA36-006B-4870-A2AD-5B71E5DE6353}" type="slidenum">
              <a:rPr lang="ru-RU" smtClean="0"/>
              <a:t>‹#›</a:t>
            </a:fld>
            <a:endParaRPr lang="ru-RU"/>
          </a:p>
        </p:txBody>
      </p:sp>
    </p:spTree>
    <p:extLst>
      <p:ext uri="{BB962C8B-B14F-4D97-AF65-F5344CB8AC3E}">
        <p14:creationId xmlns:p14="http://schemas.microsoft.com/office/powerpoint/2010/main" val="4222124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8087D8-D170-D99B-0714-1CB2107463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36813D0-E2B7-AEAE-3E85-6D26BF65C8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0239790-1451-154C-C658-47CE211D54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5EE0D0-FC15-4AD6-B0F2-4DCC61B8EC95}" type="datetimeFigureOut">
              <a:rPr lang="ru-RU" smtClean="0"/>
              <a:t>27.07.2026</a:t>
            </a:fld>
            <a:endParaRPr lang="ru-RU"/>
          </a:p>
        </p:txBody>
      </p:sp>
      <p:sp>
        <p:nvSpPr>
          <p:cNvPr id="5" name="Нижний колонтитул 4">
            <a:extLst>
              <a:ext uri="{FF2B5EF4-FFF2-40B4-BE49-F238E27FC236}">
                <a16:creationId xmlns:a16="http://schemas.microsoft.com/office/drawing/2014/main" id="{27E0483D-FA3F-FBAF-5D41-B11D03C482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FBD949BC-D067-73FF-27E8-06E65C8B29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61CA36-006B-4870-A2AD-5B71E5DE6353}" type="slidenum">
              <a:rPr lang="ru-RU" smtClean="0"/>
              <a:t>‹#›</a:t>
            </a:fld>
            <a:endParaRPr lang="ru-RU"/>
          </a:p>
        </p:txBody>
      </p:sp>
    </p:spTree>
    <p:extLst>
      <p:ext uri="{BB962C8B-B14F-4D97-AF65-F5344CB8AC3E}">
        <p14:creationId xmlns:p14="http://schemas.microsoft.com/office/powerpoint/2010/main" val="2752624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a:extLst>
              <a:ext uri="{FF2B5EF4-FFF2-40B4-BE49-F238E27FC236}">
                <a16:creationId xmlns:a16="http://schemas.microsoft.com/office/drawing/2014/main" id="{B889B885-DF30-AB33-EADD-8C00BD7CE8EF}"/>
              </a:ext>
            </a:extLst>
          </p:cNvPr>
          <p:cNvSpPr>
            <a:spLocks/>
          </p:cNvSpPr>
          <p:nvPr/>
        </p:nvSpPr>
        <p:spPr>
          <a:xfrm>
            <a:off x="4800600" y="0"/>
            <a:ext cx="7391399" cy="6858000"/>
          </a:xfrm>
          <a:prstGeom prst="rect">
            <a:avLst/>
          </a:prstGeom>
          <a:solidFill>
            <a:schemeClr val="bg1">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Прямоугольник 3">
            <a:extLst>
              <a:ext uri="{FF2B5EF4-FFF2-40B4-BE49-F238E27FC236}">
                <a16:creationId xmlns:a16="http://schemas.microsoft.com/office/drawing/2014/main" id="{D51061F5-FCFE-BCFB-E1D7-48B3BED96423}"/>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101 – СТРАНИЦА СТУДЕНТ – ГЛАВНАЯ </a:t>
            </a:r>
          </a:p>
        </p:txBody>
      </p:sp>
      <p:grpSp>
        <p:nvGrpSpPr>
          <p:cNvPr id="10" name="Группа 9">
            <a:extLst>
              <a:ext uri="{FF2B5EF4-FFF2-40B4-BE49-F238E27FC236}">
                <a16:creationId xmlns:a16="http://schemas.microsoft.com/office/drawing/2014/main" id="{92D745E1-91DD-4A1A-FB41-002E7EAD6D7C}"/>
              </a:ext>
            </a:extLst>
          </p:cNvPr>
          <p:cNvGrpSpPr/>
          <p:nvPr/>
        </p:nvGrpSpPr>
        <p:grpSpPr>
          <a:xfrm>
            <a:off x="4928315" y="128790"/>
            <a:ext cx="1614152" cy="287630"/>
            <a:chOff x="1803042" y="2137890"/>
            <a:chExt cx="1747234" cy="523744"/>
          </a:xfrm>
        </p:grpSpPr>
        <p:sp>
          <p:nvSpPr>
            <p:cNvPr id="8" name="Прямоугольник 7">
              <a:extLst>
                <a:ext uri="{FF2B5EF4-FFF2-40B4-BE49-F238E27FC236}">
                  <a16:creationId xmlns:a16="http://schemas.microsoft.com/office/drawing/2014/main" id="{78173265-79A1-C1C6-1116-E09D6DC94062}"/>
                </a:ext>
              </a:extLst>
            </p:cNvPr>
            <p:cNvSpPr/>
            <p:nvPr/>
          </p:nvSpPr>
          <p:spPr>
            <a:xfrm>
              <a:off x="1803042" y="2137893"/>
              <a:ext cx="1747234" cy="52374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Группа 8">
              <a:extLst>
                <a:ext uri="{FF2B5EF4-FFF2-40B4-BE49-F238E27FC236}">
                  <a16:creationId xmlns:a16="http://schemas.microsoft.com/office/drawing/2014/main" id="{28EF5678-4429-6D9D-7011-8A8446D00787}"/>
                </a:ext>
              </a:extLst>
            </p:cNvPr>
            <p:cNvGrpSpPr/>
            <p:nvPr/>
          </p:nvGrpSpPr>
          <p:grpSpPr>
            <a:xfrm>
              <a:off x="1970467" y="2137890"/>
              <a:ext cx="1419940" cy="277001"/>
              <a:chOff x="2082085" y="1725766"/>
              <a:chExt cx="1419940" cy="277001"/>
            </a:xfrm>
          </p:grpSpPr>
          <p:sp>
            <p:nvSpPr>
              <p:cNvPr id="6" name="TextBox 5">
                <a:extLst>
                  <a:ext uri="{FF2B5EF4-FFF2-40B4-BE49-F238E27FC236}">
                    <a16:creationId xmlns:a16="http://schemas.microsoft.com/office/drawing/2014/main" id="{3270EB85-7D88-2144-35A4-8B763B7D5F7B}"/>
                  </a:ext>
                </a:extLst>
              </p:cNvPr>
              <p:cNvSpPr txBox="1"/>
              <p:nvPr/>
            </p:nvSpPr>
            <p:spPr>
              <a:xfrm>
                <a:off x="2082085" y="1725768"/>
                <a:ext cx="744114" cy="276999"/>
              </a:xfrm>
              <a:prstGeom prst="rect">
                <a:avLst/>
              </a:prstGeom>
              <a:noFill/>
            </p:spPr>
            <p:txBody>
              <a:bodyPr wrap="none" rtlCol="0">
                <a:spAutoFit/>
              </a:bodyPr>
              <a:lstStyle/>
              <a:p>
                <a:r>
                  <a:rPr lang="ru-RU" sz="1200" dirty="0"/>
                  <a:t>староста</a:t>
                </a:r>
              </a:p>
            </p:txBody>
          </p:sp>
          <p:sp>
            <p:nvSpPr>
              <p:cNvPr id="7" name="TextBox 6">
                <a:extLst>
                  <a:ext uri="{FF2B5EF4-FFF2-40B4-BE49-F238E27FC236}">
                    <a16:creationId xmlns:a16="http://schemas.microsoft.com/office/drawing/2014/main" id="{0C5172DD-B04D-30F3-3D08-EA674F40930F}"/>
                  </a:ext>
                </a:extLst>
              </p:cNvPr>
              <p:cNvSpPr txBox="1"/>
              <p:nvPr/>
            </p:nvSpPr>
            <p:spPr>
              <a:xfrm>
                <a:off x="2826199" y="1725766"/>
                <a:ext cx="675826" cy="277000"/>
              </a:xfrm>
              <a:prstGeom prst="rect">
                <a:avLst/>
              </a:prstGeom>
              <a:noFill/>
            </p:spPr>
            <p:txBody>
              <a:bodyPr wrap="none" rtlCol="0">
                <a:spAutoFit/>
              </a:bodyPr>
              <a:lstStyle/>
              <a:p>
                <a:r>
                  <a:rPr lang="ru-RU" sz="1200" dirty="0"/>
                  <a:t>студент</a:t>
                </a:r>
              </a:p>
            </p:txBody>
          </p:sp>
        </p:grpSp>
      </p:grpSp>
      <p:grpSp>
        <p:nvGrpSpPr>
          <p:cNvPr id="17" name="Группа 16">
            <a:extLst>
              <a:ext uri="{FF2B5EF4-FFF2-40B4-BE49-F238E27FC236}">
                <a16:creationId xmlns:a16="http://schemas.microsoft.com/office/drawing/2014/main" id="{9D24AA40-16D4-DD93-C7E0-ECC1192D8177}"/>
              </a:ext>
            </a:extLst>
          </p:cNvPr>
          <p:cNvGrpSpPr/>
          <p:nvPr/>
        </p:nvGrpSpPr>
        <p:grpSpPr>
          <a:xfrm>
            <a:off x="4928315" y="598868"/>
            <a:ext cx="5786147" cy="184666"/>
            <a:chOff x="2659614" y="2814035"/>
            <a:chExt cx="5786147" cy="184666"/>
          </a:xfrm>
        </p:grpSpPr>
        <p:sp>
          <p:nvSpPr>
            <p:cNvPr id="12" name="TextBox 11">
              <a:extLst>
                <a:ext uri="{FF2B5EF4-FFF2-40B4-BE49-F238E27FC236}">
                  <a16:creationId xmlns:a16="http://schemas.microsoft.com/office/drawing/2014/main" id="{253F322A-DAA3-09F8-27CB-A4CB3B9A160D}"/>
                </a:ext>
              </a:extLst>
            </p:cNvPr>
            <p:cNvSpPr txBox="1"/>
            <p:nvPr/>
          </p:nvSpPr>
          <p:spPr>
            <a:xfrm>
              <a:off x="2659614" y="2814035"/>
              <a:ext cx="502061" cy="184666"/>
            </a:xfrm>
            <a:prstGeom prst="rect">
              <a:avLst/>
            </a:prstGeom>
            <a:noFill/>
          </p:spPr>
          <p:txBody>
            <a:bodyPr wrap="none" lIns="0" tIns="0" rIns="0" bIns="0" rtlCol="0">
              <a:spAutoFit/>
            </a:bodyPr>
            <a:lstStyle/>
            <a:p>
              <a:r>
                <a:rPr lang="ru-RU" sz="1200" dirty="0"/>
                <a:t>главная</a:t>
              </a:r>
            </a:p>
          </p:txBody>
        </p:sp>
        <p:sp>
          <p:nvSpPr>
            <p:cNvPr id="13" name="TextBox 12">
              <a:extLst>
                <a:ext uri="{FF2B5EF4-FFF2-40B4-BE49-F238E27FC236}">
                  <a16:creationId xmlns:a16="http://schemas.microsoft.com/office/drawing/2014/main" id="{F5BFED4D-FF82-ECB6-168B-3E352DCF9363}"/>
                </a:ext>
              </a:extLst>
            </p:cNvPr>
            <p:cNvSpPr txBox="1"/>
            <p:nvPr/>
          </p:nvSpPr>
          <p:spPr>
            <a:xfrm>
              <a:off x="3353373" y="2814035"/>
              <a:ext cx="952890" cy="184666"/>
            </a:xfrm>
            <a:prstGeom prst="rect">
              <a:avLst/>
            </a:prstGeom>
            <a:noFill/>
          </p:spPr>
          <p:txBody>
            <a:bodyPr wrap="none" lIns="0" tIns="0" rIns="0" bIns="0" rtlCol="0">
              <a:spAutoFit/>
            </a:bodyPr>
            <a:lstStyle/>
            <a:p>
              <a:r>
                <a:rPr lang="ru-RU" sz="1200" dirty="0"/>
                <a:t>посещаемость</a:t>
              </a:r>
            </a:p>
          </p:txBody>
        </p:sp>
        <p:sp>
          <p:nvSpPr>
            <p:cNvPr id="14" name="TextBox 13">
              <a:extLst>
                <a:ext uri="{FF2B5EF4-FFF2-40B4-BE49-F238E27FC236}">
                  <a16:creationId xmlns:a16="http://schemas.microsoft.com/office/drawing/2014/main" id="{9EB1B82D-CAE2-8405-1D10-6A67D90025DE}"/>
                </a:ext>
              </a:extLst>
            </p:cNvPr>
            <p:cNvSpPr txBox="1"/>
            <p:nvPr/>
          </p:nvSpPr>
          <p:spPr>
            <a:xfrm>
              <a:off x="4497961" y="2814035"/>
              <a:ext cx="693010" cy="184666"/>
            </a:xfrm>
            <a:prstGeom prst="rect">
              <a:avLst/>
            </a:prstGeom>
            <a:noFill/>
          </p:spPr>
          <p:txBody>
            <a:bodyPr wrap="none" lIns="0" tIns="0" rIns="0" bIns="0" rtlCol="0">
              <a:spAutoFit/>
            </a:bodyPr>
            <a:lstStyle/>
            <a:p>
              <a:r>
                <a:rPr lang="ru-RU" sz="1200" dirty="0"/>
                <a:t>статистика</a:t>
              </a:r>
            </a:p>
          </p:txBody>
        </p:sp>
        <p:sp>
          <p:nvSpPr>
            <p:cNvPr id="15" name="TextBox 14">
              <a:extLst>
                <a:ext uri="{FF2B5EF4-FFF2-40B4-BE49-F238E27FC236}">
                  <a16:creationId xmlns:a16="http://schemas.microsoft.com/office/drawing/2014/main" id="{76879F69-6CB5-0946-78FC-4C3D3D67DD82}"/>
                </a:ext>
              </a:extLst>
            </p:cNvPr>
            <p:cNvSpPr txBox="1"/>
            <p:nvPr/>
          </p:nvSpPr>
          <p:spPr>
            <a:xfrm>
              <a:off x="5382668" y="2814035"/>
              <a:ext cx="1269707" cy="184666"/>
            </a:xfrm>
            <a:prstGeom prst="rect">
              <a:avLst/>
            </a:prstGeom>
            <a:noFill/>
          </p:spPr>
          <p:txBody>
            <a:bodyPr wrap="none" lIns="0" tIns="0" rIns="0" bIns="0" rtlCol="0">
              <a:spAutoFit/>
            </a:bodyPr>
            <a:lstStyle/>
            <a:p>
              <a:r>
                <a:rPr lang="ru-RU" sz="1200" dirty="0"/>
                <a:t>домашнее задание</a:t>
              </a:r>
            </a:p>
          </p:txBody>
        </p:sp>
        <p:sp>
          <p:nvSpPr>
            <p:cNvPr id="16" name="TextBox 15">
              <a:extLst>
                <a:ext uri="{FF2B5EF4-FFF2-40B4-BE49-F238E27FC236}">
                  <a16:creationId xmlns:a16="http://schemas.microsoft.com/office/drawing/2014/main" id="{56DEE98F-DD6E-8902-5477-1EC3573809D1}"/>
                </a:ext>
              </a:extLst>
            </p:cNvPr>
            <p:cNvSpPr txBox="1"/>
            <p:nvPr/>
          </p:nvSpPr>
          <p:spPr>
            <a:xfrm>
              <a:off x="6844072" y="2814035"/>
              <a:ext cx="356829" cy="184666"/>
            </a:xfrm>
            <a:prstGeom prst="rect">
              <a:avLst/>
            </a:prstGeom>
            <a:noFill/>
          </p:spPr>
          <p:txBody>
            <a:bodyPr wrap="none" lIns="0" tIns="0" rIns="0" bIns="0" rtlCol="0">
              <a:spAutoFit/>
            </a:bodyPr>
            <a:lstStyle/>
            <a:p>
              <a:r>
                <a:rPr lang="ru-RU" sz="1200" dirty="0"/>
                <a:t>карта</a:t>
              </a:r>
            </a:p>
          </p:txBody>
        </p:sp>
        <p:sp>
          <p:nvSpPr>
            <p:cNvPr id="25" name="TextBox 24">
              <a:extLst>
                <a:ext uri="{FF2B5EF4-FFF2-40B4-BE49-F238E27FC236}">
                  <a16:creationId xmlns:a16="http://schemas.microsoft.com/office/drawing/2014/main" id="{40E1904D-8A2C-5D5D-6981-B5CEB1A19876}"/>
                </a:ext>
              </a:extLst>
            </p:cNvPr>
            <p:cNvSpPr txBox="1"/>
            <p:nvPr/>
          </p:nvSpPr>
          <p:spPr>
            <a:xfrm>
              <a:off x="7398167" y="2814035"/>
              <a:ext cx="1047594" cy="184666"/>
            </a:xfrm>
            <a:prstGeom prst="rect">
              <a:avLst/>
            </a:prstGeom>
            <a:noFill/>
          </p:spPr>
          <p:txBody>
            <a:bodyPr wrap="none" lIns="0" tIns="0" rIns="0" bIns="0" rtlCol="0">
              <a:spAutoFit/>
            </a:bodyPr>
            <a:lstStyle/>
            <a:p>
              <a:r>
                <a:rPr lang="ru-RU" sz="1200" dirty="0"/>
                <a:t>заявки и тикеты</a:t>
              </a:r>
            </a:p>
          </p:txBody>
        </p:sp>
      </p:grpSp>
      <p:sp>
        <p:nvSpPr>
          <p:cNvPr id="18" name="Овал 17">
            <a:extLst>
              <a:ext uri="{FF2B5EF4-FFF2-40B4-BE49-F238E27FC236}">
                <a16:creationId xmlns:a16="http://schemas.microsoft.com/office/drawing/2014/main" id="{E2818ADD-9E4F-075F-DE97-BFECF443A335}"/>
              </a:ext>
            </a:extLst>
          </p:cNvPr>
          <p:cNvSpPr/>
          <p:nvPr/>
        </p:nvSpPr>
        <p:spPr>
          <a:xfrm>
            <a:off x="11638209" y="96316"/>
            <a:ext cx="369194" cy="36919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TextBox 18">
            <a:extLst>
              <a:ext uri="{FF2B5EF4-FFF2-40B4-BE49-F238E27FC236}">
                <a16:creationId xmlns:a16="http://schemas.microsoft.com/office/drawing/2014/main" id="{CC71C725-D3EB-44DE-2A36-45CA4045D953}"/>
              </a:ext>
            </a:extLst>
          </p:cNvPr>
          <p:cNvSpPr txBox="1"/>
          <p:nvPr/>
        </p:nvSpPr>
        <p:spPr>
          <a:xfrm>
            <a:off x="11536669" y="188580"/>
            <a:ext cx="572273" cy="184666"/>
          </a:xfrm>
          <a:prstGeom prst="rect">
            <a:avLst/>
          </a:prstGeom>
          <a:noFill/>
        </p:spPr>
        <p:txBody>
          <a:bodyPr wrap="none" lIns="0" tIns="0" rIns="0" bIns="0" rtlCol="0">
            <a:spAutoFit/>
          </a:bodyPr>
          <a:lstStyle/>
          <a:p>
            <a:r>
              <a:rPr lang="ru-RU" sz="1200" dirty="0"/>
              <a:t>профиль</a:t>
            </a:r>
          </a:p>
        </p:txBody>
      </p:sp>
      <p:sp>
        <p:nvSpPr>
          <p:cNvPr id="20" name="TextBox 19">
            <a:extLst>
              <a:ext uri="{FF2B5EF4-FFF2-40B4-BE49-F238E27FC236}">
                <a16:creationId xmlns:a16="http://schemas.microsoft.com/office/drawing/2014/main" id="{7330B321-E2E1-D76D-41E7-618463DF7CF0}"/>
              </a:ext>
            </a:extLst>
          </p:cNvPr>
          <p:cNvSpPr txBox="1"/>
          <p:nvPr/>
        </p:nvSpPr>
        <p:spPr>
          <a:xfrm>
            <a:off x="191164" y="1110702"/>
            <a:ext cx="4376544" cy="338554"/>
          </a:xfrm>
          <a:prstGeom prst="rect">
            <a:avLst/>
          </a:prstGeom>
          <a:noFill/>
        </p:spPr>
        <p:txBody>
          <a:bodyPr wrap="square" lIns="0" tIns="0" rIns="0" bIns="0" rtlCol="0">
            <a:spAutoFit/>
          </a:bodyPr>
          <a:lstStyle/>
          <a:p>
            <a:r>
              <a:rPr lang="ru-RU" sz="1100" dirty="0"/>
              <a:t>1 - Профиль – раскрывается при нажатии и само скрывается при клика по профилю или по другой части экрана</a:t>
            </a:r>
          </a:p>
        </p:txBody>
      </p:sp>
      <p:sp>
        <p:nvSpPr>
          <p:cNvPr id="21" name="TextBox 20">
            <a:extLst>
              <a:ext uri="{FF2B5EF4-FFF2-40B4-BE49-F238E27FC236}">
                <a16:creationId xmlns:a16="http://schemas.microsoft.com/office/drawing/2014/main" id="{62AAA157-D4B8-8201-F334-EA5E6E7EEA8E}"/>
              </a:ext>
            </a:extLst>
          </p:cNvPr>
          <p:cNvSpPr txBox="1"/>
          <p:nvPr/>
        </p:nvSpPr>
        <p:spPr>
          <a:xfrm>
            <a:off x="191164" y="1459550"/>
            <a:ext cx="4376544" cy="507831"/>
          </a:xfrm>
          <a:prstGeom prst="rect">
            <a:avLst/>
          </a:prstGeom>
          <a:noFill/>
        </p:spPr>
        <p:txBody>
          <a:bodyPr wrap="square" lIns="0" tIns="0" rIns="0" bIns="0" rtlCol="0">
            <a:spAutoFit/>
          </a:bodyPr>
          <a:lstStyle/>
          <a:p>
            <a:r>
              <a:rPr lang="ru-RU" sz="1100" dirty="0"/>
              <a:t>2 – если к одному аккаунту в телеграмм (</a:t>
            </a:r>
            <a:r>
              <a:rPr lang="en-US" sz="1100" dirty="0"/>
              <a:t>id</a:t>
            </a:r>
            <a:r>
              <a:rPr lang="ru-RU" sz="1100" dirty="0"/>
              <a:t>) привязано несколько ролей то они отображаются сверку в виде кнопок между которыми можно переключаться</a:t>
            </a:r>
          </a:p>
        </p:txBody>
      </p:sp>
      <p:sp>
        <p:nvSpPr>
          <p:cNvPr id="22" name="TextBox 21">
            <a:extLst>
              <a:ext uri="{FF2B5EF4-FFF2-40B4-BE49-F238E27FC236}">
                <a16:creationId xmlns:a16="http://schemas.microsoft.com/office/drawing/2014/main" id="{97407C72-8A75-B9C8-BC91-9BA3500D1680}"/>
              </a:ext>
            </a:extLst>
          </p:cNvPr>
          <p:cNvSpPr txBox="1"/>
          <p:nvPr/>
        </p:nvSpPr>
        <p:spPr>
          <a:xfrm>
            <a:off x="191164" y="1946325"/>
            <a:ext cx="4376544" cy="338554"/>
          </a:xfrm>
          <a:prstGeom prst="rect">
            <a:avLst/>
          </a:prstGeom>
          <a:noFill/>
        </p:spPr>
        <p:txBody>
          <a:bodyPr wrap="square" lIns="0" tIns="0" rIns="0" bIns="0" rtlCol="0">
            <a:spAutoFit/>
          </a:bodyPr>
          <a:lstStyle/>
          <a:p>
            <a:r>
              <a:rPr lang="ru-RU" sz="1100" dirty="0"/>
              <a:t>3 – под кнопками и профилем есть страницы по которым можно переходить в мобильных и узких версиях они перейдут в бургер меню</a:t>
            </a:r>
          </a:p>
        </p:txBody>
      </p:sp>
      <p:grpSp>
        <p:nvGrpSpPr>
          <p:cNvPr id="27" name="Группа 26">
            <a:extLst>
              <a:ext uri="{FF2B5EF4-FFF2-40B4-BE49-F238E27FC236}">
                <a16:creationId xmlns:a16="http://schemas.microsoft.com/office/drawing/2014/main" id="{158B14B6-DC56-FBCD-72CB-DD574109A7BC}"/>
              </a:ext>
            </a:extLst>
          </p:cNvPr>
          <p:cNvGrpSpPr/>
          <p:nvPr/>
        </p:nvGrpSpPr>
        <p:grpSpPr>
          <a:xfrm>
            <a:off x="10908405" y="513981"/>
            <a:ext cx="1167685" cy="596721"/>
            <a:chOff x="10908405" y="513981"/>
            <a:chExt cx="1167685" cy="596721"/>
          </a:xfrm>
        </p:grpSpPr>
        <p:sp>
          <p:nvSpPr>
            <p:cNvPr id="23" name="Прямоугольник 22">
              <a:extLst>
                <a:ext uri="{FF2B5EF4-FFF2-40B4-BE49-F238E27FC236}">
                  <a16:creationId xmlns:a16="http://schemas.microsoft.com/office/drawing/2014/main" id="{308E1CF8-B149-5970-443B-C73110EF1F70}"/>
                </a:ext>
              </a:extLst>
            </p:cNvPr>
            <p:cNvSpPr/>
            <p:nvPr/>
          </p:nvSpPr>
          <p:spPr>
            <a:xfrm>
              <a:off x="10908405" y="513981"/>
              <a:ext cx="1167685" cy="59672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TextBox 25">
              <a:extLst>
                <a:ext uri="{FF2B5EF4-FFF2-40B4-BE49-F238E27FC236}">
                  <a16:creationId xmlns:a16="http://schemas.microsoft.com/office/drawing/2014/main" id="{670A212A-832D-770F-D890-7B2244D203C8}"/>
                </a:ext>
              </a:extLst>
            </p:cNvPr>
            <p:cNvSpPr txBox="1"/>
            <p:nvPr/>
          </p:nvSpPr>
          <p:spPr>
            <a:xfrm>
              <a:off x="11032536" y="603721"/>
              <a:ext cx="695703" cy="369332"/>
            </a:xfrm>
            <a:prstGeom prst="rect">
              <a:avLst/>
            </a:prstGeom>
            <a:noFill/>
          </p:spPr>
          <p:txBody>
            <a:bodyPr wrap="none" lIns="0" tIns="0" rIns="0" bIns="0" rtlCol="0">
              <a:spAutoFit/>
            </a:bodyPr>
            <a:lstStyle/>
            <a:p>
              <a:r>
                <a:rPr lang="ru-RU" sz="1200" dirty="0"/>
                <a:t>Настройки</a:t>
              </a:r>
              <a:br>
                <a:rPr lang="ru-RU" sz="1200" dirty="0"/>
              </a:br>
              <a:r>
                <a:rPr lang="ru-RU" sz="1200" dirty="0"/>
                <a:t>Выход</a:t>
              </a:r>
            </a:p>
          </p:txBody>
        </p:sp>
      </p:grpSp>
      <p:sp>
        <p:nvSpPr>
          <p:cNvPr id="28" name="Прямоугольник 27">
            <a:extLst>
              <a:ext uri="{FF2B5EF4-FFF2-40B4-BE49-F238E27FC236}">
                <a16:creationId xmlns:a16="http://schemas.microsoft.com/office/drawing/2014/main" id="{2E0781FD-E988-3070-C5F9-20E14A4BD756}"/>
              </a:ext>
            </a:extLst>
          </p:cNvPr>
          <p:cNvSpPr/>
          <p:nvPr/>
        </p:nvSpPr>
        <p:spPr>
          <a:xfrm>
            <a:off x="5005589" y="1180563"/>
            <a:ext cx="1476777" cy="147677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9" name="TextBox 28">
            <a:extLst>
              <a:ext uri="{FF2B5EF4-FFF2-40B4-BE49-F238E27FC236}">
                <a16:creationId xmlns:a16="http://schemas.microsoft.com/office/drawing/2014/main" id="{532E45B9-DB18-D546-ED51-DC8A8D56390A}"/>
              </a:ext>
            </a:extLst>
          </p:cNvPr>
          <p:cNvSpPr txBox="1"/>
          <p:nvPr/>
        </p:nvSpPr>
        <p:spPr>
          <a:xfrm>
            <a:off x="5164722" y="1300667"/>
            <a:ext cx="1141338" cy="184666"/>
          </a:xfrm>
          <a:prstGeom prst="rect">
            <a:avLst/>
          </a:prstGeom>
          <a:noFill/>
        </p:spPr>
        <p:txBody>
          <a:bodyPr wrap="none" lIns="0" tIns="0" rIns="0" bIns="0" rtlCol="0">
            <a:spAutoFit/>
          </a:bodyPr>
          <a:lstStyle/>
          <a:p>
            <a:r>
              <a:rPr lang="ru-RU" sz="1200" dirty="0"/>
              <a:t>Пара «Название»</a:t>
            </a:r>
          </a:p>
        </p:txBody>
      </p:sp>
      <p:sp>
        <p:nvSpPr>
          <p:cNvPr id="30" name="TextBox 29">
            <a:extLst>
              <a:ext uri="{FF2B5EF4-FFF2-40B4-BE49-F238E27FC236}">
                <a16:creationId xmlns:a16="http://schemas.microsoft.com/office/drawing/2014/main" id="{04376A19-9B45-C103-9585-162D51DC0470}"/>
              </a:ext>
            </a:extLst>
          </p:cNvPr>
          <p:cNvSpPr txBox="1"/>
          <p:nvPr/>
        </p:nvSpPr>
        <p:spPr>
          <a:xfrm>
            <a:off x="191164" y="2341916"/>
            <a:ext cx="4376544" cy="1184940"/>
          </a:xfrm>
          <a:prstGeom prst="rect">
            <a:avLst/>
          </a:prstGeom>
          <a:noFill/>
        </p:spPr>
        <p:txBody>
          <a:bodyPr wrap="square" lIns="0" tIns="0" rIns="0" bIns="0" rtlCol="0">
            <a:spAutoFit/>
          </a:bodyPr>
          <a:lstStyle/>
          <a:p>
            <a:r>
              <a:rPr lang="ru-RU" sz="1100" dirty="0"/>
              <a:t>4 – пара «название» - там должна быть иконка клика (иконки потом я буду рисовать и предоставлю) после клика должна автоматом проверяться геолокация. Если не удалось геолокацию проверить то карточка меняется что не удалось отметить по геолокации и старосте автоматом отправляется уведомление для ручной отметки (убираем кнопку что отправить данные старосте для отметки теперь автоматом будет отправляться)</a:t>
            </a:r>
          </a:p>
        </p:txBody>
      </p:sp>
      <p:sp>
        <p:nvSpPr>
          <p:cNvPr id="31" name="Прямоугольник 30">
            <a:extLst>
              <a:ext uri="{FF2B5EF4-FFF2-40B4-BE49-F238E27FC236}">
                <a16:creationId xmlns:a16="http://schemas.microsoft.com/office/drawing/2014/main" id="{7EE11649-406B-FD03-500C-58B6A758EF94}"/>
              </a:ext>
            </a:extLst>
          </p:cNvPr>
          <p:cNvSpPr/>
          <p:nvPr/>
        </p:nvSpPr>
        <p:spPr>
          <a:xfrm>
            <a:off x="6624034" y="1181530"/>
            <a:ext cx="1476777" cy="147677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 name="TextBox 31">
            <a:extLst>
              <a:ext uri="{FF2B5EF4-FFF2-40B4-BE49-F238E27FC236}">
                <a16:creationId xmlns:a16="http://schemas.microsoft.com/office/drawing/2014/main" id="{F02CA2CD-82D4-32A8-3EE2-525356EB02A4}"/>
              </a:ext>
            </a:extLst>
          </p:cNvPr>
          <p:cNvSpPr txBox="1"/>
          <p:nvPr/>
        </p:nvSpPr>
        <p:spPr>
          <a:xfrm>
            <a:off x="6791753" y="1300667"/>
            <a:ext cx="1246239" cy="923330"/>
          </a:xfrm>
          <a:prstGeom prst="rect">
            <a:avLst/>
          </a:prstGeom>
          <a:noFill/>
        </p:spPr>
        <p:txBody>
          <a:bodyPr wrap="none" lIns="0" tIns="0" rIns="0" bIns="0" rtlCol="0">
            <a:spAutoFit/>
          </a:bodyPr>
          <a:lstStyle/>
          <a:p>
            <a:r>
              <a:rPr lang="en-US" sz="1200" dirty="0"/>
              <a:t>% </a:t>
            </a:r>
            <a:r>
              <a:rPr lang="ru-RU" sz="1200" dirty="0"/>
              <a:t>посещаемости </a:t>
            </a:r>
          </a:p>
          <a:p>
            <a:r>
              <a:rPr lang="ru-RU" sz="1200" dirty="0"/>
              <a:t>сколько именно </a:t>
            </a:r>
          </a:p>
          <a:p>
            <a:r>
              <a:rPr lang="ru-RU" sz="1200" dirty="0"/>
              <a:t>этих пар посещено</a:t>
            </a:r>
          </a:p>
          <a:p>
            <a:r>
              <a:rPr lang="ru-RU" sz="1200" dirty="0"/>
              <a:t> (только «+», </a:t>
            </a:r>
          </a:p>
          <a:p>
            <a:r>
              <a:rPr lang="ru-RU" sz="1200" dirty="0"/>
              <a:t>не учитываем +»у»</a:t>
            </a:r>
          </a:p>
        </p:txBody>
      </p:sp>
      <p:sp>
        <p:nvSpPr>
          <p:cNvPr id="33" name="Прямоугольник 32">
            <a:extLst>
              <a:ext uri="{FF2B5EF4-FFF2-40B4-BE49-F238E27FC236}">
                <a16:creationId xmlns:a16="http://schemas.microsoft.com/office/drawing/2014/main" id="{2DB0F801-A72E-23EA-9814-560DE08B3E29}"/>
              </a:ext>
            </a:extLst>
          </p:cNvPr>
          <p:cNvSpPr/>
          <p:nvPr/>
        </p:nvSpPr>
        <p:spPr>
          <a:xfrm>
            <a:off x="8242479" y="1181531"/>
            <a:ext cx="3833611" cy="95306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TextBox 33">
            <a:extLst>
              <a:ext uri="{FF2B5EF4-FFF2-40B4-BE49-F238E27FC236}">
                <a16:creationId xmlns:a16="http://schemas.microsoft.com/office/drawing/2014/main" id="{0753B550-60A5-F31D-1DB7-304B144EC8BA}"/>
              </a:ext>
            </a:extLst>
          </p:cNvPr>
          <p:cNvSpPr txBox="1"/>
          <p:nvPr/>
        </p:nvSpPr>
        <p:spPr>
          <a:xfrm>
            <a:off x="8410198" y="1300667"/>
            <a:ext cx="3303981" cy="369332"/>
          </a:xfrm>
          <a:prstGeom prst="rect">
            <a:avLst/>
          </a:prstGeom>
          <a:noFill/>
        </p:spPr>
        <p:txBody>
          <a:bodyPr wrap="none" lIns="0" tIns="0" rIns="0" bIns="0" rtlCol="0">
            <a:spAutoFit/>
          </a:bodyPr>
          <a:lstStyle/>
          <a:p>
            <a:r>
              <a:rPr lang="ru-RU" sz="1200" dirty="0"/>
              <a:t>График посещаемости этой недели и там по дням </a:t>
            </a:r>
          </a:p>
          <a:p>
            <a:r>
              <a:rPr lang="ru-RU" sz="1200" dirty="0"/>
              <a:t>график посещаемости в процентах(только «+»)</a:t>
            </a:r>
          </a:p>
        </p:txBody>
      </p:sp>
      <p:sp>
        <p:nvSpPr>
          <p:cNvPr id="35" name="Прямоугольник 34">
            <a:extLst>
              <a:ext uri="{FF2B5EF4-FFF2-40B4-BE49-F238E27FC236}">
                <a16:creationId xmlns:a16="http://schemas.microsoft.com/office/drawing/2014/main" id="{2CF317A3-94CA-029B-A176-90D0578E7919}"/>
              </a:ext>
            </a:extLst>
          </p:cNvPr>
          <p:cNvSpPr/>
          <p:nvPr/>
        </p:nvSpPr>
        <p:spPr>
          <a:xfrm>
            <a:off x="8305800" y="2238818"/>
            <a:ext cx="3770290" cy="415504"/>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6" name="TextBox 35">
            <a:extLst>
              <a:ext uri="{FF2B5EF4-FFF2-40B4-BE49-F238E27FC236}">
                <a16:creationId xmlns:a16="http://schemas.microsoft.com/office/drawing/2014/main" id="{36328F91-CCBB-9AAE-DF0F-8379969D5A9C}"/>
              </a:ext>
            </a:extLst>
          </p:cNvPr>
          <p:cNvSpPr txBox="1"/>
          <p:nvPr/>
        </p:nvSpPr>
        <p:spPr>
          <a:xfrm>
            <a:off x="8471191" y="2347931"/>
            <a:ext cx="721672" cy="184666"/>
          </a:xfrm>
          <a:prstGeom prst="rect">
            <a:avLst/>
          </a:prstGeom>
          <a:noFill/>
        </p:spPr>
        <p:txBody>
          <a:bodyPr wrap="none" lIns="0" tIns="0" rIns="0" bIns="0" rtlCol="0">
            <a:spAutoFit/>
          </a:bodyPr>
          <a:lstStyle/>
          <a:p>
            <a:r>
              <a:rPr lang="ru-RU" sz="1200" dirty="0"/>
              <a:t>Эта неделя</a:t>
            </a:r>
          </a:p>
        </p:txBody>
      </p:sp>
      <p:sp>
        <p:nvSpPr>
          <p:cNvPr id="37" name="TextBox 36">
            <a:extLst>
              <a:ext uri="{FF2B5EF4-FFF2-40B4-BE49-F238E27FC236}">
                <a16:creationId xmlns:a16="http://schemas.microsoft.com/office/drawing/2014/main" id="{DE16BDF0-61AB-B00D-2EAA-4E9C1F32CBAA}"/>
              </a:ext>
            </a:extLst>
          </p:cNvPr>
          <p:cNvSpPr txBox="1"/>
          <p:nvPr/>
        </p:nvSpPr>
        <p:spPr>
          <a:xfrm>
            <a:off x="9385130" y="2347931"/>
            <a:ext cx="818044" cy="184666"/>
          </a:xfrm>
          <a:prstGeom prst="rect">
            <a:avLst/>
          </a:prstGeom>
          <a:noFill/>
        </p:spPr>
        <p:txBody>
          <a:bodyPr wrap="none" lIns="0" tIns="0" rIns="0" bIns="0" rtlCol="0">
            <a:spAutoFit/>
          </a:bodyPr>
          <a:lstStyle/>
          <a:p>
            <a:r>
              <a:rPr lang="ru-RU" sz="1200" dirty="0"/>
              <a:t>Весь период</a:t>
            </a:r>
          </a:p>
        </p:txBody>
      </p:sp>
      <p:sp>
        <p:nvSpPr>
          <p:cNvPr id="38" name="Прямоугольник 37">
            <a:extLst>
              <a:ext uri="{FF2B5EF4-FFF2-40B4-BE49-F238E27FC236}">
                <a16:creationId xmlns:a16="http://schemas.microsoft.com/office/drawing/2014/main" id="{AFAB8EA4-A5D0-3F8A-58CF-08D0D7B130BA}"/>
              </a:ext>
            </a:extLst>
          </p:cNvPr>
          <p:cNvSpPr/>
          <p:nvPr/>
        </p:nvSpPr>
        <p:spPr>
          <a:xfrm>
            <a:off x="5005589" y="2934386"/>
            <a:ext cx="2231234" cy="147677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TextBox 38">
            <a:extLst>
              <a:ext uri="{FF2B5EF4-FFF2-40B4-BE49-F238E27FC236}">
                <a16:creationId xmlns:a16="http://schemas.microsoft.com/office/drawing/2014/main" id="{CC74E7C8-91F8-3F21-DD33-F34E5DB166F9}"/>
              </a:ext>
            </a:extLst>
          </p:cNvPr>
          <p:cNvSpPr txBox="1"/>
          <p:nvPr/>
        </p:nvSpPr>
        <p:spPr>
          <a:xfrm>
            <a:off x="5132529" y="3133480"/>
            <a:ext cx="1923604" cy="369332"/>
          </a:xfrm>
          <a:prstGeom prst="rect">
            <a:avLst/>
          </a:prstGeom>
          <a:noFill/>
        </p:spPr>
        <p:txBody>
          <a:bodyPr wrap="none" lIns="0" tIns="0" rIns="0" bIns="0" rtlCol="0">
            <a:spAutoFit/>
          </a:bodyPr>
          <a:lstStyle/>
          <a:p>
            <a:r>
              <a:rPr lang="ru-RU" sz="1200" dirty="0"/>
              <a:t>Расписание дня с отметками </a:t>
            </a:r>
          </a:p>
          <a:p>
            <a:r>
              <a:rPr lang="ru-RU" sz="1200" dirty="0"/>
              <a:t>о посещении</a:t>
            </a:r>
          </a:p>
        </p:txBody>
      </p:sp>
      <p:sp>
        <p:nvSpPr>
          <p:cNvPr id="42" name="Прямоугольник 41">
            <a:extLst>
              <a:ext uri="{FF2B5EF4-FFF2-40B4-BE49-F238E27FC236}">
                <a16:creationId xmlns:a16="http://schemas.microsoft.com/office/drawing/2014/main" id="{178A5D4B-8088-8A77-19B8-3F47E79CC574}"/>
              </a:ext>
            </a:extLst>
          </p:cNvPr>
          <p:cNvSpPr/>
          <p:nvPr/>
        </p:nvSpPr>
        <p:spPr>
          <a:xfrm>
            <a:off x="7367435" y="2934386"/>
            <a:ext cx="1825427" cy="147677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4" name="TextBox 43">
            <a:extLst>
              <a:ext uri="{FF2B5EF4-FFF2-40B4-BE49-F238E27FC236}">
                <a16:creationId xmlns:a16="http://schemas.microsoft.com/office/drawing/2014/main" id="{E47919B0-3493-05C4-F9DB-1B3AEE884B35}"/>
              </a:ext>
            </a:extLst>
          </p:cNvPr>
          <p:cNvSpPr txBox="1"/>
          <p:nvPr/>
        </p:nvSpPr>
        <p:spPr>
          <a:xfrm>
            <a:off x="7459672" y="2942871"/>
            <a:ext cx="1599540" cy="1477328"/>
          </a:xfrm>
          <a:prstGeom prst="rect">
            <a:avLst/>
          </a:prstGeom>
          <a:noFill/>
        </p:spPr>
        <p:txBody>
          <a:bodyPr wrap="none" lIns="0" tIns="0" rIns="0" bIns="0" rtlCol="0">
            <a:spAutoFit/>
          </a:bodyPr>
          <a:lstStyle/>
          <a:p>
            <a:r>
              <a:rPr lang="ru-RU" sz="1200" dirty="0"/>
              <a:t>Если стоит «н» то </a:t>
            </a:r>
          </a:p>
          <a:p>
            <a:r>
              <a:rPr lang="ru-RU" sz="1200" dirty="0"/>
              <a:t>сразу можно нажать </a:t>
            </a:r>
          </a:p>
          <a:p>
            <a:r>
              <a:rPr lang="ru-RU" sz="1200" dirty="0"/>
              <a:t>на пару и попросить </a:t>
            </a:r>
          </a:p>
          <a:p>
            <a:r>
              <a:rPr lang="ru-RU" sz="1200" dirty="0"/>
              <a:t>поставить «+» без</a:t>
            </a:r>
          </a:p>
          <a:p>
            <a:r>
              <a:rPr lang="ru-RU" sz="1200" dirty="0"/>
              <a:t> перехода в </a:t>
            </a:r>
            <a:r>
              <a:rPr lang="ru-RU" sz="1200" dirty="0" err="1"/>
              <a:t>модалку</a:t>
            </a:r>
            <a:endParaRPr lang="ru-RU" sz="1200" dirty="0"/>
          </a:p>
          <a:p>
            <a:r>
              <a:rPr lang="ru-RU" sz="1200" dirty="0"/>
              <a:t> всплывающее окно </a:t>
            </a:r>
          </a:p>
          <a:p>
            <a:r>
              <a:rPr lang="ru-RU" sz="1200" dirty="0"/>
              <a:t>или на отдельную </a:t>
            </a:r>
          </a:p>
          <a:p>
            <a:r>
              <a:rPr lang="ru-RU" sz="1200" dirty="0"/>
              <a:t>Страницу (иконка будет)</a:t>
            </a:r>
          </a:p>
        </p:txBody>
      </p:sp>
      <p:sp>
        <p:nvSpPr>
          <p:cNvPr id="45" name="Прямоугольник 44">
            <a:extLst>
              <a:ext uri="{FF2B5EF4-FFF2-40B4-BE49-F238E27FC236}">
                <a16:creationId xmlns:a16="http://schemas.microsoft.com/office/drawing/2014/main" id="{4A6CBCB4-6A08-1E58-03EF-3D8085361641}"/>
              </a:ext>
            </a:extLst>
          </p:cNvPr>
          <p:cNvSpPr/>
          <p:nvPr/>
        </p:nvSpPr>
        <p:spPr>
          <a:xfrm>
            <a:off x="9323474" y="2934386"/>
            <a:ext cx="2752616" cy="1476777"/>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TextBox 45">
            <a:extLst>
              <a:ext uri="{FF2B5EF4-FFF2-40B4-BE49-F238E27FC236}">
                <a16:creationId xmlns:a16="http://schemas.microsoft.com/office/drawing/2014/main" id="{902A2688-3B12-53C2-9E6B-CC4C77B9264C}"/>
              </a:ext>
            </a:extLst>
          </p:cNvPr>
          <p:cNvSpPr txBox="1"/>
          <p:nvPr/>
        </p:nvSpPr>
        <p:spPr>
          <a:xfrm>
            <a:off x="9450414" y="3133480"/>
            <a:ext cx="2506455" cy="738664"/>
          </a:xfrm>
          <a:prstGeom prst="rect">
            <a:avLst/>
          </a:prstGeom>
          <a:noFill/>
        </p:spPr>
        <p:txBody>
          <a:bodyPr wrap="none" lIns="0" tIns="0" rIns="0" bIns="0" rtlCol="0">
            <a:spAutoFit/>
          </a:bodyPr>
          <a:lstStyle/>
          <a:p>
            <a:r>
              <a:rPr lang="ru-RU" sz="1200" dirty="0"/>
              <a:t>Дз дня. Если отмечено что у человека </a:t>
            </a:r>
          </a:p>
          <a:p>
            <a:r>
              <a:rPr lang="ru-RU" sz="1200" dirty="0"/>
              <a:t>сделано – то оно так и остаётся</a:t>
            </a:r>
          </a:p>
          <a:p>
            <a:r>
              <a:rPr lang="ru-RU" sz="1200" dirty="0"/>
              <a:t> отмеченным но всё равно </a:t>
            </a:r>
          </a:p>
          <a:p>
            <a:r>
              <a:rPr lang="ru-RU" sz="1200" dirty="0"/>
              <a:t>показывается чтоб знать что задано</a:t>
            </a:r>
          </a:p>
        </p:txBody>
      </p:sp>
      <p:sp>
        <p:nvSpPr>
          <p:cNvPr id="47" name="TextBox 46">
            <a:extLst>
              <a:ext uri="{FF2B5EF4-FFF2-40B4-BE49-F238E27FC236}">
                <a16:creationId xmlns:a16="http://schemas.microsoft.com/office/drawing/2014/main" id="{6863E51A-77FC-84F4-5851-22A055A3781A}"/>
              </a:ext>
            </a:extLst>
          </p:cNvPr>
          <p:cNvSpPr txBox="1"/>
          <p:nvPr/>
        </p:nvSpPr>
        <p:spPr>
          <a:xfrm>
            <a:off x="191164" y="3547646"/>
            <a:ext cx="4376544" cy="338554"/>
          </a:xfrm>
          <a:prstGeom prst="rect">
            <a:avLst/>
          </a:prstGeom>
          <a:noFill/>
        </p:spPr>
        <p:txBody>
          <a:bodyPr wrap="square" lIns="0" tIns="0" rIns="0" bIns="0" rtlCol="0">
            <a:spAutoFit/>
          </a:bodyPr>
          <a:lstStyle/>
          <a:p>
            <a:r>
              <a:rPr lang="ru-RU" sz="1100" dirty="0"/>
              <a:t>5 – везде процент посещаемости будут считаться только по «+» но иногда будет и отдельная графа «+» и «у»</a:t>
            </a:r>
          </a:p>
        </p:txBody>
      </p:sp>
      <p:sp>
        <p:nvSpPr>
          <p:cNvPr id="48" name="TextBox 47">
            <a:extLst>
              <a:ext uri="{FF2B5EF4-FFF2-40B4-BE49-F238E27FC236}">
                <a16:creationId xmlns:a16="http://schemas.microsoft.com/office/drawing/2014/main" id="{7A599546-A28B-255B-7DC2-E12EB9112D3A}"/>
              </a:ext>
            </a:extLst>
          </p:cNvPr>
          <p:cNvSpPr txBox="1"/>
          <p:nvPr/>
        </p:nvSpPr>
        <p:spPr>
          <a:xfrm>
            <a:off x="191164" y="3941307"/>
            <a:ext cx="4376544" cy="338554"/>
          </a:xfrm>
          <a:prstGeom prst="rect">
            <a:avLst/>
          </a:prstGeom>
          <a:noFill/>
        </p:spPr>
        <p:txBody>
          <a:bodyPr wrap="square" lIns="0" tIns="0" rIns="0" bIns="0" rtlCol="0">
            <a:spAutoFit/>
          </a:bodyPr>
          <a:lstStyle/>
          <a:p>
            <a:r>
              <a:rPr lang="ru-RU" sz="1100" dirty="0"/>
              <a:t>6 – там где кнопка эта неделя – есть возможность </a:t>
            </a:r>
            <a:r>
              <a:rPr lang="ru-RU" sz="1100" dirty="0" err="1"/>
              <a:t>прокликать</a:t>
            </a:r>
            <a:r>
              <a:rPr lang="ru-RU" sz="1100" dirty="0"/>
              <a:t> на другие недели влево вправо</a:t>
            </a:r>
          </a:p>
        </p:txBody>
      </p:sp>
      <p:sp>
        <p:nvSpPr>
          <p:cNvPr id="49" name="TextBox 48">
            <a:extLst>
              <a:ext uri="{FF2B5EF4-FFF2-40B4-BE49-F238E27FC236}">
                <a16:creationId xmlns:a16="http://schemas.microsoft.com/office/drawing/2014/main" id="{207F8289-EBD4-88DB-929A-15382711A314}"/>
              </a:ext>
            </a:extLst>
          </p:cNvPr>
          <p:cNvSpPr txBox="1"/>
          <p:nvPr/>
        </p:nvSpPr>
        <p:spPr>
          <a:xfrm>
            <a:off x="191164" y="4324078"/>
            <a:ext cx="4376544" cy="1354217"/>
          </a:xfrm>
          <a:prstGeom prst="rect">
            <a:avLst/>
          </a:prstGeom>
          <a:noFill/>
        </p:spPr>
        <p:txBody>
          <a:bodyPr wrap="square" lIns="0" tIns="0" rIns="0" bIns="0" rtlCol="0">
            <a:spAutoFit/>
          </a:bodyPr>
          <a:lstStyle/>
          <a:p>
            <a:r>
              <a:rPr lang="ru-RU" sz="1100" dirty="0"/>
              <a:t>7 – расписание с отметками о посещении – список пар на сегодня если отмечен человек то ставится «+» в кружке, если не отмечен то «н», если уважительная причина то «у». «у» может стоять на будущие пары. «таймер или серый кружок просто» если данных нет (а именно пара не началась или не закончилась. Справа сделаю иконку по которой можно нажать и подастся заявление чтобы староста отметил тк студент забыл отметиться и кнопка станет неактивной и другой цвет что на подтверждении (всегда)</a:t>
            </a:r>
          </a:p>
        </p:txBody>
      </p:sp>
      <p:sp>
        <p:nvSpPr>
          <p:cNvPr id="50" name="TextBox 49">
            <a:extLst>
              <a:ext uri="{FF2B5EF4-FFF2-40B4-BE49-F238E27FC236}">
                <a16:creationId xmlns:a16="http://schemas.microsoft.com/office/drawing/2014/main" id="{AD438AA5-A47C-8245-8573-CE5110DEB042}"/>
              </a:ext>
            </a:extLst>
          </p:cNvPr>
          <p:cNvSpPr txBox="1"/>
          <p:nvPr/>
        </p:nvSpPr>
        <p:spPr>
          <a:xfrm>
            <a:off x="191164" y="5742531"/>
            <a:ext cx="4376544" cy="338554"/>
          </a:xfrm>
          <a:prstGeom prst="rect">
            <a:avLst/>
          </a:prstGeom>
          <a:noFill/>
        </p:spPr>
        <p:txBody>
          <a:bodyPr wrap="square" lIns="0" tIns="0" rIns="0" bIns="0" rtlCol="0">
            <a:spAutoFit/>
          </a:bodyPr>
          <a:lstStyle/>
          <a:p>
            <a:r>
              <a:rPr lang="ru-RU" sz="1100" dirty="0"/>
              <a:t>8 – дз дня – тут тоже можно отмечать что дз сделано или убирать данные что дз сделано (обычная галочка и сделано дз или нет)</a:t>
            </a:r>
          </a:p>
        </p:txBody>
      </p:sp>
    </p:spTree>
    <p:extLst>
      <p:ext uri="{BB962C8B-B14F-4D97-AF65-F5344CB8AC3E}">
        <p14:creationId xmlns:p14="http://schemas.microsoft.com/office/powerpoint/2010/main" val="4040044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BBF1D13-CE06-C806-8463-F69A90EE5805}"/>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101 – СТРАНИЦА СТУДЕНТ – ГЛАВНАЯ </a:t>
            </a:r>
          </a:p>
        </p:txBody>
      </p:sp>
      <p:sp>
        <p:nvSpPr>
          <p:cNvPr id="3" name="Прямоугольник 2">
            <a:extLst>
              <a:ext uri="{FF2B5EF4-FFF2-40B4-BE49-F238E27FC236}">
                <a16:creationId xmlns:a16="http://schemas.microsoft.com/office/drawing/2014/main" id="{2437AA22-DE2F-A879-84F5-0810F36EAB2D}"/>
              </a:ext>
            </a:extLst>
          </p:cNvPr>
          <p:cNvSpPr/>
          <p:nvPr/>
        </p:nvSpPr>
        <p:spPr>
          <a:xfrm>
            <a:off x="4800601" y="0"/>
            <a:ext cx="7391398"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Job </a:t>
            </a:r>
            <a:r>
              <a:rPr lang="ru-RU" dirty="0"/>
              <a:t>и</a:t>
            </a:r>
            <a:r>
              <a:rPr lang="en-US" dirty="0"/>
              <a:t> User Story</a:t>
            </a:r>
            <a:endParaRPr lang="ru-RU" dirty="0"/>
          </a:p>
        </p:txBody>
      </p:sp>
      <p:sp>
        <p:nvSpPr>
          <p:cNvPr id="5" name="TextBox 4">
            <a:extLst>
              <a:ext uri="{FF2B5EF4-FFF2-40B4-BE49-F238E27FC236}">
                <a16:creationId xmlns:a16="http://schemas.microsoft.com/office/drawing/2014/main" id="{E336B0A3-EADC-13E1-99CB-6B2A5EA9B5BD}"/>
              </a:ext>
            </a:extLst>
          </p:cNvPr>
          <p:cNvSpPr txBox="1"/>
          <p:nvPr/>
        </p:nvSpPr>
        <p:spPr>
          <a:xfrm>
            <a:off x="191164" y="1247804"/>
            <a:ext cx="4376544" cy="507831"/>
          </a:xfrm>
          <a:prstGeom prst="rect">
            <a:avLst/>
          </a:prstGeom>
          <a:noFill/>
        </p:spPr>
        <p:txBody>
          <a:bodyPr wrap="square" lIns="0" tIns="0" rIns="0" bIns="0" rtlCol="0">
            <a:spAutoFit/>
          </a:bodyPr>
          <a:lstStyle/>
          <a:p>
            <a:r>
              <a:rPr lang="ru-RU" sz="1100" dirty="0"/>
              <a:t>Студент хочет быстро отметиться без лишних действий и если что-то не получилось то визуально увидеть это и увидеть что староста </a:t>
            </a:r>
            <a:r>
              <a:rPr lang="ru-RU" sz="1100" dirty="0" err="1"/>
              <a:t>вкурсе</a:t>
            </a:r>
            <a:r>
              <a:rPr lang="ru-RU" sz="1100" dirty="0"/>
              <a:t> о его проблемах и потом как староста отметит получить уведомление</a:t>
            </a:r>
          </a:p>
        </p:txBody>
      </p:sp>
      <p:sp>
        <p:nvSpPr>
          <p:cNvPr id="6" name="TextBox 5">
            <a:extLst>
              <a:ext uri="{FF2B5EF4-FFF2-40B4-BE49-F238E27FC236}">
                <a16:creationId xmlns:a16="http://schemas.microsoft.com/office/drawing/2014/main" id="{EE093D92-F5A5-3C3E-9407-47E616BFA575}"/>
              </a:ext>
            </a:extLst>
          </p:cNvPr>
          <p:cNvSpPr txBox="1"/>
          <p:nvPr/>
        </p:nvSpPr>
        <p:spPr>
          <a:xfrm>
            <a:off x="191164" y="1835123"/>
            <a:ext cx="4376544" cy="1523494"/>
          </a:xfrm>
          <a:prstGeom prst="rect">
            <a:avLst/>
          </a:prstGeom>
          <a:noFill/>
        </p:spPr>
        <p:txBody>
          <a:bodyPr wrap="square" lIns="0" tIns="0" rIns="0" bIns="0" rtlCol="0">
            <a:spAutoFit/>
          </a:bodyPr>
          <a:lstStyle/>
          <a:p>
            <a:r>
              <a:rPr lang="ru-RU" sz="1100" dirty="0"/>
              <a:t>Студент хочет чтоб визуально все его действие отражались (завершённое дз – меньший шрифт, серый текст и зачёркнуто, Проходит проверка посещения по </a:t>
            </a:r>
            <a:r>
              <a:rPr lang="ru-RU" sz="1100" dirty="0" err="1"/>
              <a:t>гео</a:t>
            </a:r>
            <a:r>
              <a:rPr lang="ru-RU" sz="1100" dirty="0"/>
              <a:t> – анимация что загружается, если не получи лось то сразу старосте отправляется информация. (тут есть идея доработки – на </a:t>
            </a:r>
            <a:r>
              <a:rPr lang="ru-RU" sz="1100" dirty="0" err="1"/>
              <a:t>бекенде</a:t>
            </a:r>
            <a:r>
              <a:rPr lang="ru-RU" sz="1100" dirty="0"/>
              <a:t> проверять какие есть </a:t>
            </a:r>
            <a:r>
              <a:rPr lang="en-US" sz="1100" dirty="0" err="1"/>
              <a:t>wifi</a:t>
            </a:r>
            <a:r>
              <a:rPr lang="ru-RU" sz="1100" dirty="0"/>
              <a:t> подключение что если подключён к </a:t>
            </a:r>
            <a:r>
              <a:rPr lang="en-US" sz="1100" dirty="0" err="1"/>
              <a:t>wifi</a:t>
            </a:r>
            <a:r>
              <a:rPr lang="en-US" sz="1100" dirty="0"/>
              <a:t> </a:t>
            </a:r>
            <a:r>
              <a:rPr lang="ru-RU" sz="1100" dirty="0"/>
              <a:t>в </a:t>
            </a:r>
            <a:r>
              <a:rPr lang="ru-RU" sz="1100" dirty="0" err="1"/>
              <a:t>миите</a:t>
            </a:r>
            <a:r>
              <a:rPr lang="ru-RU" sz="1100" dirty="0"/>
              <a:t> то есть в вузе но это для </a:t>
            </a:r>
            <a:r>
              <a:rPr lang="ru-RU" sz="1100" dirty="0" err="1"/>
              <a:t>бекнеда</a:t>
            </a:r>
            <a:r>
              <a:rPr lang="ru-RU" sz="1100" dirty="0"/>
              <a:t> </a:t>
            </a:r>
            <a:r>
              <a:rPr lang="ru-RU" sz="1100" dirty="0" err="1"/>
              <a:t>азадча</a:t>
            </a:r>
            <a:r>
              <a:rPr lang="ru-RU" sz="1100" dirty="0"/>
              <a:t>). Студент хочет базовую но плавную и уместную </a:t>
            </a:r>
            <a:r>
              <a:rPr lang="ru-RU" sz="1100" dirty="0" err="1"/>
              <a:t>анимсацию</a:t>
            </a:r>
            <a:r>
              <a:rPr lang="ru-RU" sz="1100" dirty="0"/>
              <a:t>. Расписание с отметкой должно мгновенно обновляться и выделять будущие пары серым а </a:t>
            </a:r>
            <a:r>
              <a:rPr lang="ru-RU" sz="1100" dirty="0" err="1"/>
              <a:t>проедшие</a:t>
            </a:r>
            <a:r>
              <a:rPr lang="ru-RU" sz="1100" dirty="0"/>
              <a:t> со статусом</a:t>
            </a:r>
          </a:p>
        </p:txBody>
      </p:sp>
      <p:sp>
        <p:nvSpPr>
          <p:cNvPr id="7" name="TextBox 6">
            <a:extLst>
              <a:ext uri="{FF2B5EF4-FFF2-40B4-BE49-F238E27FC236}">
                <a16:creationId xmlns:a16="http://schemas.microsoft.com/office/drawing/2014/main" id="{2D9CF3E5-82DD-1202-E1EB-62AAD9D2996D}"/>
              </a:ext>
            </a:extLst>
          </p:cNvPr>
          <p:cNvSpPr txBox="1"/>
          <p:nvPr/>
        </p:nvSpPr>
        <p:spPr>
          <a:xfrm>
            <a:off x="191164" y="3499384"/>
            <a:ext cx="4376544" cy="507831"/>
          </a:xfrm>
          <a:prstGeom prst="rect">
            <a:avLst/>
          </a:prstGeom>
          <a:noFill/>
        </p:spPr>
        <p:txBody>
          <a:bodyPr wrap="square" lIns="0" tIns="0" rIns="0" bIns="0" rtlCol="0">
            <a:spAutoFit/>
          </a:bodyPr>
          <a:lstStyle/>
          <a:p>
            <a:r>
              <a:rPr lang="ru-RU" sz="1100" dirty="0"/>
              <a:t>Студент хочет смотреть расписание на сегодня (аудитория если она поменялась то визуальное оформление что сменилась и выделение – это новый функционал для </a:t>
            </a:r>
            <a:r>
              <a:rPr lang="ru-RU" sz="1100" dirty="0" err="1"/>
              <a:t>бекенда</a:t>
            </a:r>
            <a:r>
              <a:rPr lang="ru-RU" sz="1100" dirty="0"/>
              <a:t> старосте) </a:t>
            </a:r>
          </a:p>
        </p:txBody>
      </p:sp>
      <p:sp>
        <p:nvSpPr>
          <p:cNvPr id="8" name="TextBox 7">
            <a:extLst>
              <a:ext uri="{FF2B5EF4-FFF2-40B4-BE49-F238E27FC236}">
                <a16:creationId xmlns:a16="http://schemas.microsoft.com/office/drawing/2014/main" id="{6DF76A4F-70F4-EBFF-CADF-32120F686652}"/>
              </a:ext>
            </a:extLst>
          </p:cNvPr>
          <p:cNvSpPr txBox="1"/>
          <p:nvPr/>
        </p:nvSpPr>
        <p:spPr>
          <a:xfrm>
            <a:off x="191164" y="4100398"/>
            <a:ext cx="4376544" cy="507831"/>
          </a:xfrm>
          <a:prstGeom prst="rect">
            <a:avLst/>
          </a:prstGeom>
          <a:noFill/>
        </p:spPr>
        <p:txBody>
          <a:bodyPr wrap="square" lIns="0" tIns="0" rIns="0" bIns="0" rtlCol="0">
            <a:spAutoFit/>
          </a:bodyPr>
          <a:lstStyle/>
          <a:p>
            <a:r>
              <a:rPr lang="ru-RU" sz="1100" dirty="0"/>
              <a:t>Студент хочет сказать что был на паре если не смог автоматические отметиться и это должно происходить автоматически с </a:t>
            </a:r>
            <a:r>
              <a:rPr lang="ru-RU" sz="1100" dirty="0" err="1"/>
              <a:t>информаированием</a:t>
            </a:r>
            <a:r>
              <a:rPr lang="ru-RU" sz="1100" dirty="0"/>
              <a:t> студента</a:t>
            </a:r>
          </a:p>
        </p:txBody>
      </p:sp>
      <p:sp>
        <p:nvSpPr>
          <p:cNvPr id="9" name="TextBox 8">
            <a:extLst>
              <a:ext uri="{FF2B5EF4-FFF2-40B4-BE49-F238E27FC236}">
                <a16:creationId xmlns:a16="http://schemas.microsoft.com/office/drawing/2014/main" id="{9165DA90-B2F6-F85F-3E7D-8DC026812D4C}"/>
              </a:ext>
            </a:extLst>
          </p:cNvPr>
          <p:cNvSpPr txBox="1"/>
          <p:nvPr/>
        </p:nvSpPr>
        <p:spPr>
          <a:xfrm>
            <a:off x="191164" y="4701412"/>
            <a:ext cx="4376544" cy="677108"/>
          </a:xfrm>
          <a:prstGeom prst="rect">
            <a:avLst/>
          </a:prstGeom>
          <a:noFill/>
        </p:spPr>
        <p:txBody>
          <a:bodyPr wrap="square" lIns="0" tIns="0" rIns="0" bIns="0" rtlCol="0">
            <a:spAutoFit/>
          </a:bodyPr>
          <a:lstStyle/>
          <a:p>
            <a:r>
              <a:rPr lang="ru-RU" sz="1100" dirty="0" err="1"/>
              <a:t>Стедент</a:t>
            </a:r>
            <a:r>
              <a:rPr lang="ru-RU" sz="1100" dirty="0"/>
              <a:t> хочет смотреть свою статистику по графику (чисто быстрая статистика) по неделям и переключаться по ним в процентах от общего числа пар (тк каждый день разное количество пар) и смотреть по </a:t>
            </a:r>
            <a:r>
              <a:rPr lang="ru-RU" sz="1100" dirty="0" err="1"/>
              <a:t>васем</a:t>
            </a:r>
            <a:r>
              <a:rPr lang="ru-RU" sz="1100" dirty="0"/>
              <a:t> неделям будущие пары не в счёт. </a:t>
            </a:r>
          </a:p>
        </p:txBody>
      </p:sp>
      <p:sp>
        <p:nvSpPr>
          <p:cNvPr id="10" name="TextBox 9">
            <a:extLst>
              <a:ext uri="{FF2B5EF4-FFF2-40B4-BE49-F238E27FC236}">
                <a16:creationId xmlns:a16="http://schemas.microsoft.com/office/drawing/2014/main" id="{EDDBCEC9-3E7B-836D-69E2-B09CF2B94431}"/>
              </a:ext>
            </a:extLst>
          </p:cNvPr>
          <p:cNvSpPr txBox="1"/>
          <p:nvPr/>
        </p:nvSpPr>
        <p:spPr>
          <a:xfrm>
            <a:off x="191164" y="5471703"/>
            <a:ext cx="4376544" cy="338554"/>
          </a:xfrm>
          <a:prstGeom prst="rect">
            <a:avLst/>
          </a:prstGeom>
          <a:noFill/>
        </p:spPr>
        <p:txBody>
          <a:bodyPr wrap="square" lIns="0" tIns="0" rIns="0" bIns="0" rtlCol="0">
            <a:spAutoFit/>
          </a:bodyPr>
          <a:lstStyle/>
          <a:p>
            <a:r>
              <a:rPr lang="ru-RU" sz="1100" dirty="0"/>
              <a:t>Студент хочет видеть дз на сегодня и иметь возможность переключаться между днями в </a:t>
            </a:r>
            <a:r>
              <a:rPr lang="ru-RU" sz="1100" dirty="0" err="1"/>
              <a:t>любьую</a:t>
            </a:r>
            <a:r>
              <a:rPr lang="ru-RU" sz="1100" dirty="0"/>
              <a:t> сторону без перехода на страницу дз</a:t>
            </a:r>
          </a:p>
        </p:txBody>
      </p:sp>
    </p:spTree>
    <p:extLst>
      <p:ext uri="{BB962C8B-B14F-4D97-AF65-F5344CB8AC3E}">
        <p14:creationId xmlns:p14="http://schemas.microsoft.com/office/powerpoint/2010/main" val="3172860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755DE34E-1F52-2BE9-468C-A5BC762F6445}"/>
              </a:ext>
            </a:extLst>
          </p:cNvPr>
          <p:cNvSpPr>
            <a:spLocks/>
          </p:cNvSpPr>
          <p:nvPr/>
        </p:nvSpPr>
        <p:spPr>
          <a:xfrm>
            <a:off x="4806502" y="0"/>
            <a:ext cx="7391399" cy="6858000"/>
          </a:xfrm>
          <a:prstGeom prst="rect">
            <a:avLst/>
          </a:prstGeom>
          <a:solidFill>
            <a:schemeClr val="bg1">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3" name="Прямоугольник 52">
            <a:extLst>
              <a:ext uri="{FF2B5EF4-FFF2-40B4-BE49-F238E27FC236}">
                <a16:creationId xmlns:a16="http://schemas.microsoft.com/office/drawing/2014/main" id="{9A64C125-C9E6-D1CE-B25F-4CE8FB06D8F5}"/>
              </a:ext>
            </a:extLst>
          </p:cNvPr>
          <p:cNvSpPr/>
          <p:nvPr/>
        </p:nvSpPr>
        <p:spPr>
          <a:xfrm>
            <a:off x="4928315" y="1780279"/>
            <a:ext cx="7147775" cy="22647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4">
            <a:extLst>
              <a:ext uri="{FF2B5EF4-FFF2-40B4-BE49-F238E27FC236}">
                <a16:creationId xmlns:a16="http://schemas.microsoft.com/office/drawing/2014/main" id="{6B8CB585-D000-9D9E-13D0-F9ED93B0ED70}"/>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102 – СТРАНИЦА СТУДЕНТ - ПОСЕЩАЕМОСТЬ </a:t>
            </a:r>
          </a:p>
        </p:txBody>
      </p:sp>
      <p:sp>
        <p:nvSpPr>
          <p:cNvPr id="7" name="TextBox 6">
            <a:extLst>
              <a:ext uri="{FF2B5EF4-FFF2-40B4-BE49-F238E27FC236}">
                <a16:creationId xmlns:a16="http://schemas.microsoft.com/office/drawing/2014/main" id="{F4A6BACE-FADE-7E5D-4C20-821ABD1C29EE}"/>
              </a:ext>
            </a:extLst>
          </p:cNvPr>
          <p:cNvSpPr txBox="1"/>
          <p:nvPr/>
        </p:nvSpPr>
        <p:spPr>
          <a:xfrm>
            <a:off x="191164" y="1110702"/>
            <a:ext cx="4376544" cy="507831"/>
          </a:xfrm>
          <a:prstGeom prst="rect">
            <a:avLst/>
          </a:prstGeom>
          <a:noFill/>
        </p:spPr>
        <p:txBody>
          <a:bodyPr wrap="square" lIns="0" tIns="0" rIns="0" bIns="0" rtlCol="0">
            <a:spAutoFit/>
          </a:bodyPr>
          <a:lstStyle/>
          <a:p>
            <a:r>
              <a:rPr lang="ru-RU" sz="1100" dirty="0"/>
              <a:t>1 – шапка одинакова для всех страниц (кнопка переключения профиля), переходные страницы, кнопка профиля и раскрывающий список (настройки и выход)</a:t>
            </a:r>
          </a:p>
        </p:txBody>
      </p:sp>
      <p:grpSp>
        <p:nvGrpSpPr>
          <p:cNvPr id="2" name="Группа 1">
            <a:extLst>
              <a:ext uri="{FF2B5EF4-FFF2-40B4-BE49-F238E27FC236}">
                <a16:creationId xmlns:a16="http://schemas.microsoft.com/office/drawing/2014/main" id="{41C7D113-EC53-CE5D-03AE-3B28F33EE90D}"/>
              </a:ext>
            </a:extLst>
          </p:cNvPr>
          <p:cNvGrpSpPr/>
          <p:nvPr/>
        </p:nvGrpSpPr>
        <p:grpSpPr>
          <a:xfrm>
            <a:off x="4928315" y="128790"/>
            <a:ext cx="1614152" cy="287630"/>
            <a:chOff x="1803042" y="2137890"/>
            <a:chExt cx="1747234" cy="523744"/>
          </a:xfrm>
        </p:grpSpPr>
        <p:sp>
          <p:nvSpPr>
            <p:cNvPr id="3" name="Прямоугольник 2">
              <a:extLst>
                <a:ext uri="{FF2B5EF4-FFF2-40B4-BE49-F238E27FC236}">
                  <a16:creationId xmlns:a16="http://schemas.microsoft.com/office/drawing/2014/main" id="{54F68C72-5EF8-7633-3A8B-F40F1819C8A6}"/>
                </a:ext>
              </a:extLst>
            </p:cNvPr>
            <p:cNvSpPr/>
            <p:nvPr/>
          </p:nvSpPr>
          <p:spPr>
            <a:xfrm>
              <a:off x="1803042" y="2137893"/>
              <a:ext cx="1747234" cy="52374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Группа 11">
              <a:extLst>
                <a:ext uri="{FF2B5EF4-FFF2-40B4-BE49-F238E27FC236}">
                  <a16:creationId xmlns:a16="http://schemas.microsoft.com/office/drawing/2014/main" id="{CDAEE686-CA3D-7432-6815-017CE8DBF47B}"/>
                </a:ext>
              </a:extLst>
            </p:cNvPr>
            <p:cNvGrpSpPr/>
            <p:nvPr/>
          </p:nvGrpSpPr>
          <p:grpSpPr>
            <a:xfrm>
              <a:off x="1970467" y="2137890"/>
              <a:ext cx="1419940" cy="277001"/>
              <a:chOff x="2082085" y="1725766"/>
              <a:chExt cx="1419940" cy="277001"/>
            </a:xfrm>
          </p:grpSpPr>
          <p:sp>
            <p:nvSpPr>
              <p:cNvPr id="20" name="TextBox 19">
                <a:extLst>
                  <a:ext uri="{FF2B5EF4-FFF2-40B4-BE49-F238E27FC236}">
                    <a16:creationId xmlns:a16="http://schemas.microsoft.com/office/drawing/2014/main" id="{804D3EA9-2783-772A-79AD-966ADF2BD3A9}"/>
                  </a:ext>
                </a:extLst>
              </p:cNvPr>
              <p:cNvSpPr txBox="1"/>
              <p:nvPr/>
            </p:nvSpPr>
            <p:spPr>
              <a:xfrm>
                <a:off x="2082085" y="1725768"/>
                <a:ext cx="744114" cy="276999"/>
              </a:xfrm>
              <a:prstGeom prst="rect">
                <a:avLst/>
              </a:prstGeom>
              <a:noFill/>
            </p:spPr>
            <p:txBody>
              <a:bodyPr wrap="none" rtlCol="0">
                <a:spAutoFit/>
              </a:bodyPr>
              <a:lstStyle/>
              <a:p>
                <a:r>
                  <a:rPr lang="ru-RU" sz="1200" dirty="0"/>
                  <a:t>староста</a:t>
                </a:r>
              </a:p>
            </p:txBody>
          </p:sp>
          <p:sp>
            <p:nvSpPr>
              <p:cNvPr id="22" name="TextBox 21">
                <a:extLst>
                  <a:ext uri="{FF2B5EF4-FFF2-40B4-BE49-F238E27FC236}">
                    <a16:creationId xmlns:a16="http://schemas.microsoft.com/office/drawing/2014/main" id="{1D92D037-6417-318E-028A-748351726AB1}"/>
                  </a:ext>
                </a:extLst>
              </p:cNvPr>
              <p:cNvSpPr txBox="1"/>
              <p:nvPr/>
            </p:nvSpPr>
            <p:spPr>
              <a:xfrm>
                <a:off x="2826199" y="1725766"/>
                <a:ext cx="675826" cy="277000"/>
              </a:xfrm>
              <a:prstGeom prst="rect">
                <a:avLst/>
              </a:prstGeom>
              <a:noFill/>
            </p:spPr>
            <p:txBody>
              <a:bodyPr wrap="none" rtlCol="0">
                <a:spAutoFit/>
              </a:bodyPr>
              <a:lstStyle/>
              <a:p>
                <a:r>
                  <a:rPr lang="ru-RU" sz="1200" dirty="0"/>
                  <a:t>студент</a:t>
                </a:r>
              </a:p>
            </p:txBody>
          </p:sp>
        </p:grpSp>
      </p:grpSp>
      <p:grpSp>
        <p:nvGrpSpPr>
          <p:cNvPr id="29" name="Группа 28">
            <a:extLst>
              <a:ext uri="{FF2B5EF4-FFF2-40B4-BE49-F238E27FC236}">
                <a16:creationId xmlns:a16="http://schemas.microsoft.com/office/drawing/2014/main" id="{2161D6D8-02C4-5419-45C7-D76179EC68EF}"/>
              </a:ext>
            </a:extLst>
          </p:cNvPr>
          <p:cNvGrpSpPr/>
          <p:nvPr/>
        </p:nvGrpSpPr>
        <p:grpSpPr>
          <a:xfrm>
            <a:off x="4928315" y="598868"/>
            <a:ext cx="5786147" cy="184666"/>
            <a:chOff x="2659614" y="2814035"/>
            <a:chExt cx="5786147" cy="184666"/>
          </a:xfrm>
        </p:grpSpPr>
        <p:sp>
          <p:nvSpPr>
            <p:cNvPr id="30" name="TextBox 29">
              <a:extLst>
                <a:ext uri="{FF2B5EF4-FFF2-40B4-BE49-F238E27FC236}">
                  <a16:creationId xmlns:a16="http://schemas.microsoft.com/office/drawing/2014/main" id="{D10AD3DE-87C1-0A91-EF8C-A7CF30DE6D33}"/>
                </a:ext>
              </a:extLst>
            </p:cNvPr>
            <p:cNvSpPr txBox="1"/>
            <p:nvPr/>
          </p:nvSpPr>
          <p:spPr>
            <a:xfrm>
              <a:off x="2659614" y="2814035"/>
              <a:ext cx="502061" cy="184666"/>
            </a:xfrm>
            <a:prstGeom prst="rect">
              <a:avLst/>
            </a:prstGeom>
            <a:noFill/>
          </p:spPr>
          <p:txBody>
            <a:bodyPr wrap="none" lIns="0" tIns="0" rIns="0" bIns="0" rtlCol="0">
              <a:spAutoFit/>
            </a:bodyPr>
            <a:lstStyle/>
            <a:p>
              <a:r>
                <a:rPr lang="ru-RU" sz="1200" dirty="0"/>
                <a:t>главная</a:t>
              </a:r>
            </a:p>
          </p:txBody>
        </p:sp>
        <p:sp>
          <p:nvSpPr>
            <p:cNvPr id="31" name="TextBox 30">
              <a:extLst>
                <a:ext uri="{FF2B5EF4-FFF2-40B4-BE49-F238E27FC236}">
                  <a16:creationId xmlns:a16="http://schemas.microsoft.com/office/drawing/2014/main" id="{A203EA79-D38E-ADBC-B3B3-871913968910}"/>
                </a:ext>
              </a:extLst>
            </p:cNvPr>
            <p:cNvSpPr txBox="1"/>
            <p:nvPr/>
          </p:nvSpPr>
          <p:spPr>
            <a:xfrm>
              <a:off x="3353373" y="2814035"/>
              <a:ext cx="952890" cy="184666"/>
            </a:xfrm>
            <a:prstGeom prst="rect">
              <a:avLst/>
            </a:prstGeom>
            <a:noFill/>
          </p:spPr>
          <p:txBody>
            <a:bodyPr wrap="none" lIns="0" tIns="0" rIns="0" bIns="0" rtlCol="0">
              <a:spAutoFit/>
            </a:bodyPr>
            <a:lstStyle/>
            <a:p>
              <a:r>
                <a:rPr lang="ru-RU" sz="1200" dirty="0"/>
                <a:t>посещаемость</a:t>
              </a:r>
            </a:p>
          </p:txBody>
        </p:sp>
        <p:sp>
          <p:nvSpPr>
            <p:cNvPr id="32" name="TextBox 31">
              <a:extLst>
                <a:ext uri="{FF2B5EF4-FFF2-40B4-BE49-F238E27FC236}">
                  <a16:creationId xmlns:a16="http://schemas.microsoft.com/office/drawing/2014/main" id="{5814CC55-FEEF-41BA-5FE2-D2039915B26D}"/>
                </a:ext>
              </a:extLst>
            </p:cNvPr>
            <p:cNvSpPr txBox="1"/>
            <p:nvPr/>
          </p:nvSpPr>
          <p:spPr>
            <a:xfrm>
              <a:off x="4497961" y="2814035"/>
              <a:ext cx="693010" cy="184666"/>
            </a:xfrm>
            <a:prstGeom prst="rect">
              <a:avLst/>
            </a:prstGeom>
            <a:noFill/>
          </p:spPr>
          <p:txBody>
            <a:bodyPr wrap="none" lIns="0" tIns="0" rIns="0" bIns="0" rtlCol="0">
              <a:spAutoFit/>
            </a:bodyPr>
            <a:lstStyle/>
            <a:p>
              <a:r>
                <a:rPr lang="ru-RU" sz="1200" dirty="0"/>
                <a:t>статистика</a:t>
              </a:r>
            </a:p>
          </p:txBody>
        </p:sp>
        <p:sp>
          <p:nvSpPr>
            <p:cNvPr id="33" name="TextBox 32">
              <a:extLst>
                <a:ext uri="{FF2B5EF4-FFF2-40B4-BE49-F238E27FC236}">
                  <a16:creationId xmlns:a16="http://schemas.microsoft.com/office/drawing/2014/main" id="{46EB2264-2BD9-D108-EC03-444771EA1FAB}"/>
                </a:ext>
              </a:extLst>
            </p:cNvPr>
            <p:cNvSpPr txBox="1"/>
            <p:nvPr/>
          </p:nvSpPr>
          <p:spPr>
            <a:xfrm>
              <a:off x="5382668" y="2814035"/>
              <a:ext cx="1269707" cy="184666"/>
            </a:xfrm>
            <a:prstGeom prst="rect">
              <a:avLst/>
            </a:prstGeom>
            <a:noFill/>
          </p:spPr>
          <p:txBody>
            <a:bodyPr wrap="none" lIns="0" tIns="0" rIns="0" bIns="0" rtlCol="0">
              <a:spAutoFit/>
            </a:bodyPr>
            <a:lstStyle/>
            <a:p>
              <a:r>
                <a:rPr lang="ru-RU" sz="1200" dirty="0"/>
                <a:t>домашнее задание</a:t>
              </a:r>
            </a:p>
          </p:txBody>
        </p:sp>
        <p:sp>
          <p:nvSpPr>
            <p:cNvPr id="34" name="TextBox 33">
              <a:extLst>
                <a:ext uri="{FF2B5EF4-FFF2-40B4-BE49-F238E27FC236}">
                  <a16:creationId xmlns:a16="http://schemas.microsoft.com/office/drawing/2014/main" id="{3E0250C7-A340-4185-48EA-EFA459216A8E}"/>
                </a:ext>
              </a:extLst>
            </p:cNvPr>
            <p:cNvSpPr txBox="1"/>
            <p:nvPr/>
          </p:nvSpPr>
          <p:spPr>
            <a:xfrm>
              <a:off x="6844072" y="2814035"/>
              <a:ext cx="356829" cy="184666"/>
            </a:xfrm>
            <a:prstGeom prst="rect">
              <a:avLst/>
            </a:prstGeom>
            <a:noFill/>
          </p:spPr>
          <p:txBody>
            <a:bodyPr wrap="none" lIns="0" tIns="0" rIns="0" bIns="0" rtlCol="0">
              <a:spAutoFit/>
            </a:bodyPr>
            <a:lstStyle/>
            <a:p>
              <a:r>
                <a:rPr lang="ru-RU" sz="1200" dirty="0"/>
                <a:t>карта</a:t>
              </a:r>
            </a:p>
          </p:txBody>
        </p:sp>
        <p:sp>
          <p:nvSpPr>
            <p:cNvPr id="35" name="TextBox 34">
              <a:extLst>
                <a:ext uri="{FF2B5EF4-FFF2-40B4-BE49-F238E27FC236}">
                  <a16:creationId xmlns:a16="http://schemas.microsoft.com/office/drawing/2014/main" id="{722EA4D8-9B2B-482E-CB4D-4FF58B860FEB}"/>
                </a:ext>
              </a:extLst>
            </p:cNvPr>
            <p:cNvSpPr txBox="1"/>
            <p:nvPr/>
          </p:nvSpPr>
          <p:spPr>
            <a:xfrm>
              <a:off x="7398167" y="2814035"/>
              <a:ext cx="1047594" cy="184666"/>
            </a:xfrm>
            <a:prstGeom prst="rect">
              <a:avLst/>
            </a:prstGeom>
            <a:noFill/>
          </p:spPr>
          <p:txBody>
            <a:bodyPr wrap="none" lIns="0" tIns="0" rIns="0" bIns="0" rtlCol="0">
              <a:spAutoFit/>
            </a:bodyPr>
            <a:lstStyle/>
            <a:p>
              <a:r>
                <a:rPr lang="ru-RU" sz="1200" dirty="0"/>
                <a:t>заявки и тикеты</a:t>
              </a:r>
            </a:p>
          </p:txBody>
        </p:sp>
      </p:grpSp>
      <p:sp>
        <p:nvSpPr>
          <p:cNvPr id="36" name="Овал 35">
            <a:extLst>
              <a:ext uri="{FF2B5EF4-FFF2-40B4-BE49-F238E27FC236}">
                <a16:creationId xmlns:a16="http://schemas.microsoft.com/office/drawing/2014/main" id="{E0EC05AD-6BEE-5F02-EF03-BCE42F5CD45B}"/>
              </a:ext>
            </a:extLst>
          </p:cNvPr>
          <p:cNvSpPr/>
          <p:nvPr/>
        </p:nvSpPr>
        <p:spPr>
          <a:xfrm>
            <a:off x="11638209" y="96316"/>
            <a:ext cx="369194" cy="36919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TextBox 36">
            <a:extLst>
              <a:ext uri="{FF2B5EF4-FFF2-40B4-BE49-F238E27FC236}">
                <a16:creationId xmlns:a16="http://schemas.microsoft.com/office/drawing/2014/main" id="{FFC9FECC-B1BF-D5A1-B828-3B8F6C84E9A1}"/>
              </a:ext>
            </a:extLst>
          </p:cNvPr>
          <p:cNvSpPr txBox="1"/>
          <p:nvPr/>
        </p:nvSpPr>
        <p:spPr>
          <a:xfrm>
            <a:off x="11536669" y="188580"/>
            <a:ext cx="572273" cy="184666"/>
          </a:xfrm>
          <a:prstGeom prst="rect">
            <a:avLst/>
          </a:prstGeom>
          <a:noFill/>
        </p:spPr>
        <p:txBody>
          <a:bodyPr wrap="none" lIns="0" tIns="0" rIns="0" bIns="0" rtlCol="0">
            <a:spAutoFit/>
          </a:bodyPr>
          <a:lstStyle/>
          <a:p>
            <a:r>
              <a:rPr lang="ru-RU" sz="1200" dirty="0"/>
              <a:t>профиль</a:t>
            </a:r>
          </a:p>
        </p:txBody>
      </p:sp>
      <p:grpSp>
        <p:nvGrpSpPr>
          <p:cNvPr id="38" name="Группа 37">
            <a:extLst>
              <a:ext uri="{FF2B5EF4-FFF2-40B4-BE49-F238E27FC236}">
                <a16:creationId xmlns:a16="http://schemas.microsoft.com/office/drawing/2014/main" id="{46FFB054-2171-F3D3-2C47-67CAF1514E2E}"/>
              </a:ext>
            </a:extLst>
          </p:cNvPr>
          <p:cNvGrpSpPr/>
          <p:nvPr/>
        </p:nvGrpSpPr>
        <p:grpSpPr>
          <a:xfrm>
            <a:off x="10908405" y="513981"/>
            <a:ext cx="1167685" cy="596721"/>
            <a:chOff x="10908405" y="513981"/>
            <a:chExt cx="1167685" cy="596721"/>
          </a:xfrm>
        </p:grpSpPr>
        <p:sp>
          <p:nvSpPr>
            <p:cNvPr id="39" name="Прямоугольник 38">
              <a:extLst>
                <a:ext uri="{FF2B5EF4-FFF2-40B4-BE49-F238E27FC236}">
                  <a16:creationId xmlns:a16="http://schemas.microsoft.com/office/drawing/2014/main" id="{4327C0AC-5044-26E3-4551-9DCE9A0E8ECB}"/>
                </a:ext>
              </a:extLst>
            </p:cNvPr>
            <p:cNvSpPr/>
            <p:nvPr/>
          </p:nvSpPr>
          <p:spPr>
            <a:xfrm>
              <a:off x="10908405" y="513981"/>
              <a:ext cx="1167685" cy="59672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TextBox 39">
              <a:extLst>
                <a:ext uri="{FF2B5EF4-FFF2-40B4-BE49-F238E27FC236}">
                  <a16:creationId xmlns:a16="http://schemas.microsoft.com/office/drawing/2014/main" id="{4C68D776-2555-D1F3-4E34-EB209B894543}"/>
                </a:ext>
              </a:extLst>
            </p:cNvPr>
            <p:cNvSpPr txBox="1"/>
            <p:nvPr/>
          </p:nvSpPr>
          <p:spPr>
            <a:xfrm>
              <a:off x="11032536" y="603721"/>
              <a:ext cx="695703" cy="369332"/>
            </a:xfrm>
            <a:prstGeom prst="rect">
              <a:avLst/>
            </a:prstGeom>
            <a:noFill/>
          </p:spPr>
          <p:txBody>
            <a:bodyPr wrap="none" lIns="0" tIns="0" rIns="0" bIns="0" rtlCol="0">
              <a:spAutoFit/>
            </a:bodyPr>
            <a:lstStyle/>
            <a:p>
              <a:r>
                <a:rPr lang="ru-RU" sz="1200" dirty="0"/>
                <a:t>Настройки</a:t>
              </a:r>
              <a:br>
                <a:rPr lang="ru-RU" sz="1200" dirty="0"/>
              </a:br>
              <a:r>
                <a:rPr lang="ru-RU" sz="1200" dirty="0"/>
                <a:t>Выход</a:t>
              </a:r>
            </a:p>
          </p:txBody>
        </p:sp>
      </p:grpSp>
      <p:sp>
        <p:nvSpPr>
          <p:cNvPr id="41" name="TextBox 40">
            <a:extLst>
              <a:ext uri="{FF2B5EF4-FFF2-40B4-BE49-F238E27FC236}">
                <a16:creationId xmlns:a16="http://schemas.microsoft.com/office/drawing/2014/main" id="{3EB62EA9-AD46-3526-163E-C29C8005CF42}"/>
              </a:ext>
            </a:extLst>
          </p:cNvPr>
          <p:cNvSpPr txBox="1"/>
          <p:nvPr/>
        </p:nvSpPr>
        <p:spPr>
          <a:xfrm>
            <a:off x="191164" y="1805075"/>
            <a:ext cx="4376544" cy="169277"/>
          </a:xfrm>
          <a:prstGeom prst="rect">
            <a:avLst/>
          </a:prstGeom>
          <a:noFill/>
        </p:spPr>
        <p:txBody>
          <a:bodyPr wrap="square" lIns="0" tIns="0" rIns="0" bIns="0" rtlCol="0">
            <a:spAutoFit/>
          </a:bodyPr>
          <a:lstStyle/>
          <a:p>
            <a:r>
              <a:rPr lang="ru-RU" sz="1100" dirty="0"/>
              <a:t>2 – по умолчанию показывается статистика по текущей неделе</a:t>
            </a:r>
          </a:p>
        </p:txBody>
      </p:sp>
      <p:sp>
        <p:nvSpPr>
          <p:cNvPr id="42" name="Прямоугольник 41">
            <a:extLst>
              <a:ext uri="{FF2B5EF4-FFF2-40B4-BE49-F238E27FC236}">
                <a16:creationId xmlns:a16="http://schemas.microsoft.com/office/drawing/2014/main" id="{B64B674E-3AB2-B27E-20FE-510D519EE47B}"/>
              </a:ext>
            </a:extLst>
          </p:cNvPr>
          <p:cNvSpPr/>
          <p:nvPr/>
        </p:nvSpPr>
        <p:spPr>
          <a:xfrm>
            <a:off x="4980379" y="1160244"/>
            <a:ext cx="7147775" cy="247645"/>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3" name="TextBox 42">
            <a:extLst>
              <a:ext uri="{FF2B5EF4-FFF2-40B4-BE49-F238E27FC236}">
                <a16:creationId xmlns:a16="http://schemas.microsoft.com/office/drawing/2014/main" id="{4FBBC6E3-DC87-89FC-9F69-B54B407DF3FF}"/>
              </a:ext>
            </a:extLst>
          </p:cNvPr>
          <p:cNvSpPr txBox="1"/>
          <p:nvPr/>
        </p:nvSpPr>
        <p:spPr>
          <a:xfrm>
            <a:off x="5317543" y="1193337"/>
            <a:ext cx="785793" cy="184666"/>
          </a:xfrm>
          <a:prstGeom prst="rect">
            <a:avLst/>
          </a:prstGeom>
          <a:noFill/>
        </p:spPr>
        <p:txBody>
          <a:bodyPr wrap="none" lIns="0" tIns="0" rIns="0" bIns="0" rtlCol="0">
            <a:spAutoFit/>
          </a:bodyPr>
          <a:lstStyle/>
          <a:p>
            <a:r>
              <a:rPr lang="ru-RU" sz="1200" dirty="0"/>
              <a:t>По неделям</a:t>
            </a:r>
          </a:p>
        </p:txBody>
      </p:sp>
      <p:sp>
        <p:nvSpPr>
          <p:cNvPr id="44" name="TextBox 43">
            <a:extLst>
              <a:ext uri="{FF2B5EF4-FFF2-40B4-BE49-F238E27FC236}">
                <a16:creationId xmlns:a16="http://schemas.microsoft.com/office/drawing/2014/main" id="{0A262F99-5819-F05C-B4A8-39F94D273B13}"/>
              </a:ext>
            </a:extLst>
          </p:cNvPr>
          <p:cNvSpPr txBox="1"/>
          <p:nvPr/>
        </p:nvSpPr>
        <p:spPr>
          <a:xfrm>
            <a:off x="10640811" y="1193337"/>
            <a:ext cx="952697" cy="184666"/>
          </a:xfrm>
          <a:prstGeom prst="rect">
            <a:avLst/>
          </a:prstGeom>
          <a:noFill/>
        </p:spPr>
        <p:txBody>
          <a:bodyPr wrap="none" lIns="0" tIns="0" rIns="0" bIns="0" rtlCol="0">
            <a:spAutoFit/>
          </a:bodyPr>
          <a:lstStyle/>
          <a:p>
            <a:r>
              <a:rPr lang="ru-RU" sz="1200" dirty="0"/>
              <a:t>По предметам</a:t>
            </a:r>
          </a:p>
        </p:txBody>
      </p:sp>
      <p:sp>
        <p:nvSpPr>
          <p:cNvPr id="45" name="Прямоугольник 44">
            <a:extLst>
              <a:ext uri="{FF2B5EF4-FFF2-40B4-BE49-F238E27FC236}">
                <a16:creationId xmlns:a16="http://schemas.microsoft.com/office/drawing/2014/main" id="{BBF305B6-30B0-6341-74C5-B7B1A1057AAF}"/>
              </a:ext>
            </a:extLst>
          </p:cNvPr>
          <p:cNvSpPr/>
          <p:nvPr/>
        </p:nvSpPr>
        <p:spPr>
          <a:xfrm>
            <a:off x="4928315" y="1452387"/>
            <a:ext cx="7147775" cy="25718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6" name="TextBox 45">
            <a:extLst>
              <a:ext uri="{FF2B5EF4-FFF2-40B4-BE49-F238E27FC236}">
                <a16:creationId xmlns:a16="http://schemas.microsoft.com/office/drawing/2014/main" id="{1B6D9EBB-655E-C92E-C200-D7770C5F248F}"/>
              </a:ext>
            </a:extLst>
          </p:cNvPr>
          <p:cNvSpPr txBox="1"/>
          <p:nvPr/>
        </p:nvSpPr>
        <p:spPr>
          <a:xfrm>
            <a:off x="5265479" y="1491380"/>
            <a:ext cx="309380" cy="184666"/>
          </a:xfrm>
          <a:prstGeom prst="rect">
            <a:avLst/>
          </a:prstGeom>
          <a:noFill/>
        </p:spPr>
        <p:txBody>
          <a:bodyPr wrap="none" lIns="0" tIns="0" rIns="0" bIns="0" rtlCol="0">
            <a:spAutoFit/>
          </a:bodyPr>
          <a:lstStyle/>
          <a:p>
            <a:r>
              <a:rPr lang="ru-RU" sz="1200" dirty="0"/>
              <a:t>ФИО</a:t>
            </a:r>
          </a:p>
        </p:txBody>
      </p:sp>
      <p:sp>
        <p:nvSpPr>
          <p:cNvPr id="49" name="TextBox 48">
            <a:extLst>
              <a:ext uri="{FF2B5EF4-FFF2-40B4-BE49-F238E27FC236}">
                <a16:creationId xmlns:a16="http://schemas.microsoft.com/office/drawing/2014/main" id="{2D54AB78-D258-97AB-D55C-7BCB351FB993}"/>
              </a:ext>
            </a:extLst>
          </p:cNvPr>
          <p:cNvSpPr txBox="1"/>
          <p:nvPr/>
        </p:nvSpPr>
        <p:spPr>
          <a:xfrm>
            <a:off x="5809708" y="1491380"/>
            <a:ext cx="436914" cy="184666"/>
          </a:xfrm>
          <a:prstGeom prst="rect">
            <a:avLst/>
          </a:prstGeom>
          <a:noFill/>
        </p:spPr>
        <p:txBody>
          <a:bodyPr wrap="none" lIns="0" tIns="0" rIns="0" bIns="0" rtlCol="0">
            <a:spAutoFit/>
          </a:bodyPr>
          <a:lstStyle/>
          <a:p>
            <a:r>
              <a:rPr lang="ru-RU" sz="1200" dirty="0"/>
              <a:t>Группа</a:t>
            </a:r>
          </a:p>
        </p:txBody>
      </p:sp>
      <p:sp>
        <p:nvSpPr>
          <p:cNvPr id="50" name="TextBox 49">
            <a:extLst>
              <a:ext uri="{FF2B5EF4-FFF2-40B4-BE49-F238E27FC236}">
                <a16:creationId xmlns:a16="http://schemas.microsoft.com/office/drawing/2014/main" id="{7DA54B87-C218-3DEB-2737-D9E1F16AB4F0}"/>
              </a:ext>
            </a:extLst>
          </p:cNvPr>
          <p:cNvSpPr txBox="1"/>
          <p:nvPr/>
        </p:nvSpPr>
        <p:spPr>
          <a:xfrm>
            <a:off x="7459672" y="1491380"/>
            <a:ext cx="1094595" cy="184666"/>
          </a:xfrm>
          <a:prstGeom prst="rect">
            <a:avLst/>
          </a:prstGeom>
          <a:noFill/>
        </p:spPr>
        <p:txBody>
          <a:bodyPr wrap="none" lIns="0" tIns="0" rIns="0" bIns="0" rtlCol="0">
            <a:spAutoFit/>
          </a:bodyPr>
          <a:lstStyle/>
          <a:p>
            <a:r>
              <a:rPr lang="ru-RU" sz="1200" dirty="0"/>
              <a:t>Чётность недели</a:t>
            </a:r>
          </a:p>
        </p:txBody>
      </p:sp>
      <p:sp>
        <p:nvSpPr>
          <p:cNvPr id="51" name="TextBox 50">
            <a:extLst>
              <a:ext uri="{FF2B5EF4-FFF2-40B4-BE49-F238E27FC236}">
                <a16:creationId xmlns:a16="http://schemas.microsoft.com/office/drawing/2014/main" id="{67536352-57A7-0432-4030-07099E322E4C}"/>
              </a:ext>
            </a:extLst>
          </p:cNvPr>
          <p:cNvSpPr txBox="1"/>
          <p:nvPr/>
        </p:nvSpPr>
        <p:spPr>
          <a:xfrm>
            <a:off x="9119570" y="1491380"/>
            <a:ext cx="2782685" cy="184666"/>
          </a:xfrm>
          <a:prstGeom prst="rect">
            <a:avLst/>
          </a:prstGeom>
          <a:noFill/>
        </p:spPr>
        <p:txBody>
          <a:bodyPr wrap="none" lIns="0" tIns="0" rIns="0" bIns="0" rtlCol="0">
            <a:spAutoFit/>
          </a:bodyPr>
          <a:lstStyle/>
          <a:p>
            <a:r>
              <a:rPr lang="ru-RU" sz="1200" dirty="0"/>
              <a:t>№ недели по порядку от начала семестра</a:t>
            </a:r>
          </a:p>
        </p:txBody>
      </p:sp>
      <p:sp>
        <p:nvSpPr>
          <p:cNvPr id="52" name="TextBox 51">
            <a:extLst>
              <a:ext uri="{FF2B5EF4-FFF2-40B4-BE49-F238E27FC236}">
                <a16:creationId xmlns:a16="http://schemas.microsoft.com/office/drawing/2014/main" id="{49FA9ECF-BE01-BA91-9398-99A2A816848E}"/>
              </a:ext>
            </a:extLst>
          </p:cNvPr>
          <p:cNvSpPr txBox="1"/>
          <p:nvPr/>
        </p:nvSpPr>
        <p:spPr>
          <a:xfrm>
            <a:off x="7459672" y="1777433"/>
            <a:ext cx="1311256" cy="184666"/>
          </a:xfrm>
          <a:prstGeom prst="rect">
            <a:avLst/>
          </a:prstGeom>
          <a:noFill/>
        </p:spPr>
        <p:txBody>
          <a:bodyPr wrap="none" lIns="0" tIns="0" rIns="0" bIns="0" rtlCol="0">
            <a:spAutoFit/>
          </a:bodyPr>
          <a:lstStyle/>
          <a:p>
            <a:r>
              <a:rPr lang="en-US" sz="1200" dirty="0"/>
              <a:t>&lt;-   </a:t>
            </a:r>
            <a:r>
              <a:rPr lang="ru-RU" sz="1200" dirty="0"/>
              <a:t>00.00 – 00.00   -</a:t>
            </a:r>
            <a:r>
              <a:rPr lang="en-US" sz="1200" dirty="0"/>
              <a:t>&gt;</a:t>
            </a:r>
            <a:endParaRPr lang="ru-RU" sz="1200" dirty="0"/>
          </a:p>
        </p:txBody>
      </p:sp>
      <p:sp>
        <p:nvSpPr>
          <p:cNvPr id="54" name="Прямоугольник 53">
            <a:extLst>
              <a:ext uri="{FF2B5EF4-FFF2-40B4-BE49-F238E27FC236}">
                <a16:creationId xmlns:a16="http://schemas.microsoft.com/office/drawing/2014/main" id="{726DD52A-51B3-9B32-3AED-41CDB1B7D124}"/>
              </a:ext>
            </a:extLst>
          </p:cNvPr>
          <p:cNvSpPr/>
          <p:nvPr/>
        </p:nvSpPr>
        <p:spPr>
          <a:xfrm>
            <a:off x="4928315" y="2603022"/>
            <a:ext cx="7147775" cy="1159842"/>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Прямоугольник 54">
            <a:extLst>
              <a:ext uri="{FF2B5EF4-FFF2-40B4-BE49-F238E27FC236}">
                <a16:creationId xmlns:a16="http://schemas.microsoft.com/office/drawing/2014/main" id="{0A3F874B-6CAA-A1DC-682B-5BCCCA3F46A3}"/>
              </a:ext>
            </a:extLst>
          </p:cNvPr>
          <p:cNvSpPr/>
          <p:nvPr/>
        </p:nvSpPr>
        <p:spPr>
          <a:xfrm>
            <a:off x="4928315" y="2092464"/>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TextBox 55">
            <a:extLst>
              <a:ext uri="{FF2B5EF4-FFF2-40B4-BE49-F238E27FC236}">
                <a16:creationId xmlns:a16="http://schemas.microsoft.com/office/drawing/2014/main" id="{AFF85E6B-E3A5-311D-FE0A-446EB6C34950}"/>
              </a:ext>
            </a:extLst>
          </p:cNvPr>
          <p:cNvSpPr txBox="1"/>
          <p:nvPr/>
        </p:nvSpPr>
        <p:spPr>
          <a:xfrm>
            <a:off x="5069913" y="2198517"/>
            <a:ext cx="379912" cy="184666"/>
          </a:xfrm>
          <a:prstGeom prst="rect">
            <a:avLst/>
          </a:prstGeom>
          <a:noFill/>
        </p:spPr>
        <p:txBody>
          <a:bodyPr wrap="none" lIns="0" tIns="0" rIns="0" bIns="0" rtlCol="0">
            <a:spAutoFit/>
          </a:bodyPr>
          <a:lstStyle/>
          <a:p>
            <a:r>
              <a:rPr lang="ru-RU" sz="1200" dirty="0"/>
              <a:t>% «+»</a:t>
            </a:r>
          </a:p>
        </p:txBody>
      </p:sp>
      <p:sp>
        <p:nvSpPr>
          <p:cNvPr id="57" name="Прямоугольник 56">
            <a:extLst>
              <a:ext uri="{FF2B5EF4-FFF2-40B4-BE49-F238E27FC236}">
                <a16:creationId xmlns:a16="http://schemas.microsoft.com/office/drawing/2014/main" id="{0AEA67E8-708B-6F56-CA1F-E618483C2370}"/>
              </a:ext>
            </a:extLst>
          </p:cNvPr>
          <p:cNvSpPr/>
          <p:nvPr/>
        </p:nvSpPr>
        <p:spPr>
          <a:xfrm>
            <a:off x="6025165" y="2092464"/>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TextBox 57">
            <a:extLst>
              <a:ext uri="{FF2B5EF4-FFF2-40B4-BE49-F238E27FC236}">
                <a16:creationId xmlns:a16="http://schemas.microsoft.com/office/drawing/2014/main" id="{45967B6E-29C3-BBF5-EC79-EA82C6C49F4B}"/>
              </a:ext>
            </a:extLst>
          </p:cNvPr>
          <p:cNvSpPr txBox="1"/>
          <p:nvPr/>
        </p:nvSpPr>
        <p:spPr>
          <a:xfrm>
            <a:off x="6166763" y="2198517"/>
            <a:ext cx="384721" cy="184666"/>
          </a:xfrm>
          <a:prstGeom prst="rect">
            <a:avLst/>
          </a:prstGeom>
          <a:noFill/>
        </p:spPr>
        <p:txBody>
          <a:bodyPr wrap="none" lIns="0" tIns="0" rIns="0" bIns="0" rtlCol="0">
            <a:spAutoFit/>
          </a:bodyPr>
          <a:lstStyle/>
          <a:p>
            <a:r>
              <a:rPr lang="ru-RU" sz="1200" dirty="0"/>
              <a:t>% «н»</a:t>
            </a:r>
          </a:p>
        </p:txBody>
      </p:sp>
      <p:sp>
        <p:nvSpPr>
          <p:cNvPr id="59" name="Прямоугольник 58">
            <a:extLst>
              <a:ext uri="{FF2B5EF4-FFF2-40B4-BE49-F238E27FC236}">
                <a16:creationId xmlns:a16="http://schemas.microsoft.com/office/drawing/2014/main" id="{FAA532EC-7534-391F-BD6A-97FE7FFB08F6}"/>
              </a:ext>
            </a:extLst>
          </p:cNvPr>
          <p:cNvSpPr/>
          <p:nvPr/>
        </p:nvSpPr>
        <p:spPr>
          <a:xfrm>
            <a:off x="7201366" y="2092464"/>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0" name="TextBox 59">
            <a:extLst>
              <a:ext uri="{FF2B5EF4-FFF2-40B4-BE49-F238E27FC236}">
                <a16:creationId xmlns:a16="http://schemas.microsoft.com/office/drawing/2014/main" id="{8417ED93-F8F7-E3A3-1EA8-A4DE759BF1CC}"/>
              </a:ext>
            </a:extLst>
          </p:cNvPr>
          <p:cNvSpPr txBox="1"/>
          <p:nvPr/>
        </p:nvSpPr>
        <p:spPr>
          <a:xfrm>
            <a:off x="7342964" y="2198517"/>
            <a:ext cx="384721" cy="184666"/>
          </a:xfrm>
          <a:prstGeom prst="rect">
            <a:avLst/>
          </a:prstGeom>
          <a:noFill/>
        </p:spPr>
        <p:txBody>
          <a:bodyPr wrap="none" lIns="0" tIns="0" rIns="0" bIns="0" rtlCol="0">
            <a:spAutoFit/>
          </a:bodyPr>
          <a:lstStyle/>
          <a:p>
            <a:r>
              <a:rPr lang="ru-RU" sz="1200" dirty="0"/>
              <a:t>% «у»</a:t>
            </a:r>
          </a:p>
        </p:txBody>
      </p:sp>
      <p:sp>
        <p:nvSpPr>
          <p:cNvPr id="61" name="Прямоугольник 60">
            <a:extLst>
              <a:ext uri="{FF2B5EF4-FFF2-40B4-BE49-F238E27FC236}">
                <a16:creationId xmlns:a16="http://schemas.microsoft.com/office/drawing/2014/main" id="{420CD73C-4B88-7020-CED8-63331193B480}"/>
              </a:ext>
            </a:extLst>
          </p:cNvPr>
          <p:cNvSpPr/>
          <p:nvPr/>
        </p:nvSpPr>
        <p:spPr>
          <a:xfrm>
            <a:off x="8326121" y="2092464"/>
            <a:ext cx="1129754"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0818F96B-4F53-083F-55BC-8E8A61CA62F7}"/>
              </a:ext>
            </a:extLst>
          </p:cNvPr>
          <p:cNvSpPr/>
          <p:nvPr/>
        </p:nvSpPr>
        <p:spPr>
          <a:xfrm>
            <a:off x="9694669" y="2092464"/>
            <a:ext cx="2381422"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4" name="TextBox 63">
            <a:extLst>
              <a:ext uri="{FF2B5EF4-FFF2-40B4-BE49-F238E27FC236}">
                <a16:creationId xmlns:a16="http://schemas.microsoft.com/office/drawing/2014/main" id="{75B3A1E3-4F81-F5A5-9B8C-C0A2C86F661C}"/>
              </a:ext>
            </a:extLst>
          </p:cNvPr>
          <p:cNvSpPr txBox="1"/>
          <p:nvPr/>
        </p:nvSpPr>
        <p:spPr>
          <a:xfrm>
            <a:off x="9836267" y="2141139"/>
            <a:ext cx="2065988" cy="369332"/>
          </a:xfrm>
          <a:prstGeom prst="rect">
            <a:avLst/>
          </a:prstGeom>
          <a:noFill/>
        </p:spPr>
        <p:txBody>
          <a:bodyPr wrap="square" lIns="0" tIns="0" rIns="0" bIns="0" rtlCol="0">
            <a:spAutoFit/>
          </a:bodyPr>
          <a:lstStyle/>
          <a:p>
            <a:r>
              <a:rPr lang="ru-RU" sz="1200" dirty="0"/>
              <a:t>Количество прошедших </a:t>
            </a:r>
          </a:p>
          <a:p>
            <a:r>
              <a:rPr lang="ru-RU" sz="1200" dirty="0"/>
              <a:t>Пар за эту неделю</a:t>
            </a:r>
          </a:p>
        </p:txBody>
      </p:sp>
      <p:sp>
        <p:nvSpPr>
          <p:cNvPr id="65" name="TextBox 64">
            <a:extLst>
              <a:ext uri="{FF2B5EF4-FFF2-40B4-BE49-F238E27FC236}">
                <a16:creationId xmlns:a16="http://schemas.microsoft.com/office/drawing/2014/main" id="{6893CB1F-64BB-3A09-C33D-6084D5289167}"/>
              </a:ext>
            </a:extLst>
          </p:cNvPr>
          <p:cNvSpPr txBox="1"/>
          <p:nvPr/>
        </p:nvSpPr>
        <p:spPr>
          <a:xfrm>
            <a:off x="8423663" y="2198517"/>
            <a:ext cx="759823" cy="184666"/>
          </a:xfrm>
          <a:prstGeom prst="rect">
            <a:avLst/>
          </a:prstGeom>
          <a:noFill/>
        </p:spPr>
        <p:txBody>
          <a:bodyPr wrap="none" lIns="0" tIns="0" rIns="0" bIns="0" rtlCol="0">
            <a:spAutoFit/>
          </a:bodyPr>
          <a:lstStyle/>
          <a:p>
            <a:r>
              <a:rPr lang="ru-RU" sz="1200" dirty="0"/>
              <a:t>% «+» и «у»</a:t>
            </a:r>
          </a:p>
        </p:txBody>
      </p:sp>
      <p:sp>
        <p:nvSpPr>
          <p:cNvPr id="66" name="TextBox 65">
            <a:extLst>
              <a:ext uri="{FF2B5EF4-FFF2-40B4-BE49-F238E27FC236}">
                <a16:creationId xmlns:a16="http://schemas.microsoft.com/office/drawing/2014/main" id="{BDB1E35D-0D1C-8A10-E281-EE08EF27C7A8}"/>
              </a:ext>
            </a:extLst>
          </p:cNvPr>
          <p:cNvSpPr txBox="1"/>
          <p:nvPr/>
        </p:nvSpPr>
        <p:spPr>
          <a:xfrm>
            <a:off x="5069913" y="2655294"/>
            <a:ext cx="161904" cy="184666"/>
          </a:xfrm>
          <a:prstGeom prst="rect">
            <a:avLst/>
          </a:prstGeom>
          <a:noFill/>
        </p:spPr>
        <p:txBody>
          <a:bodyPr wrap="none" lIns="0" tIns="0" rIns="0" bIns="0" rtlCol="0">
            <a:spAutoFit/>
          </a:bodyPr>
          <a:lstStyle/>
          <a:p>
            <a:pPr algn="ctr"/>
            <a:r>
              <a:rPr lang="ru-RU" sz="1200" dirty="0" err="1"/>
              <a:t>пн</a:t>
            </a:r>
            <a:endParaRPr lang="ru-RU" sz="1200" dirty="0"/>
          </a:p>
        </p:txBody>
      </p:sp>
      <p:sp>
        <p:nvSpPr>
          <p:cNvPr id="67" name="TextBox 66">
            <a:extLst>
              <a:ext uri="{FF2B5EF4-FFF2-40B4-BE49-F238E27FC236}">
                <a16:creationId xmlns:a16="http://schemas.microsoft.com/office/drawing/2014/main" id="{50C8FA2B-3E07-1417-7C31-C67A1F37E7D3}"/>
              </a:ext>
            </a:extLst>
          </p:cNvPr>
          <p:cNvSpPr txBox="1"/>
          <p:nvPr/>
        </p:nvSpPr>
        <p:spPr>
          <a:xfrm>
            <a:off x="6421135" y="2655294"/>
            <a:ext cx="133050" cy="184666"/>
          </a:xfrm>
          <a:prstGeom prst="rect">
            <a:avLst/>
          </a:prstGeom>
          <a:noFill/>
        </p:spPr>
        <p:txBody>
          <a:bodyPr wrap="none" lIns="0" tIns="0" rIns="0" bIns="0" rtlCol="0">
            <a:spAutoFit/>
          </a:bodyPr>
          <a:lstStyle/>
          <a:p>
            <a:pPr algn="ctr"/>
            <a:r>
              <a:rPr lang="ru-RU" sz="1200" dirty="0"/>
              <a:t>вт</a:t>
            </a:r>
          </a:p>
        </p:txBody>
      </p:sp>
      <p:sp>
        <p:nvSpPr>
          <p:cNvPr id="69" name="TextBox 68">
            <a:extLst>
              <a:ext uri="{FF2B5EF4-FFF2-40B4-BE49-F238E27FC236}">
                <a16:creationId xmlns:a16="http://schemas.microsoft.com/office/drawing/2014/main" id="{40E1BFD2-6933-1138-96B7-F88DFF16E5E5}"/>
              </a:ext>
            </a:extLst>
          </p:cNvPr>
          <p:cNvSpPr txBox="1"/>
          <p:nvPr/>
        </p:nvSpPr>
        <p:spPr>
          <a:xfrm>
            <a:off x="7743503" y="2655294"/>
            <a:ext cx="145874" cy="184666"/>
          </a:xfrm>
          <a:prstGeom prst="rect">
            <a:avLst/>
          </a:prstGeom>
          <a:noFill/>
        </p:spPr>
        <p:txBody>
          <a:bodyPr wrap="none" lIns="0" tIns="0" rIns="0" bIns="0" rtlCol="0">
            <a:spAutoFit/>
          </a:bodyPr>
          <a:lstStyle/>
          <a:p>
            <a:pPr algn="ctr"/>
            <a:r>
              <a:rPr lang="ru-RU" sz="1200" dirty="0"/>
              <a:t>ср</a:t>
            </a:r>
          </a:p>
        </p:txBody>
      </p:sp>
      <p:sp>
        <p:nvSpPr>
          <p:cNvPr id="70" name="TextBox 69">
            <a:extLst>
              <a:ext uri="{FF2B5EF4-FFF2-40B4-BE49-F238E27FC236}">
                <a16:creationId xmlns:a16="http://schemas.microsoft.com/office/drawing/2014/main" id="{389B6B69-1517-99A9-79CC-88B91099ED0E}"/>
              </a:ext>
            </a:extLst>
          </p:cNvPr>
          <p:cNvSpPr txBox="1"/>
          <p:nvPr/>
        </p:nvSpPr>
        <p:spPr>
          <a:xfrm>
            <a:off x="9078695" y="2655294"/>
            <a:ext cx="131446" cy="184666"/>
          </a:xfrm>
          <a:prstGeom prst="rect">
            <a:avLst/>
          </a:prstGeom>
          <a:noFill/>
        </p:spPr>
        <p:txBody>
          <a:bodyPr wrap="none" lIns="0" tIns="0" rIns="0" bIns="0" rtlCol="0">
            <a:spAutoFit/>
          </a:bodyPr>
          <a:lstStyle/>
          <a:p>
            <a:pPr algn="ctr"/>
            <a:r>
              <a:rPr lang="ru-RU" sz="1200" dirty="0" err="1"/>
              <a:t>чт</a:t>
            </a:r>
            <a:endParaRPr lang="ru-RU" sz="1200" dirty="0"/>
          </a:p>
        </p:txBody>
      </p:sp>
      <p:sp>
        <p:nvSpPr>
          <p:cNvPr id="71" name="TextBox 70">
            <a:extLst>
              <a:ext uri="{FF2B5EF4-FFF2-40B4-BE49-F238E27FC236}">
                <a16:creationId xmlns:a16="http://schemas.microsoft.com/office/drawing/2014/main" id="{E707D3D1-DFB3-0DAC-4648-E7AEFFBECDF2}"/>
              </a:ext>
            </a:extLst>
          </p:cNvPr>
          <p:cNvSpPr txBox="1"/>
          <p:nvPr/>
        </p:nvSpPr>
        <p:spPr>
          <a:xfrm>
            <a:off x="10399459" y="2655294"/>
            <a:ext cx="139462" cy="184666"/>
          </a:xfrm>
          <a:prstGeom prst="rect">
            <a:avLst/>
          </a:prstGeom>
          <a:noFill/>
        </p:spPr>
        <p:txBody>
          <a:bodyPr wrap="none" lIns="0" tIns="0" rIns="0" bIns="0" rtlCol="0">
            <a:spAutoFit/>
          </a:bodyPr>
          <a:lstStyle/>
          <a:p>
            <a:pPr algn="ctr"/>
            <a:r>
              <a:rPr lang="ru-RU" sz="1200" dirty="0" err="1"/>
              <a:t>пт</a:t>
            </a:r>
            <a:endParaRPr lang="ru-RU" sz="1200" dirty="0"/>
          </a:p>
        </p:txBody>
      </p:sp>
      <p:sp>
        <p:nvSpPr>
          <p:cNvPr id="72" name="TextBox 71">
            <a:extLst>
              <a:ext uri="{FF2B5EF4-FFF2-40B4-BE49-F238E27FC236}">
                <a16:creationId xmlns:a16="http://schemas.microsoft.com/office/drawing/2014/main" id="{6B7F03A6-0D24-4614-EB28-F156CB72D140}"/>
              </a:ext>
            </a:extLst>
          </p:cNvPr>
          <p:cNvSpPr txBox="1"/>
          <p:nvPr/>
        </p:nvSpPr>
        <p:spPr>
          <a:xfrm>
            <a:off x="11728239" y="2655294"/>
            <a:ext cx="147476" cy="184666"/>
          </a:xfrm>
          <a:prstGeom prst="rect">
            <a:avLst/>
          </a:prstGeom>
          <a:noFill/>
        </p:spPr>
        <p:txBody>
          <a:bodyPr wrap="none" lIns="0" tIns="0" rIns="0" bIns="0" rtlCol="0">
            <a:spAutoFit/>
          </a:bodyPr>
          <a:lstStyle/>
          <a:p>
            <a:pPr algn="ctr"/>
            <a:r>
              <a:rPr lang="ru-RU" sz="1200" dirty="0"/>
              <a:t>сб</a:t>
            </a:r>
          </a:p>
        </p:txBody>
      </p:sp>
      <p:sp>
        <p:nvSpPr>
          <p:cNvPr id="73" name="TextBox 72">
            <a:extLst>
              <a:ext uri="{FF2B5EF4-FFF2-40B4-BE49-F238E27FC236}">
                <a16:creationId xmlns:a16="http://schemas.microsoft.com/office/drawing/2014/main" id="{6C64F1D4-6028-6FCE-8A78-0E53E7E5B49B}"/>
              </a:ext>
            </a:extLst>
          </p:cNvPr>
          <p:cNvSpPr txBox="1"/>
          <p:nvPr/>
        </p:nvSpPr>
        <p:spPr>
          <a:xfrm rot="16200000">
            <a:off x="4794191" y="3105291"/>
            <a:ext cx="577594" cy="184666"/>
          </a:xfrm>
          <a:prstGeom prst="rect">
            <a:avLst/>
          </a:prstGeom>
          <a:noFill/>
        </p:spPr>
        <p:txBody>
          <a:bodyPr wrap="none" lIns="0" tIns="0" rIns="0" bIns="0" rtlCol="0">
            <a:spAutoFit/>
          </a:bodyPr>
          <a:lstStyle/>
          <a:p>
            <a:r>
              <a:rPr lang="ru-RU" sz="1200" dirty="0"/>
              <a:t>Предмет</a:t>
            </a:r>
          </a:p>
        </p:txBody>
      </p:sp>
      <p:sp>
        <p:nvSpPr>
          <p:cNvPr id="74" name="TextBox 73">
            <a:extLst>
              <a:ext uri="{FF2B5EF4-FFF2-40B4-BE49-F238E27FC236}">
                <a16:creationId xmlns:a16="http://schemas.microsoft.com/office/drawing/2014/main" id="{5D66E12C-1F03-63C4-2CDC-62650FF2F222}"/>
              </a:ext>
            </a:extLst>
          </p:cNvPr>
          <p:cNvSpPr txBox="1"/>
          <p:nvPr/>
        </p:nvSpPr>
        <p:spPr>
          <a:xfrm rot="16200000">
            <a:off x="5032985" y="3105291"/>
            <a:ext cx="577594" cy="184666"/>
          </a:xfrm>
          <a:prstGeom prst="rect">
            <a:avLst/>
          </a:prstGeom>
          <a:noFill/>
        </p:spPr>
        <p:txBody>
          <a:bodyPr wrap="none" lIns="0" tIns="0" rIns="0" bIns="0" rtlCol="0">
            <a:spAutoFit/>
          </a:bodyPr>
          <a:lstStyle/>
          <a:p>
            <a:r>
              <a:rPr lang="ru-RU" sz="1200" dirty="0"/>
              <a:t>Предмет</a:t>
            </a:r>
          </a:p>
        </p:txBody>
      </p:sp>
      <p:sp>
        <p:nvSpPr>
          <p:cNvPr id="75" name="TextBox 74">
            <a:extLst>
              <a:ext uri="{FF2B5EF4-FFF2-40B4-BE49-F238E27FC236}">
                <a16:creationId xmlns:a16="http://schemas.microsoft.com/office/drawing/2014/main" id="{05328E2C-533D-12DD-C8E3-96C87AE8A392}"/>
              </a:ext>
            </a:extLst>
          </p:cNvPr>
          <p:cNvSpPr txBox="1"/>
          <p:nvPr/>
        </p:nvSpPr>
        <p:spPr>
          <a:xfrm rot="16200000">
            <a:off x="5230242" y="3105291"/>
            <a:ext cx="577594" cy="184666"/>
          </a:xfrm>
          <a:prstGeom prst="rect">
            <a:avLst/>
          </a:prstGeom>
          <a:noFill/>
        </p:spPr>
        <p:txBody>
          <a:bodyPr wrap="none" lIns="0" tIns="0" rIns="0" bIns="0" rtlCol="0">
            <a:spAutoFit/>
          </a:bodyPr>
          <a:lstStyle/>
          <a:p>
            <a:r>
              <a:rPr lang="ru-RU" sz="1200" dirty="0"/>
              <a:t>Предмет</a:t>
            </a:r>
          </a:p>
        </p:txBody>
      </p:sp>
      <p:sp>
        <p:nvSpPr>
          <p:cNvPr id="76" name="TextBox 75">
            <a:extLst>
              <a:ext uri="{FF2B5EF4-FFF2-40B4-BE49-F238E27FC236}">
                <a16:creationId xmlns:a16="http://schemas.microsoft.com/office/drawing/2014/main" id="{0626664C-C3D3-B46A-EB16-56B8A950929E}"/>
              </a:ext>
            </a:extLst>
          </p:cNvPr>
          <p:cNvSpPr txBox="1"/>
          <p:nvPr/>
        </p:nvSpPr>
        <p:spPr>
          <a:xfrm rot="16200000">
            <a:off x="5987055" y="3105291"/>
            <a:ext cx="577594" cy="184666"/>
          </a:xfrm>
          <a:prstGeom prst="rect">
            <a:avLst/>
          </a:prstGeom>
          <a:noFill/>
        </p:spPr>
        <p:txBody>
          <a:bodyPr wrap="none" lIns="0" tIns="0" rIns="0" bIns="0" rtlCol="0">
            <a:spAutoFit/>
          </a:bodyPr>
          <a:lstStyle/>
          <a:p>
            <a:r>
              <a:rPr lang="ru-RU" sz="1200" dirty="0"/>
              <a:t>Предмет</a:t>
            </a:r>
          </a:p>
        </p:txBody>
      </p:sp>
      <p:sp>
        <p:nvSpPr>
          <p:cNvPr id="77" name="TextBox 76">
            <a:extLst>
              <a:ext uri="{FF2B5EF4-FFF2-40B4-BE49-F238E27FC236}">
                <a16:creationId xmlns:a16="http://schemas.microsoft.com/office/drawing/2014/main" id="{CAD4B28E-5C9C-79F5-6917-163E54795E03}"/>
              </a:ext>
            </a:extLst>
          </p:cNvPr>
          <p:cNvSpPr txBox="1"/>
          <p:nvPr/>
        </p:nvSpPr>
        <p:spPr>
          <a:xfrm rot="16200000">
            <a:off x="6224671" y="3105291"/>
            <a:ext cx="577594" cy="184666"/>
          </a:xfrm>
          <a:prstGeom prst="rect">
            <a:avLst/>
          </a:prstGeom>
          <a:noFill/>
        </p:spPr>
        <p:txBody>
          <a:bodyPr wrap="none" lIns="0" tIns="0" rIns="0" bIns="0" rtlCol="0">
            <a:spAutoFit/>
          </a:bodyPr>
          <a:lstStyle/>
          <a:p>
            <a:r>
              <a:rPr lang="ru-RU" sz="1200" dirty="0"/>
              <a:t>Предмет</a:t>
            </a:r>
          </a:p>
        </p:txBody>
      </p:sp>
      <p:sp>
        <p:nvSpPr>
          <p:cNvPr id="78" name="TextBox 77">
            <a:extLst>
              <a:ext uri="{FF2B5EF4-FFF2-40B4-BE49-F238E27FC236}">
                <a16:creationId xmlns:a16="http://schemas.microsoft.com/office/drawing/2014/main" id="{AC656F71-7B0C-0A58-D63E-F64F6C5EF099}"/>
              </a:ext>
            </a:extLst>
          </p:cNvPr>
          <p:cNvSpPr txBox="1"/>
          <p:nvPr/>
        </p:nvSpPr>
        <p:spPr>
          <a:xfrm rot="16200000">
            <a:off x="6438817" y="3105291"/>
            <a:ext cx="577594" cy="184666"/>
          </a:xfrm>
          <a:prstGeom prst="rect">
            <a:avLst/>
          </a:prstGeom>
          <a:noFill/>
        </p:spPr>
        <p:txBody>
          <a:bodyPr wrap="none" lIns="0" tIns="0" rIns="0" bIns="0" rtlCol="0">
            <a:spAutoFit/>
          </a:bodyPr>
          <a:lstStyle/>
          <a:p>
            <a:r>
              <a:rPr lang="ru-RU" sz="1200" dirty="0"/>
              <a:t>Предмет</a:t>
            </a:r>
          </a:p>
        </p:txBody>
      </p:sp>
      <p:sp>
        <p:nvSpPr>
          <p:cNvPr id="79" name="TextBox 78">
            <a:extLst>
              <a:ext uri="{FF2B5EF4-FFF2-40B4-BE49-F238E27FC236}">
                <a16:creationId xmlns:a16="http://schemas.microsoft.com/office/drawing/2014/main" id="{3D934D8D-14AD-5A2C-D75A-0E6525507610}"/>
              </a:ext>
            </a:extLst>
          </p:cNvPr>
          <p:cNvSpPr txBox="1"/>
          <p:nvPr/>
        </p:nvSpPr>
        <p:spPr>
          <a:xfrm rot="16200000">
            <a:off x="7246527" y="3105291"/>
            <a:ext cx="577594" cy="184666"/>
          </a:xfrm>
          <a:prstGeom prst="rect">
            <a:avLst/>
          </a:prstGeom>
          <a:noFill/>
        </p:spPr>
        <p:txBody>
          <a:bodyPr wrap="none" lIns="0" tIns="0" rIns="0" bIns="0" rtlCol="0">
            <a:spAutoFit/>
          </a:bodyPr>
          <a:lstStyle/>
          <a:p>
            <a:r>
              <a:rPr lang="ru-RU" sz="1200" dirty="0"/>
              <a:t>Предмет</a:t>
            </a:r>
          </a:p>
        </p:txBody>
      </p:sp>
      <p:sp>
        <p:nvSpPr>
          <p:cNvPr id="80" name="TextBox 79">
            <a:extLst>
              <a:ext uri="{FF2B5EF4-FFF2-40B4-BE49-F238E27FC236}">
                <a16:creationId xmlns:a16="http://schemas.microsoft.com/office/drawing/2014/main" id="{56F92A65-2290-6EB2-3BBA-9FBDC2A6FD34}"/>
              </a:ext>
            </a:extLst>
          </p:cNvPr>
          <p:cNvSpPr txBox="1"/>
          <p:nvPr/>
        </p:nvSpPr>
        <p:spPr>
          <a:xfrm rot="16200000">
            <a:off x="7454905" y="3105291"/>
            <a:ext cx="577594" cy="184666"/>
          </a:xfrm>
          <a:prstGeom prst="rect">
            <a:avLst/>
          </a:prstGeom>
          <a:noFill/>
        </p:spPr>
        <p:txBody>
          <a:bodyPr wrap="none" lIns="0" tIns="0" rIns="0" bIns="0" rtlCol="0">
            <a:spAutoFit/>
          </a:bodyPr>
          <a:lstStyle/>
          <a:p>
            <a:r>
              <a:rPr lang="ru-RU" sz="1200" dirty="0"/>
              <a:t>Предмет</a:t>
            </a:r>
          </a:p>
        </p:txBody>
      </p:sp>
      <p:sp>
        <p:nvSpPr>
          <p:cNvPr id="81" name="TextBox 80">
            <a:extLst>
              <a:ext uri="{FF2B5EF4-FFF2-40B4-BE49-F238E27FC236}">
                <a16:creationId xmlns:a16="http://schemas.microsoft.com/office/drawing/2014/main" id="{7B06D28D-60F8-04B8-D013-F22E6025DA02}"/>
              </a:ext>
            </a:extLst>
          </p:cNvPr>
          <p:cNvSpPr txBox="1"/>
          <p:nvPr/>
        </p:nvSpPr>
        <p:spPr>
          <a:xfrm rot="16200000">
            <a:off x="7651791" y="3105291"/>
            <a:ext cx="577594" cy="184666"/>
          </a:xfrm>
          <a:prstGeom prst="rect">
            <a:avLst/>
          </a:prstGeom>
          <a:noFill/>
        </p:spPr>
        <p:txBody>
          <a:bodyPr wrap="none" lIns="0" tIns="0" rIns="0" bIns="0" rtlCol="0">
            <a:spAutoFit/>
          </a:bodyPr>
          <a:lstStyle/>
          <a:p>
            <a:r>
              <a:rPr lang="ru-RU" sz="1200" dirty="0"/>
              <a:t>Предмет</a:t>
            </a:r>
          </a:p>
        </p:txBody>
      </p:sp>
      <p:sp>
        <p:nvSpPr>
          <p:cNvPr id="82" name="TextBox 81">
            <a:extLst>
              <a:ext uri="{FF2B5EF4-FFF2-40B4-BE49-F238E27FC236}">
                <a16:creationId xmlns:a16="http://schemas.microsoft.com/office/drawing/2014/main" id="{56C4C54F-69E3-D737-54DE-2A741B81713A}"/>
              </a:ext>
            </a:extLst>
          </p:cNvPr>
          <p:cNvSpPr txBox="1"/>
          <p:nvPr/>
        </p:nvSpPr>
        <p:spPr>
          <a:xfrm rot="16200000">
            <a:off x="7840888" y="3105291"/>
            <a:ext cx="577594" cy="184666"/>
          </a:xfrm>
          <a:prstGeom prst="rect">
            <a:avLst/>
          </a:prstGeom>
          <a:noFill/>
        </p:spPr>
        <p:txBody>
          <a:bodyPr wrap="none" lIns="0" tIns="0" rIns="0" bIns="0" rtlCol="0">
            <a:spAutoFit/>
          </a:bodyPr>
          <a:lstStyle/>
          <a:p>
            <a:r>
              <a:rPr lang="ru-RU" sz="1200" dirty="0"/>
              <a:t>Предмет</a:t>
            </a:r>
          </a:p>
        </p:txBody>
      </p:sp>
      <p:sp>
        <p:nvSpPr>
          <p:cNvPr id="83" name="TextBox 82">
            <a:extLst>
              <a:ext uri="{FF2B5EF4-FFF2-40B4-BE49-F238E27FC236}">
                <a16:creationId xmlns:a16="http://schemas.microsoft.com/office/drawing/2014/main" id="{288355AC-9769-5933-C43F-009C5695AEB4}"/>
              </a:ext>
            </a:extLst>
          </p:cNvPr>
          <p:cNvSpPr txBox="1"/>
          <p:nvPr/>
        </p:nvSpPr>
        <p:spPr>
          <a:xfrm rot="16200000">
            <a:off x="8855621" y="3105291"/>
            <a:ext cx="577594" cy="184666"/>
          </a:xfrm>
          <a:prstGeom prst="rect">
            <a:avLst/>
          </a:prstGeom>
          <a:noFill/>
        </p:spPr>
        <p:txBody>
          <a:bodyPr wrap="none" lIns="0" tIns="0" rIns="0" bIns="0" rtlCol="0">
            <a:spAutoFit/>
          </a:bodyPr>
          <a:lstStyle/>
          <a:p>
            <a:r>
              <a:rPr lang="ru-RU" sz="1200" dirty="0"/>
              <a:t>Предмет</a:t>
            </a:r>
          </a:p>
        </p:txBody>
      </p:sp>
      <p:sp>
        <p:nvSpPr>
          <p:cNvPr id="84" name="TextBox 83">
            <a:extLst>
              <a:ext uri="{FF2B5EF4-FFF2-40B4-BE49-F238E27FC236}">
                <a16:creationId xmlns:a16="http://schemas.microsoft.com/office/drawing/2014/main" id="{84DDD487-539C-90B7-666E-593A9964D9BF}"/>
              </a:ext>
            </a:extLst>
          </p:cNvPr>
          <p:cNvSpPr txBox="1"/>
          <p:nvPr/>
        </p:nvSpPr>
        <p:spPr>
          <a:xfrm rot="16200000">
            <a:off x="10088060" y="3105291"/>
            <a:ext cx="577594" cy="184666"/>
          </a:xfrm>
          <a:prstGeom prst="rect">
            <a:avLst/>
          </a:prstGeom>
          <a:noFill/>
        </p:spPr>
        <p:txBody>
          <a:bodyPr wrap="none" lIns="0" tIns="0" rIns="0" bIns="0" rtlCol="0">
            <a:spAutoFit/>
          </a:bodyPr>
          <a:lstStyle/>
          <a:p>
            <a:r>
              <a:rPr lang="ru-RU" sz="1200" dirty="0"/>
              <a:t>Предмет</a:t>
            </a:r>
          </a:p>
        </p:txBody>
      </p:sp>
      <p:sp>
        <p:nvSpPr>
          <p:cNvPr id="85" name="TextBox 84">
            <a:extLst>
              <a:ext uri="{FF2B5EF4-FFF2-40B4-BE49-F238E27FC236}">
                <a16:creationId xmlns:a16="http://schemas.microsoft.com/office/drawing/2014/main" id="{6BFA3FF8-1530-BA64-52D0-029575848D77}"/>
              </a:ext>
            </a:extLst>
          </p:cNvPr>
          <p:cNvSpPr txBox="1"/>
          <p:nvPr/>
        </p:nvSpPr>
        <p:spPr>
          <a:xfrm rot="16200000">
            <a:off x="10327705" y="3105291"/>
            <a:ext cx="577594" cy="184666"/>
          </a:xfrm>
          <a:prstGeom prst="rect">
            <a:avLst/>
          </a:prstGeom>
          <a:noFill/>
        </p:spPr>
        <p:txBody>
          <a:bodyPr wrap="none" lIns="0" tIns="0" rIns="0" bIns="0" rtlCol="0">
            <a:spAutoFit/>
          </a:bodyPr>
          <a:lstStyle/>
          <a:p>
            <a:r>
              <a:rPr lang="ru-RU" sz="1200" dirty="0"/>
              <a:t>Предмет</a:t>
            </a:r>
          </a:p>
        </p:txBody>
      </p:sp>
      <p:sp>
        <p:nvSpPr>
          <p:cNvPr id="86" name="TextBox 85">
            <a:extLst>
              <a:ext uri="{FF2B5EF4-FFF2-40B4-BE49-F238E27FC236}">
                <a16:creationId xmlns:a16="http://schemas.microsoft.com/office/drawing/2014/main" id="{C0D004A3-D83E-8555-12B7-44687EA6825B}"/>
              </a:ext>
            </a:extLst>
          </p:cNvPr>
          <p:cNvSpPr txBox="1"/>
          <p:nvPr/>
        </p:nvSpPr>
        <p:spPr>
          <a:xfrm>
            <a:off x="5044516" y="3523868"/>
            <a:ext cx="76944" cy="184666"/>
          </a:xfrm>
          <a:prstGeom prst="rect">
            <a:avLst/>
          </a:prstGeom>
          <a:noFill/>
        </p:spPr>
        <p:txBody>
          <a:bodyPr wrap="none" lIns="0" tIns="0" rIns="0" bIns="0" rtlCol="0">
            <a:spAutoFit/>
          </a:bodyPr>
          <a:lstStyle/>
          <a:p>
            <a:r>
              <a:rPr lang="ru-RU" sz="1200" dirty="0"/>
              <a:t>+</a:t>
            </a:r>
          </a:p>
        </p:txBody>
      </p:sp>
      <p:sp>
        <p:nvSpPr>
          <p:cNvPr id="87" name="TextBox 86">
            <a:extLst>
              <a:ext uri="{FF2B5EF4-FFF2-40B4-BE49-F238E27FC236}">
                <a16:creationId xmlns:a16="http://schemas.microsoft.com/office/drawing/2014/main" id="{406AFA91-45F8-A66E-A558-AC07A47457E3}"/>
              </a:ext>
            </a:extLst>
          </p:cNvPr>
          <p:cNvSpPr txBox="1"/>
          <p:nvPr/>
        </p:nvSpPr>
        <p:spPr>
          <a:xfrm>
            <a:off x="5283310" y="3523868"/>
            <a:ext cx="76944" cy="184666"/>
          </a:xfrm>
          <a:prstGeom prst="rect">
            <a:avLst/>
          </a:prstGeom>
          <a:noFill/>
        </p:spPr>
        <p:txBody>
          <a:bodyPr wrap="square" lIns="0" tIns="0" rIns="0" bIns="0" rtlCol="0">
            <a:spAutoFit/>
          </a:bodyPr>
          <a:lstStyle/>
          <a:p>
            <a:r>
              <a:rPr lang="ru-RU" sz="1200" dirty="0"/>
              <a:t>н</a:t>
            </a:r>
          </a:p>
        </p:txBody>
      </p:sp>
      <p:sp>
        <p:nvSpPr>
          <p:cNvPr id="88" name="TextBox 87">
            <a:extLst>
              <a:ext uri="{FF2B5EF4-FFF2-40B4-BE49-F238E27FC236}">
                <a16:creationId xmlns:a16="http://schemas.microsoft.com/office/drawing/2014/main" id="{D4B23A2A-1A4A-B3E7-F4FF-DF02DDF81F79}"/>
              </a:ext>
            </a:extLst>
          </p:cNvPr>
          <p:cNvSpPr txBox="1"/>
          <p:nvPr/>
        </p:nvSpPr>
        <p:spPr>
          <a:xfrm>
            <a:off x="5467460" y="3523868"/>
            <a:ext cx="76944" cy="184666"/>
          </a:xfrm>
          <a:prstGeom prst="rect">
            <a:avLst/>
          </a:prstGeom>
          <a:noFill/>
        </p:spPr>
        <p:txBody>
          <a:bodyPr wrap="square" lIns="0" tIns="0" rIns="0" bIns="0" rtlCol="0">
            <a:spAutoFit/>
          </a:bodyPr>
          <a:lstStyle/>
          <a:p>
            <a:r>
              <a:rPr lang="ru-RU" sz="1200" dirty="0"/>
              <a:t>у</a:t>
            </a:r>
          </a:p>
        </p:txBody>
      </p:sp>
      <p:sp>
        <p:nvSpPr>
          <p:cNvPr id="89" name="TextBox 88">
            <a:extLst>
              <a:ext uri="{FF2B5EF4-FFF2-40B4-BE49-F238E27FC236}">
                <a16:creationId xmlns:a16="http://schemas.microsoft.com/office/drawing/2014/main" id="{6E67C995-A6C1-EAA8-E50C-079A6D020F2D}"/>
              </a:ext>
            </a:extLst>
          </p:cNvPr>
          <p:cNvSpPr txBox="1"/>
          <p:nvPr/>
        </p:nvSpPr>
        <p:spPr>
          <a:xfrm>
            <a:off x="191164" y="2143629"/>
            <a:ext cx="4376544" cy="507831"/>
          </a:xfrm>
          <a:prstGeom prst="rect">
            <a:avLst/>
          </a:prstGeom>
          <a:noFill/>
        </p:spPr>
        <p:txBody>
          <a:bodyPr wrap="square" lIns="0" tIns="0" rIns="0" bIns="0" rtlCol="0">
            <a:spAutoFit/>
          </a:bodyPr>
          <a:lstStyle/>
          <a:p>
            <a:r>
              <a:rPr lang="ru-RU" sz="1100" dirty="0"/>
              <a:t>3 – при наведении на «У» должна отображаться причина и комментарий уважительной причины отсутствия (как всплывающее окно текста просто) так же аналогичное должно быть если пара отменена</a:t>
            </a:r>
          </a:p>
        </p:txBody>
      </p:sp>
      <p:sp>
        <p:nvSpPr>
          <p:cNvPr id="90" name="TextBox 89">
            <a:extLst>
              <a:ext uri="{FF2B5EF4-FFF2-40B4-BE49-F238E27FC236}">
                <a16:creationId xmlns:a16="http://schemas.microsoft.com/office/drawing/2014/main" id="{9C078BD8-0D2C-F994-3963-7A75929A088B}"/>
              </a:ext>
            </a:extLst>
          </p:cNvPr>
          <p:cNvSpPr txBox="1"/>
          <p:nvPr/>
        </p:nvSpPr>
        <p:spPr>
          <a:xfrm>
            <a:off x="6253826" y="3523868"/>
            <a:ext cx="76944" cy="184666"/>
          </a:xfrm>
          <a:prstGeom prst="rect">
            <a:avLst/>
          </a:prstGeom>
          <a:noFill/>
        </p:spPr>
        <p:txBody>
          <a:bodyPr wrap="none" lIns="0" tIns="0" rIns="0" bIns="0" rtlCol="0">
            <a:spAutoFit/>
          </a:bodyPr>
          <a:lstStyle/>
          <a:p>
            <a:r>
              <a:rPr lang="ru-RU" sz="1200" dirty="0"/>
              <a:t>+</a:t>
            </a:r>
          </a:p>
        </p:txBody>
      </p:sp>
      <p:sp>
        <p:nvSpPr>
          <p:cNvPr id="91" name="TextBox 90">
            <a:extLst>
              <a:ext uri="{FF2B5EF4-FFF2-40B4-BE49-F238E27FC236}">
                <a16:creationId xmlns:a16="http://schemas.microsoft.com/office/drawing/2014/main" id="{6E6D5E9D-AF5B-9A68-61D4-DE98CF6B2B49}"/>
              </a:ext>
            </a:extLst>
          </p:cNvPr>
          <p:cNvSpPr txBox="1"/>
          <p:nvPr/>
        </p:nvSpPr>
        <p:spPr>
          <a:xfrm>
            <a:off x="6492620" y="3523868"/>
            <a:ext cx="76944" cy="184666"/>
          </a:xfrm>
          <a:prstGeom prst="rect">
            <a:avLst/>
          </a:prstGeom>
          <a:noFill/>
        </p:spPr>
        <p:txBody>
          <a:bodyPr wrap="square" lIns="0" tIns="0" rIns="0" bIns="0" rtlCol="0">
            <a:spAutoFit/>
          </a:bodyPr>
          <a:lstStyle/>
          <a:p>
            <a:r>
              <a:rPr lang="ru-RU" sz="1200" dirty="0"/>
              <a:t>н</a:t>
            </a:r>
          </a:p>
        </p:txBody>
      </p:sp>
      <p:sp>
        <p:nvSpPr>
          <p:cNvPr id="92" name="TextBox 91">
            <a:extLst>
              <a:ext uri="{FF2B5EF4-FFF2-40B4-BE49-F238E27FC236}">
                <a16:creationId xmlns:a16="http://schemas.microsoft.com/office/drawing/2014/main" id="{DC32626D-4AAB-967D-1130-5B63666CCFD7}"/>
              </a:ext>
            </a:extLst>
          </p:cNvPr>
          <p:cNvSpPr txBox="1"/>
          <p:nvPr/>
        </p:nvSpPr>
        <p:spPr>
          <a:xfrm>
            <a:off x="6676770" y="3523868"/>
            <a:ext cx="76944" cy="184666"/>
          </a:xfrm>
          <a:prstGeom prst="rect">
            <a:avLst/>
          </a:prstGeom>
          <a:noFill/>
        </p:spPr>
        <p:txBody>
          <a:bodyPr wrap="square" lIns="0" tIns="0" rIns="0" bIns="0" rtlCol="0">
            <a:spAutoFit/>
          </a:bodyPr>
          <a:lstStyle/>
          <a:p>
            <a:r>
              <a:rPr lang="ru-RU" sz="1200" dirty="0"/>
              <a:t>у</a:t>
            </a:r>
          </a:p>
        </p:txBody>
      </p:sp>
      <p:sp>
        <p:nvSpPr>
          <p:cNvPr id="93" name="TextBox 92">
            <a:extLst>
              <a:ext uri="{FF2B5EF4-FFF2-40B4-BE49-F238E27FC236}">
                <a16:creationId xmlns:a16="http://schemas.microsoft.com/office/drawing/2014/main" id="{AB7C5025-A24E-A507-92CE-B00A2BCF4EE2}"/>
              </a:ext>
            </a:extLst>
          </p:cNvPr>
          <p:cNvSpPr txBox="1"/>
          <p:nvPr/>
        </p:nvSpPr>
        <p:spPr>
          <a:xfrm>
            <a:off x="7533033" y="3523868"/>
            <a:ext cx="76944" cy="184666"/>
          </a:xfrm>
          <a:prstGeom prst="rect">
            <a:avLst/>
          </a:prstGeom>
          <a:noFill/>
        </p:spPr>
        <p:txBody>
          <a:bodyPr wrap="none" lIns="0" tIns="0" rIns="0" bIns="0" rtlCol="0">
            <a:spAutoFit/>
          </a:bodyPr>
          <a:lstStyle/>
          <a:p>
            <a:r>
              <a:rPr lang="ru-RU" sz="1200" dirty="0"/>
              <a:t>+</a:t>
            </a:r>
          </a:p>
        </p:txBody>
      </p:sp>
      <p:sp>
        <p:nvSpPr>
          <p:cNvPr id="94" name="TextBox 93">
            <a:extLst>
              <a:ext uri="{FF2B5EF4-FFF2-40B4-BE49-F238E27FC236}">
                <a16:creationId xmlns:a16="http://schemas.microsoft.com/office/drawing/2014/main" id="{FCBA69A8-0358-69FA-EBEE-7F6205AB1860}"/>
              </a:ext>
            </a:extLst>
          </p:cNvPr>
          <p:cNvSpPr txBox="1"/>
          <p:nvPr/>
        </p:nvSpPr>
        <p:spPr>
          <a:xfrm>
            <a:off x="7716890" y="3523868"/>
            <a:ext cx="76944" cy="184666"/>
          </a:xfrm>
          <a:prstGeom prst="rect">
            <a:avLst/>
          </a:prstGeom>
          <a:noFill/>
        </p:spPr>
        <p:txBody>
          <a:bodyPr wrap="square" lIns="0" tIns="0" rIns="0" bIns="0" rtlCol="0">
            <a:spAutoFit/>
          </a:bodyPr>
          <a:lstStyle/>
          <a:p>
            <a:r>
              <a:rPr lang="ru-RU" sz="1200" dirty="0"/>
              <a:t>н</a:t>
            </a:r>
          </a:p>
        </p:txBody>
      </p:sp>
      <p:sp>
        <p:nvSpPr>
          <p:cNvPr id="95" name="TextBox 94">
            <a:extLst>
              <a:ext uri="{FF2B5EF4-FFF2-40B4-BE49-F238E27FC236}">
                <a16:creationId xmlns:a16="http://schemas.microsoft.com/office/drawing/2014/main" id="{26DDB615-C538-2493-8F0A-1248065003CD}"/>
              </a:ext>
            </a:extLst>
          </p:cNvPr>
          <p:cNvSpPr txBox="1"/>
          <p:nvPr/>
        </p:nvSpPr>
        <p:spPr>
          <a:xfrm>
            <a:off x="7912055" y="3523868"/>
            <a:ext cx="76944" cy="184666"/>
          </a:xfrm>
          <a:prstGeom prst="rect">
            <a:avLst/>
          </a:prstGeom>
          <a:noFill/>
        </p:spPr>
        <p:txBody>
          <a:bodyPr wrap="square" lIns="0" tIns="0" rIns="0" bIns="0" rtlCol="0">
            <a:spAutoFit/>
          </a:bodyPr>
          <a:lstStyle/>
          <a:p>
            <a:r>
              <a:rPr lang="ru-RU" sz="1200" dirty="0"/>
              <a:t>у</a:t>
            </a:r>
          </a:p>
        </p:txBody>
      </p:sp>
      <p:sp>
        <p:nvSpPr>
          <p:cNvPr id="96" name="TextBox 95">
            <a:extLst>
              <a:ext uri="{FF2B5EF4-FFF2-40B4-BE49-F238E27FC236}">
                <a16:creationId xmlns:a16="http://schemas.microsoft.com/office/drawing/2014/main" id="{6C268EFA-8F81-1508-1AEB-802EADEF4035}"/>
              </a:ext>
            </a:extLst>
          </p:cNvPr>
          <p:cNvSpPr txBox="1"/>
          <p:nvPr/>
        </p:nvSpPr>
        <p:spPr>
          <a:xfrm>
            <a:off x="8106349" y="3523868"/>
            <a:ext cx="76944" cy="184666"/>
          </a:xfrm>
          <a:prstGeom prst="rect">
            <a:avLst/>
          </a:prstGeom>
          <a:noFill/>
        </p:spPr>
        <p:txBody>
          <a:bodyPr wrap="square" lIns="0" tIns="0" rIns="0" bIns="0" rtlCol="0">
            <a:spAutoFit/>
          </a:bodyPr>
          <a:lstStyle/>
          <a:p>
            <a:r>
              <a:rPr lang="ru-RU" sz="1200" dirty="0"/>
              <a:t>у</a:t>
            </a:r>
          </a:p>
        </p:txBody>
      </p:sp>
      <p:sp>
        <p:nvSpPr>
          <p:cNvPr id="97" name="TextBox 96">
            <a:extLst>
              <a:ext uri="{FF2B5EF4-FFF2-40B4-BE49-F238E27FC236}">
                <a16:creationId xmlns:a16="http://schemas.microsoft.com/office/drawing/2014/main" id="{127E29AB-9FA7-0E2F-3370-F803E9A40427}"/>
              </a:ext>
            </a:extLst>
          </p:cNvPr>
          <p:cNvSpPr txBox="1"/>
          <p:nvPr/>
        </p:nvSpPr>
        <p:spPr>
          <a:xfrm>
            <a:off x="10355981" y="3523868"/>
            <a:ext cx="76944" cy="184666"/>
          </a:xfrm>
          <a:prstGeom prst="rect">
            <a:avLst/>
          </a:prstGeom>
          <a:noFill/>
        </p:spPr>
        <p:txBody>
          <a:bodyPr wrap="square" lIns="0" tIns="0" rIns="0" bIns="0" rtlCol="0">
            <a:spAutoFit/>
          </a:bodyPr>
          <a:lstStyle/>
          <a:p>
            <a:r>
              <a:rPr lang="ru-RU" sz="1200" dirty="0"/>
              <a:t>у</a:t>
            </a:r>
          </a:p>
        </p:txBody>
      </p:sp>
      <p:sp>
        <p:nvSpPr>
          <p:cNvPr id="98" name="TextBox 97">
            <a:extLst>
              <a:ext uri="{FF2B5EF4-FFF2-40B4-BE49-F238E27FC236}">
                <a16:creationId xmlns:a16="http://schemas.microsoft.com/office/drawing/2014/main" id="{C80483E3-B1C9-B662-5D3E-0844EB9827A5}"/>
              </a:ext>
            </a:extLst>
          </p:cNvPr>
          <p:cNvSpPr txBox="1"/>
          <p:nvPr/>
        </p:nvSpPr>
        <p:spPr>
          <a:xfrm>
            <a:off x="10550275" y="3523868"/>
            <a:ext cx="76944" cy="184666"/>
          </a:xfrm>
          <a:prstGeom prst="rect">
            <a:avLst/>
          </a:prstGeom>
          <a:noFill/>
        </p:spPr>
        <p:txBody>
          <a:bodyPr wrap="square" lIns="0" tIns="0" rIns="0" bIns="0" rtlCol="0">
            <a:spAutoFit/>
          </a:bodyPr>
          <a:lstStyle/>
          <a:p>
            <a:r>
              <a:rPr lang="ru-RU" sz="1200" dirty="0"/>
              <a:t>у</a:t>
            </a:r>
          </a:p>
        </p:txBody>
      </p:sp>
      <p:sp>
        <p:nvSpPr>
          <p:cNvPr id="99" name="TextBox 98">
            <a:extLst>
              <a:ext uri="{FF2B5EF4-FFF2-40B4-BE49-F238E27FC236}">
                <a16:creationId xmlns:a16="http://schemas.microsoft.com/office/drawing/2014/main" id="{6853DB09-7262-1E14-FA3F-619A2DFFF304}"/>
              </a:ext>
            </a:extLst>
          </p:cNvPr>
          <p:cNvSpPr txBox="1"/>
          <p:nvPr/>
        </p:nvSpPr>
        <p:spPr>
          <a:xfrm>
            <a:off x="9115714" y="3523868"/>
            <a:ext cx="76944" cy="184666"/>
          </a:xfrm>
          <a:prstGeom prst="rect">
            <a:avLst/>
          </a:prstGeom>
          <a:noFill/>
        </p:spPr>
        <p:txBody>
          <a:bodyPr wrap="square" lIns="0" tIns="0" rIns="0" bIns="0" rtlCol="0">
            <a:spAutoFit/>
          </a:bodyPr>
          <a:lstStyle/>
          <a:p>
            <a:r>
              <a:rPr lang="ru-RU" sz="1200" dirty="0"/>
              <a:t>у</a:t>
            </a:r>
          </a:p>
        </p:txBody>
      </p:sp>
      <p:sp>
        <p:nvSpPr>
          <p:cNvPr id="100" name="TextBox 99">
            <a:extLst>
              <a:ext uri="{FF2B5EF4-FFF2-40B4-BE49-F238E27FC236}">
                <a16:creationId xmlns:a16="http://schemas.microsoft.com/office/drawing/2014/main" id="{4FEE8CDB-C60C-E05C-CF3A-AE294DBC033D}"/>
              </a:ext>
            </a:extLst>
          </p:cNvPr>
          <p:cNvSpPr txBox="1"/>
          <p:nvPr/>
        </p:nvSpPr>
        <p:spPr>
          <a:xfrm>
            <a:off x="191164" y="2714639"/>
            <a:ext cx="4376544" cy="677108"/>
          </a:xfrm>
          <a:prstGeom prst="rect">
            <a:avLst/>
          </a:prstGeom>
          <a:noFill/>
        </p:spPr>
        <p:txBody>
          <a:bodyPr wrap="square" lIns="0" tIns="0" rIns="0" bIns="0" rtlCol="0">
            <a:spAutoFit/>
          </a:bodyPr>
          <a:lstStyle/>
          <a:p>
            <a:r>
              <a:rPr lang="en-US" sz="1100" dirty="0"/>
              <a:t>4 – </a:t>
            </a:r>
            <a:r>
              <a:rPr lang="ru-RU" sz="1100" dirty="0"/>
              <a:t>там где предмет то там ещё будет в отдельной ячейке пояснение что за предмет какого он типа а так же должна быть дата над днём недели. Если в дне нет занятий – то </a:t>
            </a:r>
            <a:r>
              <a:rPr lang="ru-RU" sz="1100" dirty="0" err="1"/>
              <a:t>протосто</a:t>
            </a:r>
            <a:r>
              <a:rPr lang="ru-RU" sz="1100" dirty="0"/>
              <a:t> оно пустое но отображается с надписью «Нет пар»</a:t>
            </a:r>
          </a:p>
        </p:txBody>
      </p:sp>
      <p:sp>
        <p:nvSpPr>
          <p:cNvPr id="101" name="TextBox 100">
            <a:extLst>
              <a:ext uri="{FF2B5EF4-FFF2-40B4-BE49-F238E27FC236}">
                <a16:creationId xmlns:a16="http://schemas.microsoft.com/office/drawing/2014/main" id="{2F0D2995-6F61-6899-A885-1E956F551FAE}"/>
              </a:ext>
            </a:extLst>
          </p:cNvPr>
          <p:cNvSpPr txBox="1"/>
          <p:nvPr/>
        </p:nvSpPr>
        <p:spPr>
          <a:xfrm>
            <a:off x="191164" y="3514052"/>
            <a:ext cx="4376544" cy="507831"/>
          </a:xfrm>
          <a:prstGeom prst="rect">
            <a:avLst/>
          </a:prstGeom>
          <a:noFill/>
        </p:spPr>
        <p:txBody>
          <a:bodyPr wrap="square" lIns="0" tIns="0" rIns="0" bIns="0" rtlCol="0">
            <a:spAutoFit/>
          </a:bodyPr>
          <a:lstStyle/>
          <a:p>
            <a:r>
              <a:rPr lang="ru-RU" sz="1100" dirty="0"/>
              <a:t>5 – по предмету появляется информация только если нажата кнопка по предмету при этом какая кнопка нажата данные, относящиеся к другой кнопке пропадают</a:t>
            </a:r>
          </a:p>
        </p:txBody>
      </p:sp>
      <p:sp>
        <p:nvSpPr>
          <p:cNvPr id="102" name="Прямоугольник 101">
            <a:extLst>
              <a:ext uri="{FF2B5EF4-FFF2-40B4-BE49-F238E27FC236}">
                <a16:creationId xmlns:a16="http://schemas.microsoft.com/office/drawing/2014/main" id="{3AC2FC4B-7B8B-2E4C-91B5-0EFB83D54218}"/>
              </a:ext>
            </a:extLst>
          </p:cNvPr>
          <p:cNvSpPr/>
          <p:nvPr/>
        </p:nvSpPr>
        <p:spPr>
          <a:xfrm>
            <a:off x="4928315" y="3832276"/>
            <a:ext cx="7147775" cy="455327"/>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03" name="TextBox 102">
            <a:extLst>
              <a:ext uri="{FF2B5EF4-FFF2-40B4-BE49-F238E27FC236}">
                <a16:creationId xmlns:a16="http://schemas.microsoft.com/office/drawing/2014/main" id="{B4A4D769-D763-C91E-9EF0-89AF1162D61D}"/>
              </a:ext>
            </a:extLst>
          </p:cNvPr>
          <p:cNvSpPr txBox="1"/>
          <p:nvPr/>
        </p:nvSpPr>
        <p:spPr>
          <a:xfrm>
            <a:off x="5000986" y="3839967"/>
            <a:ext cx="6985438" cy="369332"/>
          </a:xfrm>
          <a:prstGeom prst="rect">
            <a:avLst/>
          </a:prstGeom>
          <a:noFill/>
        </p:spPr>
        <p:txBody>
          <a:bodyPr wrap="none" lIns="0" tIns="0" rIns="0" bIns="0" rtlCol="0">
            <a:spAutoFit/>
          </a:bodyPr>
          <a:lstStyle/>
          <a:p>
            <a:r>
              <a:rPr lang="ru-RU" sz="1200" dirty="0"/>
              <a:t>Если выбрано по предметам, то появляются кнопки: выпадающий список предметов и далее выбирается </a:t>
            </a:r>
          </a:p>
          <a:p>
            <a:r>
              <a:rPr lang="ru-RU" sz="1200" dirty="0"/>
              <a:t>один или несколько типов предмета (которые задаются системой как </a:t>
            </a:r>
            <a:r>
              <a:rPr lang="en-US" sz="1200" dirty="0" err="1"/>
              <a:t>enum</a:t>
            </a:r>
            <a:r>
              <a:rPr lang="en-US" sz="1200" dirty="0"/>
              <a:t>)</a:t>
            </a:r>
            <a:endParaRPr lang="ru-RU" sz="1200" dirty="0"/>
          </a:p>
        </p:txBody>
      </p:sp>
      <p:sp>
        <p:nvSpPr>
          <p:cNvPr id="109" name="Прямоугольник 108">
            <a:extLst>
              <a:ext uri="{FF2B5EF4-FFF2-40B4-BE49-F238E27FC236}">
                <a16:creationId xmlns:a16="http://schemas.microsoft.com/office/drawing/2014/main" id="{BD1926AB-A617-A5C7-3E67-338DBEB5E361}"/>
              </a:ext>
            </a:extLst>
          </p:cNvPr>
          <p:cNvSpPr/>
          <p:nvPr/>
        </p:nvSpPr>
        <p:spPr>
          <a:xfrm>
            <a:off x="4928315" y="4332576"/>
            <a:ext cx="7147775" cy="23305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0" name="TextBox 109">
            <a:extLst>
              <a:ext uri="{FF2B5EF4-FFF2-40B4-BE49-F238E27FC236}">
                <a16:creationId xmlns:a16="http://schemas.microsoft.com/office/drawing/2014/main" id="{67951B34-E9D7-9B5B-CEF6-CEE4B0CEE3D2}"/>
              </a:ext>
            </a:extLst>
          </p:cNvPr>
          <p:cNvSpPr txBox="1"/>
          <p:nvPr/>
        </p:nvSpPr>
        <p:spPr>
          <a:xfrm>
            <a:off x="5265479" y="4391889"/>
            <a:ext cx="309380" cy="184666"/>
          </a:xfrm>
          <a:prstGeom prst="rect">
            <a:avLst/>
          </a:prstGeom>
          <a:noFill/>
        </p:spPr>
        <p:txBody>
          <a:bodyPr wrap="none" lIns="0" tIns="0" rIns="0" bIns="0" rtlCol="0">
            <a:spAutoFit/>
          </a:bodyPr>
          <a:lstStyle/>
          <a:p>
            <a:r>
              <a:rPr lang="ru-RU" sz="1200" dirty="0"/>
              <a:t>ФИО</a:t>
            </a:r>
          </a:p>
        </p:txBody>
      </p:sp>
      <p:sp>
        <p:nvSpPr>
          <p:cNvPr id="111" name="TextBox 110">
            <a:extLst>
              <a:ext uri="{FF2B5EF4-FFF2-40B4-BE49-F238E27FC236}">
                <a16:creationId xmlns:a16="http://schemas.microsoft.com/office/drawing/2014/main" id="{8E973834-E0D7-0C22-20E0-BF133B6352F2}"/>
              </a:ext>
            </a:extLst>
          </p:cNvPr>
          <p:cNvSpPr txBox="1"/>
          <p:nvPr/>
        </p:nvSpPr>
        <p:spPr>
          <a:xfrm>
            <a:off x="5809708" y="4391889"/>
            <a:ext cx="436914" cy="184666"/>
          </a:xfrm>
          <a:prstGeom prst="rect">
            <a:avLst/>
          </a:prstGeom>
          <a:noFill/>
        </p:spPr>
        <p:txBody>
          <a:bodyPr wrap="none" lIns="0" tIns="0" rIns="0" bIns="0" rtlCol="0">
            <a:spAutoFit/>
          </a:bodyPr>
          <a:lstStyle/>
          <a:p>
            <a:r>
              <a:rPr lang="ru-RU" sz="1200" dirty="0"/>
              <a:t>Группа</a:t>
            </a:r>
          </a:p>
        </p:txBody>
      </p:sp>
      <p:sp>
        <p:nvSpPr>
          <p:cNvPr id="112" name="TextBox 111">
            <a:extLst>
              <a:ext uri="{FF2B5EF4-FFF2-40B4-BE49-F238E27FC236}">
                <a16:creationId xmlns:a16="http://schemas.microsoft.com/office/drawing/2014/main" id="{6A6B59BC-4FC3-EF3A-31DF-D135B8836D92}"/>
              </a:ext>
            </a:extLst>
          </p:cNvPr>
          <p:cNvSpPr txBox="1"/>
          <p:nvPr/>
        </p:nvSpPr>
        <p:spPr>
          <a:xfrm>
            <a:off x="7459672" y="4391889"/>
            <a:ext cx="1295739" cy="184666"/>
          </a:xfrm>
          <a:prstGeom prst="rect">
            <a:avLst/>
          </a:prstGeom>
          <a:noFill/>
        </p:spPr>
        <p:txBody>
          <a:bodyPr wrap="none" lIns="0" tIns="0" rIns="0" bIns="0" rtlCol="0">
            <a:spAutoFit/>
          </a:bodyPr>
          <a:lstStyle/>
          <a:p>
            <a:r>
              <a:rPr lang="ru-RU" sz="1200" dirty="0"/>
              <a:t>Название предмета</a:t>
            </a:r>
          </a:p>
        </p:txBody>
      </p:sp>
      <p:sp>
        <p:nvSpPr>
          <p:cNvPr id="113" name="TextBox 112">
            <a:extLst>
              <a:ext uri="{FF2B5EF4-FFF2-40B4-BE49-F238E27FC236}">
                <a16:creationId xmlns:a16="http://schemas.microsoft.com/office/drawing/2014/main" id="{2C1DFC62-A3FF-A592-DF3B-AECA3EB815B5}"/>
              </a:ext>
            </a:extLst>
          </p:cNvPr>
          <p:cNvSpPr txBox="1"/>
          <p:nvPr/>
        </p:nvSpPr>
        <p:spPr>
          <a:xfrm>
            <a:off x="9119570" y="4391889"/>
            <a:ext cx="774443" cy="184666"/>
          </a:xfrm>
          <a:prstGeom prst="rect">
            <a:avLst/>
          </a:prstGeom>
          <a:noFill/>
        </p:spPr>
        <p:txBody>
          <a:bodyPr wrap="none" lIns="0" tIns="0" rIns="0" bIns="0" rtlCol="0">
            <a:spAutoFit/>
          </a:bodyPr>
          <a:lstStyle/>
          <a:p>
            <a:r>
              <a:rPr lang="ru-RU" sz="1200" dirty="0"/>
              <a:t>Тип занятия</a:t>
            </a:r>
          </a:p>
        </p:txBody>
      </p:sp>
      <p:sp>
        <p:nvSpPr>
          <p:cNvPr id="114" name="Прямоугольник 113">
            <a:extLst>
              <a:ext uri="{FF2B5EF4-FFF2-40B4-BE49-F238E27FC236}">
                <a16:creationId xmlns:a16="http://schemas.microsoft.com/office/drawing/2014/main" id="{FF5C183E-6DB7-D6F6-2126-FDF18B08E4D2}"/>
              </a:ext>
            </a:extLst>
          </p:cNvPr>
          <p:cNvSpPr/>
          <p:nvPr/>
        </p:nvSpPr>
        <p:spPr>
          <a:xfrm>
            <a:off x="4928315" y="5237358"/>
            <a:ext cx="7147775" cy="1524325"/>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5" name="TextBox 114">
            <a:extLst>
              <a:ext uri="{FF2B5EF4-FFF2-40B4-BE49-F238E27FC236}">
                <a16:creationId xmlns:a16="http://schemas.microsoft.com/office/drawing/2014/main" id="{7F1D0E54-99E9-59AC-294C-DCA1080DB0A2}"/>
              </a:ext>
            </a:extLst>
          </p:cNvPr>
          <p:cNvSpPr txBox="1"/>
          <p:nvPr/>
        </p:nvSpPr>
        <p:spPr>
          <a:xfrm>
            <a:off x="5069913" y="5534036"/>
            <a:ext cx="161904" cy="184666"/>
          </a:xfrm>
          <a:prstGeom prst="rect">
            <a:avLst/>
          </a:prstGeom>
          <a:noFill/>
        </p:spPr>
        <p:txBody>
          <a:bodyPr wrap="none" lIns="0" tIns="0" rIns="0" bIns="0" rtlCol="0">
            <a:spAutoFit/>
          </a:bodyPr>
          <a:lstStyle/>
          <a:p>
            <a:pPr algn="ctr"/>
            <a:r>
              <a:rPr lang="ru-RU" sz="1200" dirty="0" err="1"/>
              <a:t>пн</a:t>
            </a:r>
            <a:endParaRPr lang="ru-RU" sz="1200" dirty="0"/>
          </a:p>
        </p:txBody>
      </p:sp>
      <p:sp>
        <p:nvSpPr>
          <p:cNvPr id="116" name="TextBox 115">
            <a:extLst>
              <a:ext uri="{FF2B5EF4-FFF2-40B4-BE49-F238E27FC236}">
                <a16:creationId xmlns:a16="http://schemas.microsoft.com/office/drawing/2014/main" id="{5E659CBB-17C8-CB88-0B9E-93519C9735F2}"/>
              </a:ext>
            </a:extLst>
          </p:cNvPr>
          <p:cNvSpPr txBox="1"/>
          <p:nvPr/>
        </p:nvSpPr>
        <p:spPr>
          <a:xfrm rot="16200000">
            <a:off x="4794191" y="6120062"/>
            <a:ext cx="577594" cy="184666"/>
          </a:xfrm>
          <a:prstGeom prst="rect">
            <a:avLst/>
          </a:prstGeom>
          <a:noFill/>
        </p:spPr>
        <p:txBody>
          <a:bodyPr wrap="none" lIns="0" tIns="0" rIns="0" bIns="0" rtlCol="0">
            <a:spAutoFit/>
          </a:bodyPr>
          <a:lstStyle/>
          <a:p>
            <a:r>
              <a:rPr lang="ru-RU" sz="1200" dirty="0"/>
              <a:t>Предмет</a:t>
            </a:r>
          </a:p>
        </p:txBody>
      </p:sp>
      <p:sp>
        <p:nvSpPr>
          <p:cNvPr id="117" name="TextBox 116">
            <a:extLst>
              <a:ext uri="{FF2B5EF4-FFF2-40B4-BE49-F238E27FC236}">
                <a16:creationId xmlns:a16="http://schemas.microsoft.com/office/drawing/2014/main" id="{F3ABBBED-8410-C289-B460-1BD81E8E8465}"/>
              </a:ext>
            </a:extLst>
          </p:cNvPr>
          <p:cNvSpPr txBox="1"/>
          <p:nvPr/>
        </p:nvSpPr>
        <p:spPr>
          <a:xfrm>
            <a:off x="5044516" y="6501192"/>
            <a:ext cx="76944" cy="184666"/>
          </a:xfrm>
          <a:prstGeom prst="rect">
            <a:avLst/>
          </a:prstGeom>
          <a:noFill/>
        </p:spPr>
        <p:txBody>
          <a:bodyPr wrap="none" lIns="0" tIns="0" rIns="0" bIns="0" rtlCol="0">
            <a:spAutoFit/>
          </a:bodyPr>
          <a:lstStyle/>
          <a:p>
            <a:r>
              <a:rPr lang="ru-RU" sz="1200" dirty="0"/>
              <a:t>+</a:t>
            </a:r>
          </a:p>
        </p:txBody>
      </p:sp>
      <p:sp>
        <p:nvSpPr>
          <p:cNvPr id="118" name="TextBox 117">
            <a:extLst>
              <a:ext uri="{FF2B5EF4-FFF2-40B4-BE49-F238E27FC236}">
                <a16:creationId xmlns:a16="http://schemas.microsoft.com/office/drawing/2014/main" id="{DDC9CE39-00A9-4537-9887-1D40F9F31504}"/>
              </a:ext>
            </a:extLst>
          </p:cNvPr>
          <p:cNvSpPr txBox="1"/>
          <p:nvPr/>
        </p:nvSpPr>
        <p:spPr>
          <a:xfrm>
            <a:off x="4998003" y="5339255"/>
            <a:ext cx="305725" cy="184666"/>
          </a:xfrm>
          <a:prstGeom prst="rect">
            <a:avLst/>
          </a:prstGeom>
          <a:noFill/>
        </p:spPr>
        <p:txBody>
          <a:bodyPr wrap="none" lIns="0" tIns="0" rIns="0" bIns="0" rtlCol="0">
            <a:spAutoFit/>
          </a:bodyPr>
          <a:lstStyle/>
          <a:p>
            <a:pPr algn="ctr"/>
            <a:r>
              <a:rPr lang="ru-RU" sz="1200" dirty="0"/>
              <a:t>Дата</a:t>
            </a:r>
          </a:p>
        </p:txBody>
      </p:sp>
      <p:sp>
        <p:nvSpPr>
          <p:cNvPr id="119" name="TextBox 118">
            <a:extLst>
              <a:ext uri="{FF2B5EF4-FFF2-40B4-BE49-F238E27FC236}">
                <a16:creationId xmlns:a16="http://schemas.microsoft.com/office/drawing/2014/main" id="{1AABF4D0-BD99-1797-61AB-C4B11E02F2F3}"/>
              </a:ext>
            </a:extLst>
          </p:cNvPr>
          <p:cNvSpPr txBox="1"/>
          <p:nvPr/>
        </p:nvSpPr>
        <p:spPr>
          <a:xfrm>
            <a:off x="5052737" y="5728817"/>
            <a:ext cx="774443" cy="184666"/>
          </a:xfrm>
          <a:prstGeom prst="rect">
            <a:avLst/>
          </a:prstGeom>
          <a:noFill/>
        </p:spPr>
        <p:txBody>
          <a:bodyPr wrap="none" lIns="0" tIns="0" rIns="0" bIns="0" rtlCol="0">
            <a:spAutoFit/>
          </a:bodyPr>
          <a:lstStyle/>
          <a:p>
            <a:pPr algn="ctr"/>
            <a:r>
              <a:rPr lang="ru-RU" sz="1200" dirty="0"/>
              <a:t>Тип занятия</a:t>
            </a:r>
          </a:p>
        </p:txBody>
      </p:sp>
      <p:sp>
        <p:nvSpPr>
          <p:cNvPr id="120" name="TextBox 119">
            <a:extLst>
              <a:ext uri="{FF2B5EF4-FFF2-40B4-BE49-F238E27FC236}">
                <a16:creationId xmlns:a16="http://schemas.microsoft.com/office/drawing/2014/main" id="{9B602B08-7277-AE8D-9199-D4189299A76C}"/>
              </a:ext>
            </a:extLst>
          </p:cNvPr>
          <p:cNvSpPr txBox="1"/>
          <p:nvPr/>
        </p:nvSpPr>
        <p:spPr>
          <a:xfrm>
            <a:off x="6114871" y="5534036"/>
            <a:ext cx="161904" cy="184666"/>
          </a:xfrm>
          <a:prstGeom prst="rect">
            <a:avLst/>
          </a:prstGeom>
          <a:noFill/>
        </p:spPr>
        <p:txBody>
          <a:bodyPr wrap="none" lIns="0" tIns="0" rIns="0" bIns="0" rtlCol="0">
            <a:spAutoFit/>
          </a:bodyPr>
          <a:lstStyle/>
          <a:p>
            <a:pPr algn="ctr"/>
            <a:r>
              <a:rPr lang="ru-RU" sz="1200" dirty="0" err="1"/>
              <a:t>пн</a:t>
            </a:r>
            <a:endParaRPr lang="ru-RU" sz="1200" dirty="0"/>
          </a:p>
        </p:txBody>
      </p:sp>
      <p:sp>
        <p:nvSpPr>
          <p:cNvPr id="121" name="TextBox 120">
            <a:extLst>
              <a:ext uri="{FF2B5EF4-FFF2-40B4-BE49-F238E27FC236}">
                <a16:creationId xmlns:a16="http://schemas.microsoft.com/office/drawing/2014/main" id="{269C38D1-5091-18BB-78F9-D6B977BDCB43}"/>
              </a:ext>
            </a:extLst>
          </p:cNvPr>
          <p:cNvSpPr txBox="1"/>
          <p:nvPr/>
        </p:nvSpPr>
        <p:spPr>
          <a:xfrm rot="16200000">
            <a:off x="5839149" y="6120062"/>
            <a:ext cx="577594" cy="184666"/>
          </a:xfrm>
          <a:prstGeom prst="rect">
            <a:avLst/>
          </a:prstGeom>
          <a:noFill/>
        </p:spPr>
        <p:txBody>
          <a:bodyPr wrap="none" lIns="0" tIns="0" rIns="0" bIns="0" rtlCol="0">
            <a:spAutoFit/>
          </a:bodyPr>
          <a:lstStyle/>
          <a:p>
            <a:r>
              <a:rPr lang="ru-RU" sz="1200" dirty="0"/>
              <a:t>Предмет</a:t>
            </a:r>
          </a:p>
        </p:txBody>
      </p:sp>
      <p:sp>
        <p:nvSpPr>
          <p:cNvPr id="122" name="TextBox 121">
            <a:extLst>
              <a:ext uri="{FF2B5EF4-FFF2-40B4-BE49-F238E27FC236}">
                <a16:creationId xmlns:a16="http://schemas.microsoft.com/office/drawing/2014/main" id="{D7673919-45BF-CAA4-EB38-0BFF6EBE14BF}"/>
              </a:ext>
            </a:extLst>
          </p:cNvPr>
          <p:cNvSpPr txBox="1"/>
          <p:nvPr/>
        </p:nvSpPr>
        <p:spPr>
          <a:xfrm>
            <a:off x="6089474" y="6501192"/>
            <a:ext cx="68930" cy="184666"/>
          </a:xfrm>
          <a:prstGeom prst="rect">
            <a:avLst/>
          </a:prstGeom>
          <a:noFill/>
        </p:spPr>
        <p:txBody>
          <a:bodyPr wrap="none" lIns="0" tIns="0" rIns="0" bIns="0" rtlCol="0">
            <a:spAutoFit/>
          </a:bodyPr>
          <a:lstStyle/>
          <a:p>
            <a:r>
              <a:rPr lang="ru-RU" sz="1200" dirty="0"/>
              <a:t>у</a:t>
            </a:r>
          </a:p>
        </p:txBody>
      </p:sp>
      <p:sp>
        <p:nvSpPr>
          <p:cNvPr id="123" name="TextBox 122">
            <a:extLst>
              <a:ext uri="{FF2B5EF4-FFF2-40B4-BE49-F238E27FC236}">
                <a16:creationId xmlns:a16="http://schemas.microsoft.com/office/drawing/2014/main" id="{E4CB6EA8-2A04-C52D-AEC3-9DBECC42AD52}"/>
              </a:ext>
            </a:extLst>
          </p:cNvPr>
          <p:cNvSpPr txBox="1"/>
          <p:nvPr/>
        </p:nvSpPr>
        <p:spPr>
          <a:xfrm>
            <a:off x="6042961" y="5339255"/>
            <a:ext cx="305725" cy="184666"/>
          </a:xfrm>
          <a:prstGeom prst="rect">
            <a:avLst/>
          </a:prstGeom>
          <a:noFill/>
        </p:spPr>
        <p:txBody>
          <a:bodyPr wrap="none" lIns="0" tIns="0" rIns="0" bIns="0" rtlCol="0">
            <a:spAutoFit/>
          </a:bodyPr>
          <a:lstStyle/>
          <a:p>
            <a:pPr algn="ctr"/>
            <a:r>
              <a:rPr lang="ru-RU" sz="1200" dirty="0"/>
              <a:t>Дата</a:t>
            </a:r>
          </a:p>
        </p:txBody>
      </p:sp>
      <p:sp>
        <p:nvSpPr>
          <p:cNvPr id="124" name="TextBox 123">
            <a:extLst>
              <a:ext uri="{FF2B5EF4-FFF2-40B4-BE49-F238E27FC236}">
                <a16:creationId xmlns:a16="http://schemas.microsoft.com/office/drawing/2014/main" id="{09E7C491-C453-33FE-7609-EDC155C57335}"/>
              </a:ext>
            </a:extLst>
          </p:cNvPr>
          <p:cNvSpPr txBox="1"/>
          <p:nvPr/>
        </p:nvSpPr>
        <p:spPr>
          <a:xfrm>
            <a:off x="6097695" y="5728817"/>
            <a:ext cx="774443" cy="184666"/>
          </a:xfrm>
          <a:prstGeom prst="rect">
            <a:avLst/>
          </a:prstGeom>
          <a:noFill/>
        </p:spPr>
        <p:txBody>
          <a:bodyPr wrap="none" lIns="0" tIns="0" rIns="0" bIns="0" rtlCol="0">
            <a:spAutoFit/>
          </a:bodyPr>
          <a:lstStyle/>
          <a:p>
            <a:pPr algn="ctr"/>
            <a:r>
              <a:rPr lang="ru-RU" sz="1200" dirty="0"/>
              <a:t>Тип занятия</a:t>
            </a:r>
          </a:p>
        </p:txBody>
      </p:sp>
      <p:sp>
        <p:nvSpPr>
          <p:cNvPr id="125" name="TextBox 124">
            <a:extLst>
              <a:ext uri="{FF2B5EF4-FFF2-40B4-BE49-F238E27FC236}">
                <a16:creationId xmlns:a16="http://schemas.microsoft.com/office/drawing/2014/main" id="{95554C85-A291-F238-D1B4-0CACB63AEE89}"/>
              </a:ext>
            </a:extLst>
          </p:cNvPr>
          <p:cNvSpPr txBox="1"/>
          <p:nvPr/>
        </p:nvSpPr>
        <p:spPr>
          <a:xfrm>
            <a:off x="7225857" y="5534036"/>
            <a:ext cx="161904" cy="184666"/>
          </a:xfrm>
          <a:prstGeom prst="rect">
            <a:avLst/>
          </a:prstGeom>
          <a:noFill/>
        </p:spPr>
        <p:txBody>
          <a:bodyPr wrap="none" lIns="0" tIns="0" rIns="0" bIns="0" rtlCol="0">
            <a:spAutoFit/>
          </a:bodyPr>
          <a:lstStyle/>
          <a:p>
            <a:pPr algn="ctr"/>
            <a:r>
              <a:rPr lang="ru-RU" sz="1200" dirty="0" err="1"/>
              <a:t>пн</a:t>
            </a:r>
            <a:endParaRPr lang="ru-RU" sz="1200" dirty="0"/>
          </a:p>
        </p:txBody>
      </p:sp>
      <p:sp>
        <p:nvSpPr>
          <p:cNvPr id="126" name="TextBox 125">
            <a:extLst>
              <a:ext uri="{FF2B5EF4-FFF2-40B4-BE49-F238E27FC236}">
                <a16:creationId xmlns:a16="http://schemas.microsoft.com/office/drawing/2014/main" id="{1C855A8E-BA4B-1F1F-AAD3-5E0146EC88CB}"/>
              </a:ext>
            </a:extLst>
          </p:cNvPr>
          <p:cNvSpPr txBox="1"/>
          <p:nvPr/>
        </p:nvSpPr>
        <p:spPr>
          <a:xfrm rot="16200000">
            <a:off x="6950135" y="6120062"/>
            <a:ext cx="577594" cy="184666"/>
          </a:xfrm>
          <a:prstGeom prst="rect">
            <a:avLst/>
          </a:prstGeom>
          <a:noFill/>
        </p:spPr>
        <p:txBody>
          <a:bodyPr wrap="none" lIns="0" tIns="0" rIns="0" bIns="0" rtlCol="0">
            <a:spAutoFit/>
          </a:bodyPr>
          <a:lstStyle/>
          <a:p>
            <a:r>
              <a:rPr lang="ru-RU" sz="1200" dirty="0"/>
              <a:t>Предмет</a:t>
            </a:r>
          </a:p>
        </p:txBody>
      </p:sp>
      <p:sp>
        <p:nvSpPr>
          <p:cNvPr id="127" name="TextBox 126">
            <a:extLst>
              <a:ext uri="{FF2B5EF4-FFF2-40B4-BE49-F238E27FC236}">
                <a16:creationId xmlns:a16="http://schemas.microsoft.com/office/drawing/2014/main" id="{0EFEC3E4-112E-5FDC-ABA5-FF1F2F8C0205}"/>
              </a:ext>
            </a:extLst>
          </p:cNvPr>
          <p:cNvSpPr txBox="1"/>
          <p:nvPr/>
        </p:nvSpPr>
        <p:spPr>
          <a:xfrm>
            <a:off x="7200460" y="6501192"/>
            <a:ext cx="68930" cy="184666"/>
          </a:xfrm>
          <a:prstGeom prst="rect">
            <a:avLst/>
          </a:prstGeom>
          <a:noFill/>
        </p:spPr>
        <p:txBody>
          <a:bodyPr wrap="none" lIns="0" tIns="0" rIns="0" bIns="0" rtlCol="0">
            <a:spAutoFit/>
          </a:bodyPr>
          <a:lstStyle/>
          <a:p>
            <a:r>
              <a:rPr lang="ru-RU" sz="1200" dirty="0"/>
              <a:t>у</a:t>
            </a:r>
          </a:p>
        </p:txBody>
      </p:sp>
      <p:sp>
        <p:nvSpPr>
          <p:cNvPr id="128" name="TextBox 127">
            <a:extLst>
              <a:ext uri="{FF2B5EF4-FFF2-40B4-BE49-F238E27FC236}">
                <a16:creationId xmlns:a16="http://schemas.microsoft.com/office/drawing/2014/main" id="{82397F61-778A-1181-9FA3-F35CCD1BD415}"/>
              </a:ext>
            </a:extLst>
          </p:cNvPr>
          <p:cNvSpPr txBox="1"/>
          <p:nvPr/>
        </p:nvSpPr>
        <p:spPr>
          <a:xfrm>
            <a:off x="7153947" y="5339255"/>
            <a:ext cx="305725" cy="184666"/>
          </a:xfrm>
          <a:prstGeom prst="rect">
            <a:avLst/>
          </a:prstGeom>
          <a:noFill/>
        </p:spPr>
        <p:txBody>
          <a:bodyPr wrap="none" lIns="0" tIns="0" rIns="0" bIns="0" rtlCol="0">
            <a:spAutoFit/>
          </a:bodyPr>
          <a:lstStyle/>
          <a:p>
            <a:pPr algn="ctr"/>
            <a:r>
              <a:rPr lang="ru-RU" sz="1200" dirty="0"/>
              <a:t>Дата</a:t>
            </a:r>
          </a:p>
        </p:txBody>
      </p:sp>
      <p:sp>
        <p:nvSpPr>
          <p:cNvPr id="129" name="TextBox 128">
            <a:extLst>
              <a:ext uri="{FF2B5EF4-FFF2-40B4-BE49-F238E27FC236}">
                <a16:creationId xmlns:a16="http://schemas.microsoft.com/office/drawing/2014/main" id="{F51E4272-AF3C-5512-1110-1764D7CBA621}"/>
              </a:ext>
            </a:extLst>
          </p:cNvPr>
          <p:cNvSpPr txBox="1"/>
          <p:nvPr/>
        </p:nvSpPr>
        <p:spPr>
          <a:xfrm>
            <a:off x="7208681" y="5728817"/>
            <a:ext cx="774443" cy="184666"/>
          </a:xfrm>
          <a:prstGeom prst="rect">
            <a:avLst/>
          </a:prstGeom>
          <a:noFill/>
        </p:spPr>
        <p:txBody>
          <a:bodyPr wrap="none" lIns="0" tIns="0" rIns="0" bIns="0" rtlCol="0">
            <a:spAutoFit/>
          </a:bodyPr>
          <a:lstStyle/>
          <a:p>
            <a:pPr algn="ctr"/>
            <a:r>
              <a:rPr lang="ru-RU" sz="1200" dirty="0"/>
              <a:t>Тип занятия</a:t>
            </a:r>
          </a:p>
        </p:txBody>
      </p:sp>
      <p:sp>
        <p:nvSpPr>
          <p:cNvPr id="130" name="TextBox 129">
            <a:extLst>
              <a:ext uri="{FF2B5EF4-FFF2-40B4-BE49-F238E27FC236}">
                <a16:creationId xmlns:a16="http://schemas.microsoft.com/office/drawing/2014/main" id="{5B2F2EA5-F927-9DC5-4AA4-394367F97FBD}"/>
              </a:ext>
            </a:extLst>
          </p:cNvPr>
          <p:cNvSpPr txBox="1"/>
          <p:nvPr/>
        </p:nvSpPr>
        <p:spPr>
          <a:xfrm>
            <a:off x="8304282" y="5534036"/>
            <a:ext cx="161904" cy="184666"/>
          </a:xfrm>
          <a:prstGeom prst="rect">
            <a:avLst/>
          </a:prstGeom>
          <a:noFill/>
        </p:spPr>
        <p:txBody>
          <a:bodyPr wrap="none" lIns="0" tIns="0" rIns="0" bIns="0" rtlCol="0">
            <a:spAutoFit/>
          </a:bodyPr>
          <a:lstStyle/>
          <a:p>
            <a:pPr algn="ctr"/>
            <a:r>
              <a:rPr lang="ru-RU" sz="1200" dirty="0" err="1"/>
              <a:t>пн</a:t>
            </a:r>
            <a:endParaRPr lang="ru-RU" sz="1200" dirty="0"/>
          </a:p>
        </p:txBody>
      </p:sp>
      <p:sp>
        <p:nvSpPr>
          <p:cNvPr id="131" name="TextBox 130">
            <a:extLst>
              <a:ext uri="{FF2B5EF4-FFF2-40B4-BE49-F238E27FC236}">
                <a16:creationId xmlns:a16="http://schemas.microsoft.com/office/drawing/2014/main" id="{684FEC6A-6425-1625-4EA3-DD22496BD7F0}"/>
              </a:ext>
            </a:extLst>
          </p:cNvPr>
          <p:cNvSpPr txBox="1"/>
          <p:nvPr/>
        </p:nvSpPr>
        <p:spPr>
          <a:xfrm rot="16200000">
            <a:off x="8028560" y="6120062"/>
            <a:ext cx="577594" cy="184666"/>
          </a:xfrm>
          <a:prstGeom prst="rect">
            <a:avLst/>
          </a:prstGeom>
          <a:noFill/>
        </p:spPr>
        <p:txBody>
          <a:bodyPr wrap="none" lIns="0" tIns="0" rIns="0" bIns="0" rtlCol="0">
            <a:spAutoFit/>
          </a:bodyPr>
          <a:lstStyle/>
          <a:p>
            <a:r>
              <a:rPr lang="ru-RU" sz="1200" dirty="0"/>
              <a:t>Предмет</a:t>
            </a:r>
          </a:p>
        </p:txBody>
      </p:sp>
      <p:sp>
        <p:nvSpPr>
          <p:cNvPr id="132" name="TextBox 131">
            <a:extLst>
              <a:ext uri="{FF2B5EF4-FFF2-40B4-BE49-F238E27FC236}">
                <a16:creationId xmlns:a16="http://schemas.microsoft.com/office/drawing/2014/main" id="{48CCEDDF-A8A6-4245-242C-BEE932EBC757}"/>
              </a:ext>
            </a:extLst>
          </p:cNvPr>
          <p:cNvSpPr txBox="1"/>
          <p:nvPr/>
        </p:nvSpPr>
        <p:spPr>
          <a:xfrm>
            <a:off x="8278885" y="6501192"/>
            <a:ext cx="68930" cy="184666"/>
          </a:xfrm>
          <a:prstGeom prst="rect">
            <a:avLst/>
          </a:prstGeom>
          <a:noFill/>
        </p:spPr>
        <p:txBody>
          <a:bodyPr wrap="none" lIns="0" tIns="0" rIns="0" bIns="0" rtlCol="0">
            <a:spAutoFit/>
          </a:bodyPr>
          <a:lstStyle/>
          <a:p>
            <a:r>
              <a:rPr lang="ru-RU" sz="1200" dirty="0"/>
              <a:t>у</a:t>
            </a:r>
          </a:p>
        </p:txBody>
      </p:sp>
      <p:sp>
        <p:nvSpPr>
          <p:cNvPr id="133" name="TextBox 132">
            <a:extLst>
              <a:ext uri="{FF2B5EF4-FFF2-40B4-BE49-F238E27FC236}">
                <a16:creationId xmlns:a16="http://schemas.microsoft.com/office/drawing/2014/main" id="{70C0D3BE-4D00-9C4F-DD63-F9EED19CE581}"/>
              </a:ext>
            </a:extLst>
          </p:cNvPr>
          <p:cNvSpPr txBox="1"/>
          <p:nvPr/>
        </p:nvSpPr>
        <p:spPr>
          <a:xfrm>
            <a:off x="8232372" y="5339255"/>
            <a:ext cx="305725" cy="184666"/>
          </a:xfrm>
          <a:prstGeom prst="rect">
            <a:avLst/>
          </a:prstGeom>
          <a:noFill/>
        </p:spPr>
        <p:txBody>
          <a:bodyPr wrap="none" lIns="0" tIns="0" rIns="0" bIns="0" rtlCol="0">
            <a:spAutoFit/>
          </a:bodyPr>
          <a:lstStyle/>
          <a:p>
            <a:pPr algn="ctr"/>
            <a:r>
              <a:rPr lang="ru-RU" sz="1200" dirty="0"/>
              <a:t>Дата</a:t>
            </a:r>
          </a:p>
        </p:txBody>
      </p:sp>
      <p:sp>
        <p:nvSpPr>
          <p:cNvPr id="134" name="TextBox 133">
            <a:extLst>
              <a:ext uri="{FF2B5EF4-FFF2-40B4-BE49-F238E27FC236}">
                <a16:creationId xmlns:a16="http://schemas.microsoft.com/office/drawing/2014/main" id="{F114C77F-7C17-4133-573F-832DDDA3B064}"/>
              </a:ext>
            </a:extLst>
          </p:cNvPr>
          <p:cNvSpPr txBox="1"/>
          <p:nvPr/>
        </p:nvSpPr>
        <p:spPr>
          <a:xfrm>
            <a:off x="8287107" y="5728817"/>
            <a:ext cx="774443" cy="184666"/>
          </a:xfrm>
          <a:prstGeom prst="rect">
            <a:avLst/>
          </a:prstGeom>
          <a:noFill/>
        </p:spPr>
        <p:txBody>
          <a:bodyPr wrap="none" lIns="0" tIns="0" rIns="0" bIns="0" rtlCol="0">
            <a:spAutoFit/>
          </a:bodyPr>
          <a:lstStyle/>
          <a:p>
            <a:pPr algn="ctr"/>
            <a:r>
              <a:rPr lang="ru-RU" sz="1200" dirty="0"/>
              <a:t>Тип занятия</a:t>
            </a:r>
          </a:p>
        </p:txBody>
      </p:sp>
      <p:sp>
        <p:nvSpPr>
          <p:cNvPr id="135" name="TextBox 134">
            <a:extLst>
              <a:ext uri="{FF2B5EF4-FFF2-40B4-BE49-F238E27FC236}">
                <a16:creationId xmlns:a16="http://schemas.microsoft.com/office/drawing/2014/main" id="{1F141CE4-E474-03A8-5E5A-3AF2F73043E3}"/>
              </a:ext>
            </a:extLst>
          </p:cNvPr>
          <p:cNvSpPr txBox="1"/>
          <p:nvPr/>
        </p:nvSpPr>
        <p:spPr>
          <a:xfrm>
            <a:off x="191164" y="4144188"/>
            <a:ext cx="4376544" cy="338554"/>
          </a:xfrm>
          <a:prstGeom prst="rect">
            <a:avLst/>
          </a:prstGeom>
          <a:noFill/>
        </p:spPr>
        <p:txBody>
          <a:bodyPr wrap="square" lIns="0" tIns="0" rIns="0" bIns="0" rtlCol="0">
            <a:spAutoFit/>
          </a:bodyPr>
          <a:lstStyle/>
          <a:p>
            <a:r>
              <a:rPr lang="ru-RU" sz="1100" dirty="0"/>
              <a:t>6 – идея для </a:t>
            </a:r>
            <a:r>
              <a:rPr lang="ru-RU" sz="1100" dirty="0" err="1"/>
              <a:t>бекенда</a:t>
            </a:r>
            <a:r>
              <a:rPr lang="ru-RU" sz="1100" dirty="0"/>
              <a:t> сделать так чтобы студент мог скачать посещаемость свою в таких же таблицах</a:t>
            </a:r>
          </a:p>
        </p:txBody>
      </p:sp>
      <p:sp>
        <p:nvSpPr>
          <p:cNvPr id="146" name="Прямоугольник 145">
            <a:extLst>
              <a:ext uri="{FF2B5EF4-FFF2-40B4-BE49-F238E27FC236}">
                <a16:creationId xmlns:a16="http://schemas.microsoft.com/office/drawing/2014/main" id="{F122CE38-EC65-30B1-D451-E12493589247}"/>
              </a:ext>
            </a:extLst>
          </p:cNvPr>
          <p:cNvSpPr/>
          <p:nvPr/>
        </p:nvSpPr>
        <p:spPr>
          <a:xfrm>
            <a:off x="4928315" y="4657850"/>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7" name="TextBox 146">
            <a:extLst>
              <a:ext uri="{FF2B5EF4-FFF2-40B4-BE49-F238E27FC236}">
                <a16:creationId xmlns:a16="http://schemas.microsoft.com/office/drawing/2014/main" id="{FE3C5E41-FF50-0FFC-61D7-4A759E1C7570}"/>
              </a:ext>
            </a:extLst>
          </p:cNvPr>
          <p:cNvSpPr txBox="1"/>
          <p:nvPr/>
        </p:nvSpPr>
        <p:spPr>
          <a:xfrm>
            <a:off x="5069913" y="4763903"/>
            <a:ext cx="379912" cy="184666"/>
          </a:xfrm>
          <a:prstGeom prst="rect">
            <a:avLst/>
          </a:prstGeom>
          <a:noFill/>
        </p:spPr>
        <p:txBody>
          <a:bodyPr wrap="none" lIns="0" tIns="0" rIns="0" bIns="0" rtlCol="0">
            <a:spAutoFit/>
          </a:bodyPr>
          <a:lstStyle/>
          <a:p>
            <a:r>
              <a:rPr lang="ru-RU" sz="1200" dirty="0"/>
              <a:t>% «+»</a:t>
            </a:r>
          </a:p>
        </p:txBody>
      </p:sp>
      <p:sp>
        <p:nvSpPr>
          <p:cNvPr id="148" name="Прямоугольник 147">
            <a:extLst>
              <a:ext uri="{FF2B5EF4-FFF2-40B4-BE49-F238E27FC236}">
                <a16:creationId xmlns:a16="http://schemas.microsoft.com/office/drawing/2014/main" id="{B69FA57E-E3C9-E3F8-3471-D8C6C037CDC9}"/>
              </a:ext>
            </a:extLst>
          </p:cNvPr>
          <p:cNvSpPr/>
          <p:nvPr/>
        </p:nvSpPr>
        <p:spPr>
          <a:xfrm>
            <a:off x="6025165" y="4657850"/>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9" name="TextBox 148">
            <a:extLst>
              <a:ext uri="{FF2B5EF4-FFF2-40B4-BE49-F238E27FC236}">
                <a16:creationId xmlns:a16="http://schemas.microsoft.com/office/drawing/2014/main" id="{5730051A-5966-64B2-B5DD-5FD4717C58CD}"/>
              </a:ext>
            </a:extLst>
          </p:cNvPr>
          <p:cNvSpPr txBox="1"/>
          <p:nvPr/>
        </p:nvSpPr>
        <p:spPr>
          <a:xfrm>
            <a:off x="6166763" y="4763903"/>
            <a:ext cx="384721" cy="184666"/>
          </a:xfrm>
          <a:prstGeom prst="rect">
            <a:avLst/>
          </a:prstGeom>
          <a:noFill/>
        </p:spPr>
        <p:txBody>
          <a:bodyPr wrap="none" lIns="0" tIns="0" rIns="0" bIns="0" rtlCol="0">
            <a:spAutoFit/>
          </a:bodyPr>
          <a:lstStyle/>
          <a:p>
            <a:r>
              <a:rPr lang="ru-RU" sz="1200" dirty="0"/>
              <a:t>% «н»</a:t>
            </a:r>
          </a:p>
        </p:txBody>
      </p:sp>
      <p:sp>
        <p:nvSpPr>
          <p:cNvPr id="150" name="Прямоугольник 149">
            <a:extLst>
              <a:ext uri="{FF2B5EF4-FFF2-40B4-BE49-F238E27FC236}">
                <a16:creationId xmlns:a16="http://schemas.microsoft.com/office/drawing/2014/main" id="{59EF7232-2822-05B6-0AA4-D73AE7A304AB}"/>
              </a:ext>
            </a:extLst>
          </p:cNvPr>
          <p:cNvSpPr/>
          <p:nvPr/>
        </p:nvSpPr>
        <p:spPr>
          <a:xfrm>
            <a:off x="7201366" y="4657850"/>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1" name="TextBox 150">
            <a:extLst>
              <a:ext uri="{FF2B5EF4-FFF2-40B4-BE49-F238E27FC236}">
                <a16:creationId xmlns:a16="http://schemas.microsoft.com/office/drawing/2014/main" id="{6D16E953-9EAD-EED0-EAEC-1CC0F30598D8}"/>
              </a:ext>
            </a:extLst>
          </p:cNvPr>
          <p:cNvSpPr txBox="1"/>
          <p:nvPr/>
        </p:nvSpPr>
        <p:spPr>
          <a:xfrm>
            <a:off x="7342964" y="4763903"/>
            <a:ext cx="384721" cy="184666"/>
          </a:xfrm>
          <a:prstGeom prst="rect">
            <a:avLst/>
          </a:prstGeom>
          <a:noFill/>
        </p:spPr>
        <p:txBody>
          <a:bodyPr wrap="none" lIns="0" tIns="0" rIns="0" bIns="0" rtlCol="0">
            <a:spAutoFit/>
          </a:bodyPr>
          <a:lstStyle/>
          <a:p>
            <a:r>
              <a:rPr lang="ru-RU" sz="1200" dirty="0"/>
              <a:t>% «у»</a:t>
            </a:r>
          </a:p>
        </p:txBody>
      </p:sp>
      <p:sp>
        <p:nvSpPr>
          <p:cNvPr id="152" name="Прямоугольник 151">
            <a:extLst>
              <a:ext uri="{FF2B5EF4-FFF2-40B4-BE49-F238E27FC236}">
                <a16:creationId xmlns:a16="http://schemas.microsoft.com/office/drawing/2014/main" id="{8170C769-FE3D-82C2-BBBC-6861416BD862}"/>
              </a:ext>
            </a:extLst>
          </p:cNvPr>
          <p:cNvSpPr/>
          <p:nvPr/>
        </p:nvSpPr>
        <p:spPr>
          <a:xfrm>
            <a:off x="8326121" y="4657850"/>
            <a:ext cx="1129754"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3" name="Прямоугольник 152">
            <a:extLst>
              <a:ext uri="{FF2B5EF4-FFF2-40B4-BE49-F238E27FC236}">
                <a16:creationId xmlns:a16="http://schemas.microsoft.com/office/drawing/2014/main" id="{B70FD966-90F3-391E-F82F-2E97DF993824}"/>
              </a:ext>
            </a:extLst>
          </p:cNvPr>
          <p:cNvSpPr/>
          <p:nvPr/>
        </p:nvSpPr>
        <p:spPr>
          <a:xfrm>
            <a:off x="9694669" y="4657850"/>
            <a:ext cx="2381422"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4" name="TextBox 153">
            <a:extLst>
              <a:ext uri="{FF2B5EF4-FFF2-40B4-BE49-F238E27FC236}">
                <a16:creationId xmlns:a16="http://schemas.microsoft.com/office/drawing/2014/main" id="{FC578483-B382-C4D8-9087-121548C7A0CF}"/>
              </a:ext>
            </a:extLst>
          </p:cNvPr>
          <p:cNvSpPr txBox="1"/>
          <p:nvPr/>
        </p:nvSpPr>
        <p:spPr>
          <a:xfrm>
            <a:off x="9836267" y="4706525"/>
            <a:ext cx="2065988" cy="553998"/>
          </a:xfrm>
          <a:prstGeom prst="rect">
            <a:avLst/>
          </a:prstGeom>
          <a:noFill/>
        </p:spPr>
        <p:txBody>
          <a:bodyPr wrap="square" lIns="0" tIns="0" rIns="0" bIns="0" rtlCol="0">
            <a:spAutoFit/>
          </a:bodyPr>
          <a:lstStyle/>
          <a:p>
            <a:r>
              <a:rPr lang="ru-RU" sz="1200" dirty="0"/>
              <a:t>Количество прошедших </a:t>
            </a:r>
          </a:p>
          <a:p>
            <a:r>
              <a:rPr lang="ru-RU" sz="1200" dirty="0"/>
              <a:t>Пар за семестр по предмету с фильтрами выбранными</a:t>
            </a:r>
          </a:p>
        </p:txBody>
      </p:sp>
      <p:sp>
        <p:nvSpPr>
          <p:cNvPr id="155" name="TextBox 154">
            <a:extLst>
              <a:ext uri="{FF2B5EF4-FFF2-40B4-BE49-F238E27FC236}">
                <a16:creationId xmlns:a16="http://schemas.microsoft.com/office/drawing/2014/main" id="{1E5C7EC2-75EE-AF9B-8752-86CBE9F17728}"/>
              </a:ext>
            </a:extLst>
          </p:cNvPr>
          <p:cNvSpPr txBox="1"/>
          <p:nvPr/>
        </p:nvSpPr>
        <p:spPr>
          <a:xfrm>
            <a:off x="8423663" y="4763903"/>
            <a:ext cx="759823" cy="184666"/>
          </a:xfrm>
          <a:prstGeom prst="rect">
            <a:avLst/>
          </a:prstGeom>
          <a:noFill/>
        </p:spPr>
        <p:txBody>
          <a:bodyPr wrap="none" lIns="0" tIns="0" rIns="0" bIns="0" rtlCol="0">
            <a:spAutoFit/>
          </a:bodyPr>
          <a:lstStyle/>
          <a:p>
            <a:r>
              <a:rPr lang="ru-RU" sz="1200" dirty="0"/>
              <a:t>% «+» и «у»</a:t>
            </a:r>
          </a:p>
        </p:txBody>
      </p:sp>
    </p:spTree>
    <p:extLst>
      <p:ext uri="{BB962C8B-B14F-4D97-AF65-F5344CB8AC3E}">
        <p14:creationId xmlns:p14="http://schemas.microsoft.com/office/powerpoint/2010/main" val="3165904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BBF1D13-CE06-C806-8463-F69A90EE5805}"/>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102 – СТРАНИЦА СТУДЕНТ - ПОСЕЩАЕМОСТЬ </a:t>
            </a:r>
          </a:p>
        </p:txBody>
      </p:sp>
      <p:sp>
        <p:nvSpPr>
          <p:cNvPr id="3" name="Прямоугольник 2">
            <a:extLst>
              <a:ext uri="{FF2B5EF4-FFF2-40B4-BE49-F238E27FC236}">
                <a16:creationId xmlns:a16="http://schemas.microsoft.com/office/drawing/2014/main" id="{2437AA22-DE2F-A879-84F5-0810F36EAB2D}"/>
              </a:ext>
            </a:extLst>
          </p:cNvPr>
          <p:cNvSpPr/>
          <p:nvPr/>
        </p:nvSpPr>
        <p:spPr>
          <a:xfrm>
            <a:off x="4800601" y="0"/>
            <a:ext cx="7391398"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Job </a:t>
            </a:r>
            <a:r>
              <a:rPr lang="ru-RU" dirty="0"/>
              <a:t>и</a:t>
            </a:r>
            <a:r>
              <a:rPr lang="en-US" dirty="0"/>
              <a:t> User Story</a:t>
            </a:r>
            <a:endParaRPr lang="ru-RU" dirty="0"/>
          </a:p>
        </p:txBody>
      </p:sp>
      <p:sp>
        <p:nvSpPr>
          <p:cNvPr id="5" name="TextBox 4">
            <a:extLst>
              <a:ext uri="{FF2B5EF4-FFF2-40B4-BE49-F238E27FC236}">
                <a16:creationId xmlns:a16="http://schemas.microsoft.com/office/drawing/2014/main" id="{E336B0A3-EADC-13E1-99CB-6B2A5EA9B5BD}"/>
              </a:ext>
            </a:extLst>
          </p:cNvPr>
          <p:cNvSpPr txBox="1"/>
          <p:nvPr/>
        </p:nvSpPr>
        <p:spPr>
          <a:xfrm>
            <a:off x="191164" y="1247804"/>
            <a:ext cx="4376544" cy="1015663"/>
          </a:xfrm>
          <a:prstGeom prst="rect">
            <a:avLst/>
          </a:prstGeom>
          <a:noFill/>
        </p:spPr>
        <p:txBody>
          <a:bodyPr wrap="square" lIns="0" tIns="0" rIns="0" bIns="0" rtlCol="0">
            <a:spAutoFit/>
          </a:bodyPr>
          <a:lstStyle/>
          <a:p>
            <a:r>
              <a:rPr lang="ru-RU" sz="1100" dirty="0"/>
              <a:t>Студент хочет выбирать как смотреть свою посещаемость по неделям и листать недели при этом видя какая чётность недели какие даты недели и какой номер порядковый или по предметам но при этом выбрать вначале предмет а потом </a:t>
            </a:r>
            <a:r>
              <a:rPr lang="ru-RU" sz="1100" dirty="0" err="1"/>
              <a:t>посмтреть</a:t>
            </a:r>
            <a:r>
              <a:rPr lang="ru-RU" sz="1100" dirty="0"/>
              <a:t> какие есть типы занятий у этого предмета и если типы занятий есть то они горят а если нет то серые и неактивные</a:t>
            </a:r>
          </a:p>
        </p:txBody>
      </p:sp>
      <p:sp>
        <p:nvSpPr>
          <p:cNvPr id="4" name="TextBox 3">
            <a:extLst>
              <a:ext uri="{FF2B5EF4-FFF2-40B4-BE49-F238E27FC236}">
                <a16:creationId xmlns:a16="http://schemas.microsoft.com/office/drawing/2014/main" id="{8230ACDF-C9D1-71F6-5EDE-2C074BDB214C}"/>
              </a:ext>
            </a:extLst>
          </p:cNvPr>
          <p:cNvSpPr txBox="1"/>
          <p:nvPr/>
        </p:nvSpPr>
        <p:spPr>
          <a:xfrm>
            <a:off x="191164" y="2527964"/>
            <a:ext cx="4376544" cy="677108"/>
          </a:xfrm>
          <a:prstGeom prst="rect">
            <a:avLst/>
          </a:prstGeom>
          <a:noFill/>
        </p:spPr>
        <p:txBody>
          <a:bodyPr wrap="square" lIns="0" tIns="0" rIns="0" bIns="0" rtlCol="0">
            <a:spAutoFit/>
          </a:bodyPr>
          <a:lstStyle/>
          <a:p>
            <a:r>
              <a:rPr lang="ru-RU" sz="1100" dirty="0"/>
              <a:t>Студент хочет тут видеть так же статистику по процентам посещаемости конкретно по неделям  или конкретно по предметам (один или несколько видов занятий </a:t>
            </a:r>
            <a:r>
              <a:rPr lang="ru-RU" sz="1100" dirty="0" err="1"/>
              <a:t>глде</a:t>
            </a:r>
            <a:r>
              <a:rPr lang="ru-RU" sz="1100" dirty="0"/>
              <a:t> суммируется статистика по видам занятий)</a:t>
            </a:r>
          </a:p>
        </p:txBody>
      </p:sp>
    </p:spTree>
    <p:extLst>
      <p:ext uri="{BB962C8B-B14F-4D97-AF65-F5344CB8AC3E}">
        <p14:creationId xmlns:p14="http://schemas.microsoft.com/office/powerpoint/2010/main" val="3482056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755DE34E-1F52-2BE9-468C-A5BC762F6445}"/>
              </a:ext>
            </a:extLst>
          </p:cNvPr>
          <p:cNvSpPr>
            <a:spLocks/>
          </p:cNvSpPr>
          <p:nvPr/>
        </p:nvSpPr>
        <p:spPr>
          <a:xfrm>
            <a:off x="4800600" y="-12855"/>
            <a:ext cx="7391399" cy="6858000"/>
          </a:xfrm>
          <a:prstGeom prst="rect">
            <a:avLst/>
          </a:prstGeom>
          <a:solidFill>
            <a:schemeClr val="bg1">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37" name="Прямоугольник 136">
            <a:extLst>
              <a:ext uri="{FF2B5EF4-FFF2-40B4-BE49-F238E27FC236}">
                <a16:creationId xmlns:a16="http://schemas.microsoft.com/office/drawing/2014/main" id="{31735BF8-3B1C-F155-799E-E498EDDE4CA9}"/>
              </a:ext>
            </a:extLst>
          </p:cNvPr>
          <p:cNvSpPr/>
          <p:nvPr/>
        </p:nvSpPr>
        <p:spPr>
          <a:xfrm>
            <a:off x="4924059" y="4188758"/>
            <a:ext cx="7147776" cy="257292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4">
            <a:extLst>
              <a:ext uri="{FF2B5EF4-FFF2-40B4-BE49-F238E27FC236}">
                <a16:creationId xmlns:a16="http://schemas.microsoft.com/office/drawing/2014/main" id="{6B8CB585-D000-9D9E-13D0-F9ED93B0ED70}"/>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103 – СТРАНИЦА СТУДЕНТ - СТАТИСТИКА </a:t>
            </a:r>
          </a:p>
        </p:txBody>
      </p:sp>
      <p:sp>
        <p:nvSpPr>
          <p:cNvPr id="7" name="TextBox 6">
            <a:extLst>
              <a:ext uri="{FF2B5EF4-FFF2-40B4-BE49-F238E27FC236}">
                <a16:creationId xmlns:a16="http://schemas.microsoft.com/office/drawing/2014/main" id="{F4A6BACE-FADE-7E5D-4C20-821ABD1C29EE}"/>
              </a:ext>
            </a:extLst>
          </p:cNvPr>
          <p:cNvSpPr txBox="1"/>
          <p:nvPr/>
        </p:nvSpPr>
        <p:spPr>
          <a:xfrm>
            <a:off x="191164" y="1110702"/>
            <a:ext cx="4376544" cy="507831"/>
          </a:xfrm>
          <a:prstGeom prst="rect">
            <a:avLst/>
          </a:prstGeom>
          <a:noFill/>
        </p:spPr>
        <p:txBody>
          <a:bodyPr wrap="square" lIns="0" tIns="0" rIns="0" bIns="0" rtlCol="0">
            <a:spAutoFit/>
          </a:bodyPr>
          <a:lstStyle/>
          <a:p>
            <a:r>
              <a:rPr lang="ru-RU" sz="1100" dirty="0"/>
              <a:t>1 – </a:t>
            </a:r>
            <a:r>
              <a:rPr lang="ru-RU" sz="1100" dirty="0" err="1"/>
              <a:t>стедент</a:t>
            </a:r>
            <a:r>
              <a:rPr lang="ru-RU" sz="1100" dirty="0"/>
              <a:t> в качестве соревновательной части видит </a:t>
            </a:r>
            <a:r>
              <a:rPr lang="ru-RU" sz="1100" dirty="0" err="1"/>
              <a:t>проценнт</a:t>
            </a:r>
            <a:r>
              <a:rPr lang="ru-RU" sz="1100" dirty="0"/>
              <a:t> «+» от других студентов они </a:t>
            </a:r>
            <a:r>
              <a:rPr lang="ru-RU" sz="1100" dirty="0" err="1"/>
              <a:t>сервые</a:t>
            </a:r>
            <a:r>
              <a:rPr lang="ru-RU" sz="1100" dirty="0"/>
              <a:t> и он как бы </a:t>
            </a:r>
            <a:r>
              <a:rPr lang="ru-RU" sz="1100" dirty="0" err="1"/>
              <a:t>выджелен</a:t>
            </a:r>
            <a:r>
              <a:rPr lang="ru-RU" sz="1100" dirty="0"/>
              <a:t> и показывается процент студента и других</a:t>
            </a:r>
          </a:p>
        </p:txBody>
      </p:sp>
      <p:grpSp>
        <p:nvGrpSpPr>
          <p:cNvPr id="2" name="Группа 1">
            <a:extLst>
              <a:ext uri="{FF2B5EF4-FFF2-40B4-BE49-F238E27FC236}">
                <a16:creationId xmlns:a16="http://schemas.microsoft.com/office/drawing/2014/main" id="{41C7D113-EC53-CE5D-03AE-3B28F33EE90D}"/>
              </a:ext>
            </a:extLst>
          </p:cNvPr>
          <p:cNvGrpSpPr/>
          <p:nvPr/>
        </p:nvGrpSpPr>
        <p:grpSpPr>
          <a:xfrm>
            <a:off x="4928315" y="128790"/>
            <a:ext cx="1614152" cy="287630"/>
            <a:chOff x="1803042" y="2137890"/>
            <a:chExt cx="1747234" cy="523744"/>
          </a:xfrm>
        </p:grpSpPr>
        <p:sp>
          <p:nvSpPr>
            <p:cNvPr id="3" name="Прямоугольник 2">
              <a:extLst>
                <a:ext uri="{FF2B5EF4-FFF2-40B4-BE49-F238E27FC236}">
                  <a16:creationId xmlns:a16="http://schemas.microsoft.com/office/drawing/2014/main" id="{54F68C72-5EF8-7633-3A8B-F40F1819C8A6}"/>
                </a:ext>
              </a:extLst>
            </p:cNvPr>
            <p:cNvSpPr/>
            <p:nvPr/>
          </p:nvSpPr>
          <p:spPr>
            <a:xfrm>
              <a:off x="1803042" y="2137893"/>
              <a:ext cx="1747234" cy="52374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grpSp>
          <p:nvGrpSpPr>
            <p:cNvPr id="12" name="Группа 11">
              <a:extLst>
                <a:ext uri="{FF2B5EF4-FFF2-40B4-BE49-F238E27FC236}">
                  <a16:creationId xmlns:a16="http://schemas.microsoft.com/office/drawing/2014/main" id="{CDAEE686-CA3D-7432-6815-017CE8DBF47B}"/>
                </a:ext>
              </a:extLst>
            </p:cNvPr>
            <p:cNvGrpSpPr/>
            <p:nvPr/>
          </p:nvGrpSpPr>
          <p:grpSpPr>
            <a:xfrm>
              <a:off x="1970467" y="2137890"/>
              <a:ext cx="1419940" cy="277001"/>
              <a:chOff x="2082085" y="1725766"/>
              <a:chExt cx="1419940" cy="277001"/>
            </a:xfrm>
          </p:grpSpPr>
          <p:sp>
            <p:nvSpPr>
              <p:cNvPr id="20" name="TextBox 19">
                <a:extLst>
                  <a:ext uri="{FF2B5EF4-FFF2-40B4-BE49-F238E27FC236}">
                    <a16:creationId xmlns:a16="http://schemas.microsoft.com/office/drawing/2014/main" id="{804D3EA9-2783-772A-79AD-966ADF2BD3A9}"/>
                  </a:ext>
                </a:extLst>
              </p:cNvPr>
              <p:cNvSpPr txBox="1"/>
              <p:nvPr/>
            </p:nvSpPr>
            <p:spPr>
              <a:xfrm>
                <a:off x="2082085" y="1725768"/>
                <a:ext cx="744114" cy="276999"/>
              </a:xfrm>
              <a:prstGeom prst="rect">
                <a:avLst/>
              </a:prstGeom>
              <a:noFill/>
            </p:spPr>
            <p:txBody>
              <a:bodyPr wrap="none" rtlCol="0">
                <a:spAutoFit/>
              </a:bodyPr>
              <a:lstStyle/>
              <a:p>
                <a:r>
                  <a:rPr lang="ru-RU" sz="1200" dirty="0"/>
                  <a:t>староста</a:t>
                </a:r>
              </a:p>
            </p:txBody>
          </p:sp>
          <p:sp>
            <p:nvSpPr>
              <p:cNvPr id="22" name="TextBox 21">
                <a:extLst>
                  <a:ext uri="{FF2B5EF4-FFF2-40B4-BE49-F238E27FC236}">
                    <a16:creationId xmlns:a16="http://schemas.microsoft.com/office/drawing/2014/main" id="{1D92D037-6417-318E-028A-748351726AB1}"/>
                  </a:ext>
                </a:extLst>
              </p:cNvPr>
              <p:cNvSpPr txBox="1"/>
              <p:nvPr/>
            </p:nvSpPr>
            <p:spPr>
              <a:xfrm>
                <a:off x="2826199" y="1725766"/>
                <a:ext cx="675826" cy="277000"/>
              </a:xfrm>
              <a:prstGeom prst="rect">
                <a:avLst/>
              </a:prstGeom>
              <a:noFill/>
            </p:spPr>
            <p:txBody>
              <a:bodyPr wrap="none" rtlCol="0">
                <a:spAutoFit/>
              </a:bodyPr>
              <a:lstStyle/>
              <a:p>
                <a:r>
                  <a:rPr lang="ru-RU" sz="1200" dirty="0"/>
                  <a:t>студент</a:t>
                </a:r>
              </a:p>
            </p:txBody>
          </p:sp>
        </p:grpSp>
      </p:grpSp>
      <p:grpSp>
        <p:nvGrpSpPr>
          <p:cNvPr id="29" name="Группа 28">
            <a:extLst>
              <a:ext uri="{FF2B5EF4-FFF2-40B4-BE49-F238E27FC236}">
                <a16:creationId xmlns:a16="http://schemas.microsoft.com/office/drawing/2014/main" id="{2161D6D8-02C4-5419-45C7-D76179EC68EF}"/>
              </a:ext>
            </a:extLst>
          </p:cNvPr>
          <p:cNvGrpSpPr/>
          <p:nvPr/>
        </p:nvGrpSpPr>
        <p:grpSpPr>
          <a:xfrm>
            <a:off x="4928315" y="598868"/>
            <a:ext cx="5786147" cy="184666"/>
            <a:chOff x="2659614" y="2814035"/>
            <a:chExt cx="5786147" cy="184666"/>
          </a:xfrm>
        </p:grpSpPr>
        <p:sp>
          <p:nvSpPr>
            <p:cNvPr id="30" name="TextBox 29">
              <a:extLst>
                <a:ext uri="{FF2B5EF4-FFF2-40B4-BE49-F238E27FC236}">
                  <a16:creationId xmlns:a16="http://schemas.microsoft.com/office/drawing/2014/main" id="{D10AD3DE-87C1-0A91-EF8C-A7CF30DE6D33}"/>
                </a:ext>
              </a:extLst>
            </p:cNvPr>
            <p:cNvSpPr txBox="1"/>
            <p:nvPr/>
          </p:nvSpPr>
          <p:spPr>
            <a:xfrm>
              <a:off x="2659614" y="2814035"/>
              <a:ext cx="502061" cy="184666"/>
            </a:xfrm>
            <a:prstGeom prst="rect">
              <a:avLst/>
            </a:prstGeom>
            <a:noFill/>
          </p:spPr>
          <p:txBody>
            <a:bodyPr wrap="none" lIns="0" tIns="0" rIns="0" bIns="0" rtlCol="0">
              <a:spAutoFit/>
            </a:bodyPr>
            <a:lstStyle/>
            <a:p>
              <a:r>
                <a:rPr lang="ru-RU" sz="1200" dirty="0"/>
                <a:t>главная</a:t>
              </a:r>
            </a:p>
          </p:txBody>
        </p:sp>
        <p:sp>
          <p:nvSpPr>
            <p:cNvPr id="31" name="TextBox 30">
              <a:extLst>
                <a:ext uri="{FF2B5EF4-FFF2-40B4-BE49-F238E27FC236}">
                  <a16:creationId xmlns:a16="http://schemas.microsoft.com/office/drawing/2014/main" id="{A203EA79-D38E-ADBC-B3B3-871913968910}"/>
                </a:ext>
              </a:extLst>
            </p:cNvPr>
            <p:cNvSpPr txBox="1"/>
            <p:nvPr/>
          </p:nvSpPr>
          <p:spPr>
            <a:xfrm>
              <a:off x="3353373" y="2814035"/>
              <a:ext cx="952890" cy="184666"/>
            </a:xfrm>
            <a:prstGeom prst="rect">
              <a:avLst/>
            </a:prstGeom>
            <a:noFill/>
          </p:spPr>
          <p:txBody>
            <a:bodyPr wrap="none" lIns="0" tIns="0" rIns="0" bIns="0" rtlCol="0">
              <a:spAutoFit/>
            </a:bodyPr>
            <a:lstStyle/>
            <a:p>
              <a:r>
                <a:rPr lang="ru-RU" sz="1200" dirty="0"/>
                <a:t>посещаемость</a:t>
              </a:r>
            </a:p>
          </p:txBody>
        </p:sp>
        <p:sp>
          <p:nvSpPr>
            <p:cNvPr id="32" name="TextBox 31">
              <a:extLst>
                <a:ext uri="{FF2B5EF4-FFF2-40B4-BE49-F238E27FC236}">
                  <a16:creationId xmlns:a16="http://schemas.microsoft.com/office/drawing/2014/main" id="{5814CC55-FEEF-41BA-5FE2-D2039915B26D}"/>
                </a:ext>
              </a:extLst>
            </p:cNvPr>
            <p:cNvSpPr txBox="1"/>
            <p:nvPr/>
          </p:nvSpPr>
          <p:spPr>
            <a:xfrm>
              <a:off x="4497961" y="2814035"/>
              <a:ext cx="693010" cy="184666"/>
            </a:xfrm>
            <a:prstGeom prst="rect">
              <a:avLst/>
            </a:prstGeom>
            <a:noFill/>
          </p:spPr>
          <p:txBody>
            <a:bodyPr wrap="none" lIns="0" tIns="0" rIns="0" bIns="0" rtlCol="0">
              <a:spAutoFit/>
            </a:bodyPr>
            <a:lstStyle/>
            <a:p>
              <a:r>
                <a:rPr lang="ru-RU" sz="1200" dirty="0"/>
                <a:t>статистика</a:t>
              </a:r>
            </a:p>
          </p:txBody>
        </p:sp>
        <p:sp>
          <p:nvSpPr>
            <p:cNvPr id="33" name="TextBox 32">
              <a:extLst>
                <a:ext uri="{FF2B5EF4-FFF2-40B4-BE49-F238E27FC236}">
                  <a16:creationId xmlns:a16="http://schemas.microsoft.com/office/drawing/2014/main" id="{46EB2264-2BD9-D108-EC03-444771EA1FAB}"/>
                </a:ext>
              </a:extLst>
            </p:cNvPr>
            <p:cNvSpPr txBox="1"/>
            <p:nvPr/>
          </p:nvSpPr>
          <p:spPr>
            <a:xfrm>
              <a:off x="5382668" y="2814035"/>
              <a:ext cx="1269707" cy="184666"/>
            </a:xfrm>
            <a:prstGeom prst="rect">
              <a:avLst/>
            </a:prstGeom>
            <a:noFill/>
          </p:spPr>
          <p:txBody>
            <a:bodyPr wrap="none" lIns="0" tIns="0" rIns="0" bIns="0" rtlCol="0">
              <a:spAutoFit/>
            </a:bodyPr>
            <a:lstStyle/>
            <a:p>
              <a:r>
                <a:rPr lang="ru-RU" sz="1200" dirty="0"/>
                <a:t>домашнее задание</a:t>
              </a:r>
            </a:p>
          </p:txBody>
        </p:sp>
        <p:sp>
          <p:nvSpPr>
            <p:cNvPr id="34" name="TextBox 33">
              <a:extLst>
                <a:ext uri="{FF2B5EF4-FFF2-40B4-BE49-F238E27FC236}">
                  <a16:creationId xmlns:a16="http://schemas.microsoft.com/office/drawing/2014/main" id="{3E0250C7-A340-4185-48EA-EFA459216A8E}"/>
                </a:ext>
              </a:extLst>
            </p:cNvPr>
            <p:cNvSpPr txBox="1"/>
            <p:nvPr/>
          </p:nvSpPr>
          <p:spPr>
            <a:xfrm>
              <a:off x="6844072" y="2814035"/>
              <a:ext cx="356829" cy="184666"/>
            </a:xfrm>
            <a:prstGeom prst="rect">
              <a:avLst/>
            </a:prstGeom>
            <a:noFill/>
          </p:spPr>
          <p:txBody>
            <a:bodyPr wrap="none" lIns="0" tIns="0" rIns="0" bIns="0" rtlCol="0">
              <a:spAutoFit/>
            </a:bodyPr>
            <a:lstStyle/>
            <a:p>
              <a:r>
                <a:rPr lang="ru-RU" sz="1200" dirty="0"/>
                <a:t>карта</a:t>
              </a:r>
            </a:p>
          </p:txBody>
        </p:sp>
        <p:sp>
          <p:nvSpPr>
            <p:cNvPr id="35" name="TextBox 34">
              <a:extLst>
                <a:ext uri="{FF2B5EF4-FFF2-40B4-BE49-F238E27FC236}">
                  <a16:creationId xmlns:a16="http://schemas.microsoft.com/office/drawing/2014/main" id="{722EA4D8-9B2B-482E-CB4D-4FF58B860FEB}"/>
                </a:ext>
              </a:extLst>
            </p:cNvPr>
            <p:cNvSpPr txBox="1"/>
            <p:nvPr/>
          </p:nvSpPr>
          <p:spPr>
            <a:xfrm>
              <a:off x="7398167" y="2814035"/>
              <a:ext cx="1047594" cy="184666"/>
            </a:xfrm>
            <a:prstGeom prst="rect">
              <a:avLst/>
            </a:prstGeom>
            <a:noFill/>
          </p:spPr>
          <p:txBody>
            <a:bodyPr wrap="none" lIns="0" tIns="0" rIns="0" bIns="0" rtlCol="0">
              <a:spAutoFit/>
            </a:bodyPr>
            <a:lstStyle/>
            <a:p>
              <a:r>
                <a:rPr lang="ru-RU" sz="1200" dirty="0"/>
                <a:t>заявки и тикеты</a:t>
              </a:r>
            </a:p>
          </p:txBody>
        </p:sp>
      </p:grpSp>
      <p:sp>
        <p:nvSpPr>
          <p:cNvPr id="36" name="Овал 35">
            <a:extLst>
              <a:ext uri="{FF2B5EF4-FFF2-40B4-BE49-F238E27FC236}">
                <a16:creationId xmlns:a16="http://schemas.microsoft.com/office/drawing/2014/main" id="{E0EC05AD-6BEE-5F02-EF03-BCE42F5CD45B}"/>
              </a:ext>
            </a:extLst>
          </p:cNvPr>
          <p:cNvSpPr/>
          <p:nvPr/>
        </p:nvSpPr>
        <p:spPr>
          <a:xfrm>
            <a:off x="11638209" y="96316"/>
            <a:ext cx="369194" cy="36919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TextBox 36">
            <a:extLst>
              <a:ext uri="{FF2B5EF4-FFF2-40B4-BE49-F238E27FC236}">
                <a16:creationId xmlns:a16="http://schemas.microsoft.com/office/drawing/2014/main" id="{FFC9FECC-B1BF-D5A1-B828-3B8F6C84E9A1}"/>
              </a:ext>
            </a:extLst>
          </p:cNvPr>
          <p:cNvSpPr txBox="1"/>
          <p:nvPr/>
        </p:nvSpPr>
        <p:spPr>
          <a:xfrm>
            <a:off x="11536669" y="188580"/>
            <a:ext cx="572273" cy="184666"/>
          </a:xfrm>
          <a:prstGeom prst="rect">
            <a:avLst/>
          </a:prstGeom>
          <a:noFill/>
        </p:spPr>
        <p:txBody>
          <a:bodyPr wrap="none" lIns="0" tIns="0" rIns="0" bIns="0" rtlCol="0">
            <a:spAutoFit/>
          </a:bodyPr>
          <a:lstStyle/>
          <a:p>
            <a:r>
              <a:rPr lang="ru-RU" sz="1200" dirty="0"/>
              <a:t>профиль</a:t>
            </a:r>
          </a:p>
        </p:txBody>
      </p:sp>
      <p:grpSp>
        <p:nvGrpSpPr>
          <p:cNvPr id="38" name="Группа 37">
            <a:extLst>
              <a:ext uri="{FF2B5EF4-FFF2-40B4-BE49-F238E27FC236}">
                <a16:creationId xmlns:a16="http://schemas.microsoft.com/office/drawing/2014/main" id="{46FFB054-2171-F3D3-2C47-67CAF1514E2E}"/>
              </a:ext>
            </a:extLst>
          </p:cNvPr>
          <p:cNvGrpSpPr/>
          <p:nvPr/>
        </p:nvGrpSpPr>
        <p:grpSpPr>
          <a:xfrm>
            <a:off x="10908405" y="513981"/>
            <a:ext cx="1167685" cy="596721"/>
            <a:chOff x="10908405" y="513981"/>
            <a:chExt cx="1167685" cy="596721"/>
          </a:xfrm>
        </p:grpSpPr>
        <p:sp>
          <p:nvSpPr>
            <p:cNvPr id="39" name="Прямоугольник 38">
              <a:extLst>
                <a:ext uri="{FF2B5EF4-FFF2-40B4-BE49-F238E27FC236}">
                  <a16:creationId xmlns:a16="http://schemas.microsoft.com/office/drawing/2014/main" id="{4327C0AC-5044-26E3-4551-9DCE9A0E8ECB}"/>
                </a:ext>
              </a:extLst>
            </p:cNvPr>
            <p:cNvSpPr/>
            <p:nvPr/>
          </p:nvSpPr>
          <p:spPr>
            <a:xfrm>
              <a:off x="10908405" y="513981"/>
              <a:ext cx="1167685" cy="59672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TextBox 39">
              <a:extLst>
                <a:ext uri="{FF2B5EF4-FFF2-40B4-BE49-F238E27FC236}">
                  <a16:creationId xmlns:a16="http://schemas.microsoft.com/office/drawing/2014/main" id="{4C68D776-2555-D1F3-4E34-EB209B894543}"/>
                </a:ext>
              </a:extLst>
            </p:cNvPr>
            <p:cNvSpPr txBox="1"/>
            <p:nvPr/>
          </p:nvSpPr>
          <p:spPr>
            <a:xfrm>
              <a:off x="11032536" y="603721"/>
              <a:ext cx="695703" cy="369332"/>
            </a:xfrm>
            <a:prstGeom prst="rect">
              <a:avLst/>
            </a:prstGeom>
            <a:noFill/>
          </p:spPr>
          <p:txBody>
            <a:bodyPr wrap="none" lIns="0" tIns="0" rIns="0" bIns="0" rtlCol="0">
              <a:spAutoFit/>
            </a:bodyPr>
            <a:lstStyle/>
            <a:p>
              <a:r>
                <a:rPr lang="ru-RU" sz="1200" dirty="0"/>
                <a:t>Настройки</a:t>
              </a:r>
              <a:br>
                <a:rPr lang="ru-RU" sz="1200" dirty="0"/>
              </a:br>
              <a:r>
                <a:rPr lang="ru-RU" sz="1200" dirty="0"/>
                <a:t>Выход</a:t>
              </a:r>
            </a:p>
          </p:txBody>
        </p:sp>
      </p:grpSp>
      <p:sp>
        <p:nvSpPr>
          <p:cNvPr id="8" name="Прямоугольник 7">
            <a:extLst>
              <a:ext uri="{FF2B5EF4-FFF2-40B4-BE49-F238E27FC236}">
                <a16:creationId xmlns:a16="http://schemas.microsoft.com/office/drawing/2014/main" id="{1901ECB3-C022-6DEF-02F7-22F37CC26A51}"/>
              </a:ext>
            </a:extLst>
          </p:cNvPr>
          <p:cNvSpPr/>
          <p:nvPr/>
        </p:nvSpPr>
        <p:spPr>
          <a:xfrm>
            <a:off x="4928315" y="1382402"/>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a:extLst>
              <a:ext uri="{FF2B5EF4-FFF2-40B4-BE49-F238E27FC236}">
                <a16:creationId xmlns:a16="http://schemas.microsoft.com/office/drawing/2014/main" id="{5CC16A51-75A9-7201-19E3-25B988894D3F}"/>
              </a:ext>
            </a:extLst>
          </p:cNvPr>
          <p:cNvSpPr txBox="1"/>
          <p:nvPr/>
        </p:nvSpPr>
        <p:spPr>
          <a:xfrm>
            <a:off x="5069913" y="1488455"/>
            <a:ext cx="379912" cy="184666"/>
          </a:xfrm>
          <a:prstGeom prst="rect">
            <a:avLst/>
          </a:prstGeom>
          <a:noFill/>
        </p:spPr>
        <p:txBody>
          <a:bodyPr wrap="none" lIns="0" tIns="0" rIns="0" bIns="0" rtlCol="0">
            <a:spAutoFit/>
          </a:bodyPr>
          <a:lstStyle/>
          <a:p>
            <a:r>
              <a:rPr lang="ru-RU" sz="1200" dirty="0"/>
              <a:t>% «+»</a:t>
            </a:r>
          </a:p>
        </p:txBody>
      </p:sp>
      <p:sp>
        <p:nvSpPr>
          <p:cNvPr id="10" name="Прямоугольник 9">
            <a:extLst>
              <a:ext uri="{FF2B5EF4-FFF2-40B4-BE49-F238E27FC236}">
                <a16:creationId xmlns:a16="http://schemas.microsoft.com/office/drawing/2014/main" id="{E61FBEA2-B51E-86B7-123F-D529C556D411}"/>
              </a:ext>
            </a:extLst>
          </p:cNvPr>
          <p:cNvSpPr/>
          <p:nvPr/>
        </p:nvSpPr>
        <p:spPr>
          <a:xfrm>
            <a:off x="6025165" y="1382402"/>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D93272E5-75B3-ACF4-5345-6C62EED2DBC8}"/>
              </a:ext>
            </a:extLst>
          </p:cNvPr>
          <p:cNvSpPr txBox="1"/>
          <p:nvPr/>
        </p:nvSpPr>
        <p:spPr>
          <a:xfrm>
            <a:off x="6166763" y="1488455"/>
            <a:ext cx="384721" cy="184666"/>
          </a:xfrm>
          <a:prstGeom prst="rect">
            <a:avLst/>
          </a:prstGeom>
          <a:noFill/>
        </p:spPr>
        <p:txBody>
          <a:bodyPr wrap="none" lIns="0" tIns="0" rIns="0" bIns="0" rtlCol="0">
            <a:spAutoFit/>
          </a:bodyPr>
          <a:lstStyle/>
          <a:p>
            <a:r>
              <a:rPr lang="ru-RU" sz="1200" dirty="0"/>
              <a:t>% «н»</a:t>
            </a:r>
          </a:p>
        </p:txBody>
      </p:sp>
      <p:sp>
        <p:nvSpPr>
          <p:cNvPr id="13" name="Прямоугольник 12">
            <a:extLst>
              <a:ext uri="{FF2B5EF4-FFF2-40B4-BE49-F238E27FC236}">
                <a16:creationId xmlns:a16="http://schemas.microsoft.com/office/drawing/2014/main" id="{F70578A0-C84D-389B-3CB3-8D49515D3130}"/>
              </a:ext>
            </a:extLst>
          </p:cNvPr>
          <p:cNvSpPr/>
          <p:nvPr/>
        </p:nvSpPr>
        <p:spPr>
          <a:xfrm>
            <a:off x="7201366" y="1382402"/>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a:extLst>
              <a:ext uri="{FF2B5EF4-FFF2-40B4-BE49-F238E27FC236}">
                <a16:creationId xmlns:a16="http://schemas.microsoft.com/office/drawing/2014/main" id="{D532F1FB-7D8B-E00C-D231-2A539B0076D8}"/>
              </a:ext>
            </a:extLst>
          </p:cNvPr>
          <p:cNvSpPr txBox="1"/>
          <p:nvPr/>
        </p:nvSpPr>
        <p:spPr>
          <a:xfrm>
            <a:off x="7342964" y="1488455"/>
            <a:ext cx="384721" cy="184666"/>
          </a:xfrm>
          <a:prstGeom prst="rect">
            <a:avLst/>
          </a:prstGeom>
          <a:noFill/>
        </p:spPr>
        <p:txBody>
          <a:bodyPr wrap="none" lIns="0" tIns="0" rIns="0" bIns="0" rtlCol="0">
            <a:spAutoFit/>
          </a:bodyPr>
          <a:lstStyle/>
          <a:p>
            <a:r>
              <a:rPr lang="ru-RU" sz="1200" dirty="0"/>
              <a:t>% «у»</a:t>
            </a:r>
          </a:p>
        </p:txBody>
      </p:sp>
      <p:sp>
        <p:nvSpPr>
          <p:cNvPr id="15" name="Прямоугольник 14">
            <a:extLst>
              <a:ext uri="{FF2B5EF4-FFF2-40B4-BE49-F238E27FC236}">
                <a16:creationId xmlns:a16="http://schemas.microsoft.com/office/drawing/2014/main" id="{47747E09-9E2F-42F9-3404-F97063A52F02}"/>
              </a:ext>
            </a:extLst>
          </p:cNvPr>
          <p:cNvSpPr/>
          <p:nvPr/>
        </p:nvSpPr>
        <p:spPr>
          <a:xfrm>
            <a:off x="8326121" y="1382402"/>
            <a:ext cx="1129754"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a:extLst>
              <a:ext uri="{FF2B5EF4-FFF2-40B4-BE49-F238E27FC236}">
                <a16:creationId xmlns:a16="http://schemas.microsoft.com/office/drawing/2014/main" id="{FBA066B7-E027-7ACA-0877-9FBB0245828D}"/>
              </a:ext>
            </a:extLst>
          </p:cNvPr>
          <p:cNvSpPr txBox="1"/>
          <p:nvPr/>
        </p:nvSpPr>
        <p:spPr>
          <a:xfrm>
            <a:off x="8423663" y="1488455"/>
            <a:ext cx="759823" cy="184666"/>
          </a:xfrm>
          <a:prstGeom prst="rect">
            <a:avLst/>
          </a:prstGeom>
          <a:noFill/>
        </p:spPr>
        <p:txBody>
          <a:bodyPr wrap="none" lIns="0" tIns="0" rIns="0" bIns="0" rtlCol="0">
            <a:spAutoFit/>
          </a:bodyPr>
          <a:lstStyle/>
          <a:p>
            <a:r>
              <a:rPr lang="ru-RU" sz="1200" dirty="0"/>
              <a:t>% «+» и «у»</a:t>
            </a:r>
          </a:p>
        </p:txBody>
      </p:sp>
      <p:sp>
        <p:nvSpPr>
          <p:cNvPr id="17" name="Прямоугольник 16">
            <a:extLst>
              <a:ext uri="{FF2B5EF4-FFF2-40B4-BE49-F238E27FC236}">
                <a16:creationId xmlns:a16="http://schemas.microsoft.com/office/drawing/2014/main" id="{D618A81B-4EA1-AB2E-3539-81110C8E2B57}"/>
              </a:ext>
            </a:extLst>
          </p:cNvPr>
          <p:cNvSpPr/>
          <p:nvPr/>
        </p:nvSpPr>
        <p:spPr>
          <a:xfrm>
            <a:off x="4928315" y="1880242"/>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E3119EBB-CEBA-5AEB-9AB5-9635F4E27B5A}"/>
              </a:ext>
            </a:extLst>
          </p:cNvPr>
          <p:cNvSpPr txBox="1"/>
          <p:nvPr/>
        </p:nvSpPr>
        <p:spPr>
          <a:xfrm>
            <a:off x="5069913" y="1915673"/>
            <a:ext cx="751552" cy="369332"/>
          </a:xfrm>
          <a:prstGeom prst="rect">
            <a:avLst/>
          </a:prstGeom>
          <a:noFill/>
        </p:spPr>
        <p:txBody>
          <a:bodyPr wrap="none" lIns="0" tIns="0" rIns="0" bIns="0" rtlCol="0">
            <a:spAutoFit/>
          </a:bodyPr>
          <a:lstStyle/>
          <a:p>
            <a:r>
              <a:rPr lang="ru-RU" sz="1200" dirty="0"/>
              <a:t>Количество</a:t>
            </a:r>
            <a:br>
              <a:rPr lang="ru-RU" sz="1200" dirty="0"/>
            </a:br>
            <a:r>
              <a:rPr lang="ru-RU" sz="1200" dirty="0"/>
              <a:t> «+»</a:t>
            </a:r>
          </a:p>
        </p:txBody>
      </p:sp>
      <p:sp>
        <p:nvSpPr>
          <p:cNvPr id="19" name="Прямоугольник 18">
            <a:extLst>
              <a:ext uri="{FF2B5EF4-FFF2-40B4-BE49-F238E27FC236}">
                <a16:creationId xmlns:a16="http://schemas.microsoft.com/office/drawing/2014/main" id="{3FBFA488-EC5C-C65A-5E4F-445DF9F1F5E1}"/>
              </a:ext>
            </a:extLst>
          </p:cNvPr>
          <p:cNvSpPr/>
          <p:nvPr/>
        </p:nvSpPr>
        <p:spPr>
          <a:xfrm>
            <a:off x="6025165" y="1880242"/>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Box 20">
            <a:extLst>
              <a:ext uri="{FF2B5EF4-FFF2-40B4-BE49-F238E27FC236}">
                <a16:creationId xmlns:a16="http://schemas.microsoft.com/office/drawing/2014/main" id="{8166C922-8AF3-71F8-2591-9A4A3CBB7008}"/>
              </a:ext>
            </a:extLst>
          </p:cNvPr>
          <p:cNvSpPr txBox="1"/>
          <p:nvPr/>
        </p:nvSpPr>
        <p:spPr>
          <a:xfrm>
            <a:off x="6166763" y="1910608"/>
            <a:ext cx="751552" cy="369332"/>
          </a:xfrm>
          <a:prstGeom prst="rect">
            <a:avLst/>
          </a:prstGeom>
          <a:noFill/>
        </p:spPr>
        <p:txBody>
          <a:bodyPr wrap="none" lIns="0" tIns="0" rIns="0" bIns="0" rtlCol="0">
            <a:spAutoFit/>
          </a:bodyPr>
          <a:lstStyle/>
          <a:p>
            <a:r>
              <a:rPr lang="ru-RU" sz="1200" dirty="0"/>
              <a:t>Количество</a:t>
            </a:r>
            <a:br>
              <a:rPr lang="ru-RU" sz="1200" dirty="0"/>
            </a:br>
            <a:r>
              <a:rPr lang="ru-RU" sz="1200" dirty="0"/>
              <a:t>«н»</a:t>
            </a:r>
          </a:p>
        </p:txBody>
      </p:sp>
      <p:sp>
        <p:nvSpPr>
          <p:cNvPr id="23" name="Прямоугольник 22">
            <a:extLst>
              <a:ext uri="{FF2B5EF4-FFF2-40B4-BE49-F238E27FC236}">
                <a16:creationId xmlns:a16="http://schemas.microsoft.com/office/drawing/2014/main" id="{2BB0CCAF-870D-2C4F-B916-B349539E5E0B}"/>
              </a:ext>
            </a:extLst>
          </p:cNvPr>
          <p:cNvSpPr/>
          <p:nvPr/>
        </p:nvSpPr>
        <p:spPr>
          <a:xfrm>
            <a:off x="7201366" y="1880242"/>
            <a:ext cx="1034603"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TextBox 23">
            <a:extLst>
              <a:ext uri="{FF2B5EF4-FFF2-40B4-BE49-F238E27FC236}">
                <a16:creationId xmlns:a16="http://schemas.microsoft.com/office/drawing/2014/main" id="{CB54755D-5E03-62AA-2C95-26DDFF86FC8C}"/>
              </a:ext>
            </a:extLst>
          </p:cNvPr>
          <p:cNvSpPr txBox="1"/>
          <p:nvPr/>
        </p:nvSpPr>
        <p:spPr>
          <a:xfrm>
            <a:off x="7342964" y="1910608"/>
            <a:ext cx="751552" cy="369332"/>
          </a:xfrm>
          <a:prstGeom prst="rect">
            <a:avLst/>
          </a:prstGeom>
          <a:noFill/>
        </p:spPr>
        <p:txBody>
          <a:bodyPr wrap="none" lIns="0" tIns="0" rIns="0" bIns="0" rtlCol="0">
            <a:spAutoFit/>
          </a:bodyPr>
          <a:lstStyle/>
          <a:p>
            <a:r>
              <a:rPr lang="ru-RU" sz="1200" dirty="0"/>
              <a:t>Количество</a:t>
            </a:r>
            <a:br>
              <a:rPr lang="ru-RU" sz="1200" dirty="0"/>
            </a:br>
            <a:r>
              <a:rPr lang="ru-RU" sz="1200" dirty="0"/>
              <a:t>«у»</a:t>
            </a:r>
          </a:p>
        </p:txBody>
      </p:sp>
      <p:sp>
        <p:nvSpPr>
          <p:cNvPr id="25" name="Прямоугольник 24">
            <a:extLst>
              <a:ext uri="{FF2B5EF4-FFF2-40B4-BE49-F238E27FC236}">
                <a16:creationId xmlns:a16="http://schemas.microsoft.com/office/drawing/2014/main" id="{577118F1-CECE-6DDA-5BF8-53F4E8D498DD}"/>
              </a:ext>
            </a:extLst>
          </p:cNvPr>
          <p:cNvSpPr/>
          <p:nvPr/>
        </p:nvSpPr>
        <p:spPr>
          <a:xfrm>
            <a:off x="8326121" y="1880242"/>
            <a:ext cx="1129754" cy="44019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TextBox 25">
            <a:extLst>
              <a:ext uri="{FF2B5EF4-FFF2-40B4-BE49-F238E27FC236}">
                <a16:creationId xmlns:a16="http://schemas.microsoft.com/office/drawing/2014/main" id="{CA0102F2-6654-8E74-90D3-8DCB80C4F4D3}"/>
              </a:ext>
            </a:extLst>
          </p:cNvPr>
          <p:cNvSpPr txBox="1"/>
          <p:nvPr/>
        </p:nvSpPr>
        <p:spPr>
          <a:xfrm>
            <a:off x="8423663" y="1910608"/>
            <a:ext cx="751552" cy="369332"/>
          </a:xfrm>
          <a:prstGeom prst="rect">
            <a:avLst/>
          </a:prstGeom>
          <a:noFill/>
        </p:spPr>
        <p:txBody>
          <a:bodyPr wrap="none" lIns="0" tIns="0" rIns="0" bIns="0" rtlCol="0">
            <a:spAutoFit/>
          </a:bodyPr>
          <a:lstStyle/>
          <a:p>
            <a:r>
              <a:rPr lang="ru-RU" sz="1200" dirty="0"/>
              <a:t>Количество</a:t>
            </a:r>
          </a:p>
          <a:p>
            <a:r>
              <a:rPr lang="ru-RU" sz="1200" dirty="0"/>
              <a:t> «+» и «у»</a:t>
            </a:r>
          </a:p>
        </p:txBody>
      </p:sp>
      <p:sp>
        <p:nvSpPr>
          <p:cNvPr id="27" name="Прямоугольник 26">
            <a:extLst>
              <a:ext uri="{FF2B5EF4-FFF2-40B4-BE49-F238E27FC236}">
                <a16:creationId xmlns:a16="http://schemas.microsoft.com/office/drawing/2014/main" id="{B7BD7DE6-8859-81BB-F2F6-B0BB3980CC17}"/>
              </a:ext>
            </a:extLst>
          </p:cNvPr>
          <p:cNvSpPr/>
          <p:nvPr/>
        </p:nvSpPr>
        <p:spPr>
          <a:xfrm>
            <a:off x="9553417" y="1382402"/>
            <a:ext cx="2522673" cy="93803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8" name="TextBox 27">
            <a:extLst>
              <a:ext uri="{FF2B5EF4-FFF2-40B4-BE49-F238E27FC236}">
                <a16:creationId xmlns:a16="http://schemas.microsoft.com/office/drawing/2014/main" id="{2ED1B2F3-98FF-C006-5B4C-A23A9E8DA205}"/>
              </a:ext>
            </a:extLst>
          </p:cNvPr>
          <p:cNvSpPr txBox="1"/>
          <p:nvPr/>
        </p:nvSpPr>
        <p:spPr>
          <a:xfrm>
            <a:off x="9695015" y="1482087"/>
            <a:ext cx="2381075" cy="738664"/>
          </a:xfrm>
          <a:prstGeom prst="rect">
            <a:avLst/>
          </a:prstGeom>
          <a:noFill/>
        </p:spPr>
        <p:txBody>
          <a:bodyPr wrap="square" lIns="0" tIns="0" rIns="0" bIns="0" rtlCol="0">
            <a:spAutoFit/>
          </a:bodyPr>
          <a:lstStyle/>
          <a:p>
            <a:r>
              <a:rPr lang="ru-RU" sz="1200" dirty="0"/>
              <a:t>Рейтинг в группе по «+»</a:t>
            </a:r>
            <a:br>
              <a:rPr lang="ru-RU" sz="1200" dirty="0"/>
            </a:br>
            <a:r>
              <a:rPr lang="ru-RU" sz="1200" dirty="0"/>
              <a:t>+ плюс показывается серым кто выше и ниже и можно листать и прокручивать (с данными по «+»</a:t>
            </a:r>
          </a:p>
        </p:txBody>
      </p:sp>
      <p:sp>
        <p:nvSpPr>
          <p:cNvPr id="62" name="Прямоугольник 61">
            <a:extLst>
              <a:ext uri="{FF2B5EF4-FFF2-40B4-BE49-F238E27FC236}">
                <a16:creationId xmlns:a16="http://schemas.microsoft.com/office/drawing/2014/main" id="{AEBD5CB9-16E3-8965-D6C3-5DB0F804D616}"/>
              </a:ext>
            </a:extLst>
          </p:cNvPr>
          <p:cNvSpPr/>
          <p:nvPr/>
        </p:nvSpPr>
        <p:spPr>
          <a:xfrm>
            <a:off x="4928314" y="2541387"/>
            <a:ext cx="7147776"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TextBox 67">
            <a:extLst>
              <a:ext uri="{FF2B5EF4-FFF2-40B4-BE49-F238E27FC236}">
                <a16:creationId xmlns:a16="http://schemas.microsoft.com/office/drawing/2014/main" id="{6504C709-0E6D-A86F-9F81-AB77878706A7}"/>
              </a:ext>
            </a:extLst>
          </p:cNvPr>
          <p:cNvSpPr txBox="1"/>
          <p:nvPr/>
        </p:nvSpPr>
        <p:spPr>
          <a:xfrm>
            <a:off x="5007396" y="2592868"/>
            <a:ext cx="867930" cy="184666"/>
          </a:xfrm>
          <a:prstGeom prst="rect">
            <a:avLst/>
          </a:prstGeom>
          <a:noFill/>
        </p:spPr>
        <p:txBody>
          <a:bodyPr wrap="none" lIns="0" tIns="0" rIns="0" bIns="0" rtlCol="0">
            <a:spAutoFit/>
          </a:bodyPr>
          <a:lstStyle/>
          <a:p>
            <a:r>
              <a:rPr lang="ru-RU" sz="1200" dirty="0"/>
              <a:t>Семестр весь</a:t>
            </a:r>
          </a:p>
        </p:txBody>
      </p:sp>
      <p:sp>
        <p:nvSpPr>
          <p:cNvPr id="104" name="TextBox 103">
            <a:extLst>
              <a:ext uri="{FF2B5EF4-FFF2-40B4-BE49-F238E27FC236}">
                <a16:creationId xmlns:a16="http://schemas.microsoft.com/office/drawing/2014/main" id="{04E62220-82E4-0F61-1AC2-E71DAE4AE480}"/>
              </a:ext>
            </a:extLst>
          </p:cNvPr>
          <p:cNvSpPr txBox="1"/>
          <p:nvPr/>
        </p:nvSpPr>
        <p:spPr>
          <a:xfrm>
            <a:off x="6745397" y="2592868"/>
            <a:ext cx="482824" cy="184666"/>
          </a:xfrm>
          <a:prstGeom prst="rect">
            <a:avLst/>
          </a:prstGeom>
          <a:noFill/>
        </p:spPr>
        <p:txBody>
          <a:bodyPr wrap="none" lIns="0" tIns="0" rIns="0" bIns="0" rtlCol="0">
            <a:spAutoFit/>
          </a:bodyPr>
          <a:lstStyle/>
          <a:p>
            <a:r>
              <a:rPr lang="ru-RU" sz="1200" dirty="0"/>
              <a:t>Неделя</a:t>
            </a:r>
          </a:p>
        </p:txBody>
      </p:sp>
      <p:sp>
        <p:nvSpPr>
          <p:cNvPr id="105" name="TextBox 104">
            <a:extLst>
              <a:ext uri="{FF2B5EF4-FFF2-40B4-BE49-F238E27FC236}">
                <a16:creationId xmlns:a16="http://schemas.microsoft.com/office/drawing/2014/main" id="{A49C427B-EFE9-8FDC-EAE7-D0840259846E}"/>
              </a:ext>
            </a:extLst>
          </p:cNvPr>
          <p:cNvSpPr txBox="1"/>
          <p:nvPr/>
        </p:nvSpPr>
        <p:spPr>
          <a:xfrm>
            <a:off x="7342964" y="2592868"/>
            <a:ext cx="2107372" cy="184666"/>
          </a:xfrm>
          <a:prstGeom prst="rect">
            <a:avLst/>
          </a:prstGeom>
          <a:noFill/>
        </p:spPr>
        <p:txBody>
          <a:bodyPr wrap="none" lIns="0" tIns="0" rIns="0" bIns="0" rtlCol="0">
            <a:spAutoFit/>
          </a:bodyPr>
          <a:lstStyle/>
          <a:p>
            <a:r>
              <a:rPr lang="en-US" sz="1200" dirty="0"/>
              <a:t>&lt;- </a:t>
            </a:r>
            <a:r>
              <a:rPr lang="ru-RU" sz="1200" dirty="0"/>
              <a:t>  </a:t>
            </a:r>
            <a:r>
              <a:rPr lang="en-US" sz="1200" dirty="0"/>
              <a:t>00.00 – 00.00 </a:t>
            </a:r>
            <a:r>
              <a:rPr lang="ru-RU" sz="1200" dirty="0"/>
              <a:t>№ чётность   </a:t>
            </a:r>
            <a:r>
              <a:rPr lang="en-US" sz="1200" dirty="0"/>
              <a:t>-&gt;</a:t>
            </a:r>
            <a:endParaRPr lang="ru-RU" sz="1200" dirty="0"/>
          </a:p>
        </p:txBody>
      </p:sp>
      <p:sp>
        <p:nvSpPr>
          <p:cNvPr id="106" name="Прямоугольник 105">
            <a:extLst>
              <a:ext uri="{FF2B5EF4-FFF2-40B4-BE49-F238E27FC236}">
                <a16:creationId xmlns:a16="http://schemas.microsoft.com/office/drawing/2014/main" id="{FA43EB36-79C7-6586-BBB4-9BAB7F3943E2}"/>
              </a:ext>
            </a:extLst>
          </p:cNvPr>
          <p:cNvSpPr/>
          <p:nvPr/>
        </p:nvSpPr>
        <p:spPr>
          <a:xfrm>
            <a:off x="4924059" y="2884726"/>
            <a:ext cx="7147776" cy="1062838"/>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7" name="TextBox 106">
            <a:extLst>
              <a:ext uri="{FF2B5EF4-FFF2-40B4-BE49-F238E27FC236}">
                <a16:creationId xmlns:a16="http://schemas.microsoft.com/office/drawing/2014/main" id="{CAF3311B-69DA-194E-6B08-FC885A3D09C0}"/>
              </a:ext>
            </a:extLst>
          </p:cNvPr>
          <p:cNvSpPr txBox="1"/>
          <p:nvPr/>
        </p:nvSpPr>
        <p:spPr>
          <a:xfrm>
            <a:off x="4977805" y="3059668"/>
            <a:ext cx="5984715" cy="553998"/>
          </a:xfrm>
          <a:prstGeom prst="rect">
            <a:avLst/>
          </a:prstGeom>
          <a:noFill/>
        </p:spPr>
        <p:txBody>
          <a:bodyPr wrap="none" lIns="0" tIns="0" rIns="0" bIns="0" rtlCol="0">
            <a:spAutoFit/>
          </a:bodyPr>
          <a:lstStyle/>
          <a:p>
            <a:r>
              <a:rPr lang="ru-RU" sz="1200" dirty="0"/>
              <a:t>График снизу номер недели если выбран по семестру или же дата. </a:t>
            </a:r>
          </a:p>
          <a:p>
            <a:r>
              <a:rPr lang="ru-RU" sz="1200" dirty="0"/>
              <a:t>График посещаемости (только «+») и + второй график на этом же тренд средний по группе </a:t>
            </a:r>
          </a:p>
          <a:p>
            <a:r>
              <a:rPr lang="ru-RU" sz="1200" dirty="0"/>
              <a:t>(аналогично только по «+») </a:t>
            </a:r>
          </a:p>
        </p:txBody>
      </p:sp>
      <p:sp>
        <p:nvSpPr>
          <p:cNvPr id="138" name="TextBox 137">
            <a:extLst>
              <a:ext uri="{FF2B5EF4-FFF2-40B4-BE49-F238E27FC236}">
                <a16:creationId xmlns:a16="http://schemas.microsoft.com/office/drawing/2014/main" id="{3A038A8A-5790-523B-3429-5086D45BD6EC}"/>
              </a:ext>
            </a:extLst>
          </p:cNvPr>
          <p:cNvSpPr txBox="1"/>
          <p:nvPr/>
        </p:nvSpPr>
        <p:spPr>
          <a:xfrm>
            <a:off x="5517952" y="4284506"/>
            <a:ext cx="737574" cy="184666"/>
          </a:xfrm>
          <a:prstGeom prst="rect">
            <a:avLst/>
          </a:prstGeom>
          <a:noFill/>
        </p:spPr>
        <p:txBody>
          <a:bodyPr wrap="none" lIns="0" tIns="0" rIns="0" bIns="0" rtlCol="0">
            <a:spAutoFit/>
          </a:bodyPr>
          <a:lstStyle/>
          <a:p>
            <a:r>
              <a:rPr lang="ru-RU" sz="1200" dirty="0"/>
              <a:t>посещение</a:t>
            </a:r>
          </a:p>
        </p:txBody>
      </p:sp>
      <p:sp>
        <p:nvSpPr>
          <p:cNvPr id="139" name="TextBox 138">
            <a:extLst>
              <a:ext uri="{FF2B5EF4-FFF2-40B4-BE49-F238E27FC236}">
                <a16:creationId xmlns:a16="http://schemas.microsoft.com/office/drawing/2014/main" id="{10A6758C-3EF7-D519-603D-1C360CDF6E08}"/>
              </a:ext>
            </a:extLst>
          </p:cNvPr>
          <p:cNvSpPr txBox="1"/>
          <p:nvPr/>
        </p:nvSpPr>
        <p:spPr>
          <a:xfrm>
            <a:off x="4979087" y="4531094"/>
            <a:ext cx="561564" cy="184666"/>
          </a:xfrm>
          <a:prstGeom prst="rect">
            <a:avLst/>
          </a:prstGeom>
          <a:noFill/>
        </p:spPr>
        <p:txBody>
          <a:bodyPr wrap="none" lIns="0" tIns="0" rIns="0" bIns="0" rtlCol="0">
            <a:spAutoFit/>
          </a:bodyPr>
          <a:lstStyle/>
          <a:p>
            <a:r>
              <a:rPr lang="ru-RU" sz="1200" dirty="0"/>
              <a:t>предмет</a:t>
            </a:r>
          </a:p>
        </p:txBody>
      </p:sp>
      <p:cxnSp>
        <p:nvCxnSpPr>
          <p:cNvPr id="141" name="Прямая соединительная линия 140">
            <a:extLst>
              <a:ext uri="{FF2B5EF4-FFF2-40B4-BE49-F238E27FC236}">
                <a16:creationId xmlns:a16="http://schemas.microsoft.com/office/drawing/2014/main" id="{126BFDD5-1430-FB3D-A095-8A9599CC1B51}"/>
              </a:ext>
            </a:extLst>
          </p:cNvPr>
          <p:cNvCxnSpPr/>
          <p:nvPr/>
        </p:nvCxnSpPr>
        <p:spPr>
          <a:xfrm>
            <a:off x="6394775" y="4188758"/>
            <a:ext cx="0" cy="257292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3" name="Прямая соединительная линия 142">
            <a:extLst>
              <a:ext uri="{FF2B5EF4-FFF2-40B4-BE49-F238E27FC236}">
                <a16:creationId xmlns:a16="http://schemas.microsoft.com/office/drawing/2014/main" id="{BF78CD2A-34FA-D379-B9C9-846A292E2E9C}"/>
              </a:ext>
            </a:extLst>
          </p:cNvPr>
          <p:cNvCxnSpPr/>
          <p:nvPr/>
        </p:nvCxnSpPr>
        <p:spPr>
          <a:xfrm>
            <a:off x="4924059" y="4188758"/>
            <a:ext cx="1470716" cy="61394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5" name="Прямая соединительная линия 144">
            <a:extLst>
              <a:ext uri="{FF2B5EF4-FFF2-40B4-BE49-F238E27FC236}">
                <a16:creationId xmlns:a16="http://schemas.microsoft.com/office/drawing/2014/main" id="{FACF01DE-C151-C2B9-2B3E-33486D9BFF6B}"/>
              </a:ext>
            </a:extLst>
          </p:cNvPr>
          <p:cNvCxnSpPr>
            <a:cxnSpLocks/>
          </p:cNvCxnSpPr>
          <p:nvPr/>
        </p:nvCxnSpPr>
        <p:spPr>
          <a:xfrm flipH="1">
            <a:off x="4924059" y="4802700"/>
            <a:ext cx="7147776" cy="0"/>
          </a:xfrm>
          <a:prstGeom prst="line">
            <a:avLst/>
          </a:prstGeom>
        </p:spPr>
        <p:style>
          <a:lnRef idx="2">
            <a:schemeClr val="accent1"/>
          </a:lnRef>
          <a:fillRef idx="0">
            <a:schemeClr val="accent1"/>
          </a:fillRef>
          <a:effectRef idx="1">
            <a:schemeClr val="accent1"/>
          </a:effectRef>
          <a:fontRef idx="minor">
            <a:schemeClr val="tx1"/>
          </a:fontRef>
        </p:style>
      </p:cxnSp>
      <p:sp>
        <p:nvSpPr>
          <p:cNvPr id="157" name="TextBox 156">
            <a:extLst>
              <a:ext uri="{FF2B5EF4-FFF2-40B4-BE49-F238E27FC236}">
                <a16:creationId xmlns:a16="http://schemas.microsoft.com/office/drawing/2014/main" id="{0160D78A-B288-FBB0-85EC-B5091D758A8E}"/>
              </a:ext>
            </a:extLst>
          </p:cNvPr>
          <p:cNvSpPr txBox="1"/>
          <p:nvPr/>
        </p:nvSpPr>
        <p:spPr>
          <a:xfrm>
            <a:off x="5261395" y="5025281"/>
            <a:ext cx="577594" cy="184666"/>
          </a:xfrm>
          <a:prstGeom prst="rect">
            <a:avLst/>
          </a:prstGeom>
          <a:noFill/>
        </p:spPr>
        <p:txBody>
          <a:bodyPr wrap="none" lIns="0" tIns="0" rIns="0" bIns="0" rtlCol="0">
            <a:spAutoFit/>
          </a:bodyPr>
          <a:lstStyle/>
          <a:p>
            <a:r>
              <a:rPr lang="ru-RU" sz="1200" dirty="0"/>
              <a:t>Предмет</a:t>
            </a:r>
          </a:p>
        </p:txBody>
      </p:sp>
      <p:sp>
        <p:nvSpPr>
          <p:cNvPr id="158" name="TextBox 157">
            <a:extLst>
              <a:ext uri="{FF2B5EF4-FFF2-40B4-BE49-F238E27FC236}">
                <a16:creationId xmlns:a16="http://schemas.microsoft.com/office/drawing/2014/main" id="{9ACCC55F-2120-0ABC-E490-5703777115CF}"/>
              </a:ext>
            </a:extLst>
          </p:cNvPr>
          <p:cNvSpPr txBox="1"/>
          <p:nvPr/>
        </p:nvSpPr>
        <p:spPr>
          <a:xfrm>
            <a:off x="5261395" y="5369545"/>
            <a:ext cx="577594" cy="184666"/>
          </a:xfrm>
          <a:prstGeom prst="rect">
            <a:avLst/>
          </a:prstGeom>
          <a:noFill/>
        </p:spPr>
        <p:txBody>
          <a:bodyPr wrap="none" lIns="0" tIns="0" rIns="0" bIns="0" rtlCol="0">
            <a:spAutoFit/>
          </a:bodyPr>
          <a:lstStyle/>
          <a:p>
            <a:r>
              <a:rPr lang="ru-RU" sz="1200" dirty="0"/>
              <a:t>Предмет</a:t>
            </a:r>
          </a:p>
        </p:txBody>
      </p:sp>
      <p:sp>
        <p:nvSpPr>
          <p:cNvPr id="159" name="TextBox 158">
            <a:extLst>
              <a:ext uri="{FF2B5EF4-FFF2-40B4-BE49-F238E27FC236}">
                <a16:creationId xmlns:a16="http://schemas.microsoft.com/office/drawing/2014/main" id="{46B39E11-7E40-C05B-9549-3ACBA509F8ED}"/>
              </a:ext>
            </a:extLst>
          </p:cNvPr>
          <p:cNvSpPr txBox="1"/>
          <p:nvPr/>
        </p:nvSpPr>
        <p:spPr>
          <a:xfrm>
            <a:off x="5261395" y="5694923"/>
            <a:ext cx="577594" cy="184666"/>
          </a:xfrm>
          <a:prstGeom prst="rect">
            <a:avLst/>
          </a:prstGeom>
          <a:noFill/>
        </p:spPr>
        <p:txBody>
          <a:bodyPr wrap="none" lIns="0" tIns="0" rIns="0" bIns="0" rtlCol="0">
            <a:spAutoFit/>
          </a:bodyPr>
          <a:lstStyle/>
          <a:p>
            <a:r>
              <a:rPr lang="ru-RU" sz="1200" dirty="0"/>
              <a:t>Предмет</a:t>
            </a:r>
          </a:p>
        </p:txBody>
      </p:sp>
      <p:sp>
        <p:nvSpPr>
          <p:cNvPr id="160" name="TextBox 159">
            <a:extLst>
              <a:ext uri="{FF2B5EF4-FFF2-40B4-BE49-F238E27FC236}">
                <a16:creationId xmlns:a16="http://schemas.microsoft.com/office/drawing/2014/main" id="{5B6485FC-2530-496B-1232-63114F89F2A0}"/>
              </a:ext>
            </a:extLst>
          </p:cNvPr>
          <p:cNvSpPr txBox="1"/>
          <p:nvPr/>
        </p:nvSpPr>
        <p:spPr>
          <a:xfrm>
            <a:off x="5261395" y="6135970"/>
            <a:ext cx="577594" cy="184666"/>
          </a:xfrm>
          <a:prstGeom prst="rect">
            <a:avLst/>
          </a:prstGeom>
          <a:noFill/>
        </p:spPr>
        <p:txBody>
          <a:bodyPr wrap="none" lIns="0" tIns="0" rIns="0" bIns="0" rtlCol="0">
            <a:spAutoFit/>
          </a:bodyPr>
          <a:lstStyle/>
          <a:p>
            <a:r>
              <a:rPr lang="ru-RU" sz="1200" dirty="0"/>
              <a:t>Предмет</a:t>
            </a:r>
          </a:p>
        </p:txBody>
      </p:sp>
      <p:sp>
        <p:nvSpPr>
          <p:cNvPr id="161" name="TextBox 160">
            <a:extLst>
              <a:ext uri="{FF2B5EF4-FFF2-40B4-BE49-F238E27FC236}">
                <a16:creationId xmlns:a16="http://schemas.microsoft.com/office/drawing/2014/main" id="{66A91122-0D6B-A001-BEED-1E87CF0D6C29}"/>
              </a:ext>
            </a:extLst>
          </p:cNvPr>
          <p:cNvSpPr txBox="1"/>
          <p:nvPr/>
        </p:nvSpPr>
        <p:spPr>
          <a:xfrm>
            <a:off x="6621956" y="4367840"/>
            <a:ext cx="379912" cy="184666"/>
          </a:xfrm>
          <a:prstGeom prst="rect">
            <a:avLst/>
          </a:prstGeom>
          <a:noFill/>
        </p:spPr>
        <p:txBody>
          <a:bodyPr wrap="none" lIns="0" tIns="0" rIns="0" bIns="0" rtlCol="0">
            <a:spAutoFit/>
          </a:bodyPr>
          <a:lstStyle/>
          <a:p>
            <a:r>
              <a:rPr lang="ru-RU" sz="1200" dirty="0"/>
              <a:t>% «+»</a:t>
            </a:r>
          </a:p>
        </p:txBody>
      </p:sp>
      <p:sp>
        <p:nvSpPr>
          <p:cNvPr id="162" name="TextBox 161">
            <a:extLst>
              <a:ext uri="{FF2B5EF4-FFF2-40B4-BE49-F238E27FC236}">
                <a16:creationId xmlns:a16="http://schemas.microsoft.com/office/drawing/2014/main" id="{2E2C6956-1823-9C9C-FD3A-535D2403BFCE}"/>
              </a:ext>
            </a:extLst>
          </p:cNvPr>
          <p:cNvSpPr txBox="1"/>
          <p:nvPr/>
        </p:nvSpPr>
        <p:spPr>
          <a:xfrm>
            <a:off x="7268251" y="4367840"/>
            <a:ext cx="384721" cy="184666"/>
          </a:xfrm>
          <a:prstGeom prst="rect">
            <a:avLst/>
          </a:prstGeom>
          <a:noFill/>
        </p:spPr>
        <p:txBody>
          <a:bodyPr wrap="none" lIns="0" tIns="0" rIns="0" bIns="0" rtlCol="0">
            <a:spAutoFit/>
          </a:bodyPr>
          <a:lstStyle/>
          <a:p>
            <a:r>
              <a:rPr lang="ru-RU" sz="1200" dirty="0"/>
              <a:t>% «н»</a:t>
            </a:r>
          </a:p>
        </p:txBody>
      </p:sp>
      <p:sp>
        <p:nvSpPr>
          <p:cNvPr id="163" name="TextBox 162">
            <a:extLst>
              <a:ext uri="{FF2B5EF4-FFF2-40B4-BE49-F238E27FC236}">
                <a16:creationId xmlns:a16="http://schemas.microsoft.com/office/drawing/2014/main" id="{899119BC-F162-DFA6-AA65-D03027988CAE}"/>
              </a:ext>
            </a:extLst>
          </p:cNvPr>
          <p:cNvSpPr txBox="1"/>
          <p:nvPr/>
        </p:nvSpPr>
        <p:spPr>
          <a:xfrm>
            <a:off x="7865491" y="4367840"/>
            <a:ext cx="371897" cy="184666"/>
          </a:xfrm>
          <a:prstGeom prst="rect">
            <a:avLst/>
          </a:prstGeom>
          <a:noFill/>
        </p:spPr>
        <p:txBody>
          <a:bodyPr wrap="none" lIns="0" tIns="0" rIns="0" bIns="0" rtlCol="0">
            <a:spAutoFit/>
          </a:bodyPr>
          <a:lstStyle/>
          <a:p>
            <a:r>
              <a:rPr lang="ru-RU" sz="1200" dirty="0"/>
              <a:t>% «у»</a:t>
            </a:r>
          </a:p>
        </p:txBody>
      </p:sp>
      <p:sp>
        <p:nvSpPr>
          <p:cNvPr id="164" name="TextBox 163">
            <a:extLst>
              <a:ext uri="{FF2B5EF4-FFF2-40B4-BE49-F238E27FC236}">
                <a16:creationId xmlns:a16="http://schemas.microsoft.com/office/drawing/2014/main" id="{B92F3966-8465-DB05-AF1D-E0F26D6EA9BA}"/>
              </a:ext>
            </a:extLst>
          </p:cNvPr>
          <p:cNvSpPr txBox="1"/>
          <p:nvPr/>
        </p:nvSpPr>
        <p:spPr>
          <a:xfrm>
            <a:off x="8535046" y="4367840"/>
            <a:ext cx="759823" cy="184666"/>
          </a:xfrm>
          <a:prstGeom prst="rect">
            <a:avLst/>
          </a:prstGeom>
          <a:noFill/>
        </p:spPr>
        <p:txBody>
          <a:bodyPr wrap="none" lIns="0" tIns="0" rIns="0" bIns="0" rtlCol="0">
            <a:spAutoFit/>
          </a:bodyPr>
          <a:lstStyle/>
          <a:p>
            <a:r>
              <a:rPr lang="ru-RU" sz="1200" dirty="0"/>
              <a:t>% «+» и «у»</a:t>
            </a:r>
          </a:p>
        </p:txBody>
      </p:sp>
      <p:sp>
        <p:nvSpPr>
          <p:cNvPr id="166" name="Прямоугольник 165">
            <a:extLst>
              <a:ext uri="{FF2B5EF4-FFF2-40B4-BE49-F238E27FC236}">
                <a16:creationId xmlns:a16="http://schemas.microsoft.com/office/drawing/2014/main" id="{9C5106E8-7264-70DD-AE02-10FB001C659F}"/>
              </a:ext>
            </a:extLst>
          </p:cNvPr>
          <p:cNvSpPr/>
          <p:nvPr/>
        </p:nvSpPr>
        <p:spPr>
          <a:xfrm>
            <a:off x="9709310" y="4321420"/>
            <a:ext cx="759823"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67" name="TextBox 166">
            <a:extLst>
              <a:ext uri="{FF2B5EF4-FFF2-40B4-BE49-F238E27FC236}">
                <a16:creationId xmlns:a16="http://schemas.microsoft.com/office/drawing/2014/main" id="{F262F40C-E04C-8EF2-0181-D1DF8407AA94}"/>
              </a:ext>
            </a:extLst>
          </p:cNvPr>
          <p:cNvSpPr txBox="1"/>
          <p:nvPr/>
        </p:nvSpPr>
        <p:spPr>
          <a:xfrm>
            <a:off x="9786750" y="4376840"/>
            <a:ext cx="474810" cy="184666"/>
          </a:xfrm>
          <a:prstGeom prst="rect">
            <a:avLst/>
          </a:prstGeom>
          <a:noFill/>
        </p:spPr>
        <p:txBody>
          <a:bodyPr wrap="none" lIns="0" tIns="0" rIns="0" bIns="0" rtlCol="0">
            <a:spAutoFit/>
          </a:bodyPr>
          <a:lstStyle/>
          <a:p>
            <a:r>
              <a:rPr lang="ru-RU" sz="1200" dirty="0"/>
              <a:t>Фильтр</a:t>
            </a:r>
          </a:p>
        </p:txBody>
      </p:sp>
      <p:sp>
        <p:nvSpPr>
          <p:cNvPr id="168" name="TextBox 167">
            <a:extLst>
              <a:ext uri="{FF2B5EF4-FFF2-40B4-BE49-F238E27FC236}">
                <a16:creationId xmlns:a16="http://schemas.microsoft.com/office/drawing/2014/main" id="{576643B6-316C-4AA8-2FD7-72078892A6BF}"/>
              </a:ext>
            </a:extLst>
          </p:cNvPr>
          <p:cNvSpPr txBox="1"/>
          <p:nvPr/>
        </p:nvSpPr>
        <p:spPr>
          <a:xfrm>
            <a:off x="191164" y="1822597"/>
            <a:ext cx="4376544" cy="1015663"/>
          </a:xfrm>
          <a:prstGeom prst="rect">
            <a:avLst/>
          </a:prstGeom>
          <a:noFill/>
        </p:spPr>
        <p:txBody>
          <a:bodyPr wrap="square" lIns="0" tIns="0" rIns="0" bIns="0" rtlCol="0">
            <a:spAutoFit/>
          </a:bodyPr>
          <a:lstStyle/>
          <a:p>
            <a:r>
              <a:rPr lang="ru-RU" sz="1100" dirty="0"/>
              <a:t>2 – фильтр можно </a:t>
            </a:r>
            <a:r>
              <a:rPr lang="ru-RU" sz="1100" dirty="0" err="1"/>
              <a:t>задачать</a:t>
            </a:r>
            <a:r>
              <a:rPr lang="ru-RU" sz="1100" dirty="0"/>
              <a:t> по след параметрам: по алфавиту предметы, на каждой колонке можно выбрать как сортировать от большего к меньшему или от меньшего к большему, фильтры суммируются вначале первая колонка потом </a:t>
            </a:r>
            <a:r>
              <a:rPr lang="ru-RU" sz="1100" dirty="0" err="1"/>
              <a:t>второая</a:t>
            </a:r>
            <a:r>
              <a:rPr lang="ru-RU" sz="1100" dirty="0"/>
              <a:t> и тд при выходе со </a:t>
            </a:r>
            <a:r>
              <a:rPr lang="ru-RU" sz="1100" dirty="0" err="1"/>
              <a:t>стрыницы</a:t>
            </a:r>
            <a:r>
              <a:rPr lang="ru-RU" sz="1100" dirty="0"/>
              <a:t> или нажатии кнопки сбросить </a:t>
            </a:r>
            <a:r>
              <a:rPr lang="ru-RU" sz="1100" dirty="0" err="1"/>
              <a:t>филттр</a:t>
            </a:r>
            <a:r>
              <a:rPr lang="ru-RU" sz="1100" dirty="0"/>
              <a:t> сбрасываются. По </a:t>
            </a:r>
            <a:r>
              <a:rPr lang="ru-RU" sz="1100" dirty="0" err="1"/>
              <a:t>умолчангию</a:t>
            </a:r>
            <a:r>
              <a:rPr lang="ru-RU" sz="1100" dirty="0"/>
              <a:t> в алфавитном порядке по предметам</a:t>
            </a:r>
          </a:p>
        </p:txBody>
      </p:sp>
      <p:sp>
        <p:nvSpPr>
          <p:cNvPr id="169" name="Прямоугольник 168">
            <a:extLst>
              <a:ext uri="{FF2B5EF4-FFF2-40B4-BE49-F238E27FC236}">
                <a16:creationId xmlns:a16="http://schemas.microsoft.com/office/drawing/2014/main" id="{DB1B3921-EF51-B040-3F9B-95AE7160CFF9}"/>
              </a:ext>
            </a:extLst>
          </p:cNvPr>
          <p:cNvSpPr/>
          <p:nvPr/>
        </p:nvSpPr>
        <p:spPr>
          <a:xfrm>
            <a:off x="10564918" y="4321420"/>
            <a:ext cx="759823"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0" name="TextBox 169">
            <a:extLst>
              <a:ext uri="{FF2B5EF4-FFF2-40B4-BE49-F238E27FC236}">
                <a16:creationId xmlns:a16="http://schemas.microsoft.com/office/drawing/2014/main" id="{FB0ED602-48F2-F9F5-0B24-E755E301CD30}"/>
              </a:ext>
            </a:extLst>
          </p:cNvPr>
          <p:cNvSpPr txBox="1"/>
          <p:nvPr/>
        </p:nvSpPr>
        <p:spPr>
          <a:xfrm>
            <a:off x="10642358" y="4376840"/>
            <a:ext cx="605935" cy="184666"/>
          </a:xfrm>
          <a:prstGeom prst="rect">
            <a:avLst/>
          </a:prstGeom>
          <a:noFill/>
        </p:spPr>
        <p:txBody>
          <a:bodyPr wrap="none" lIns="0" tIns="0" rIns="0" bIns="0" rtlCol="0">
            <a:spAutoFit/>
          </a:bodyPr>
          <a:lstStyle/>
          <a:p>
            <a:r>
              <a:rPr lang="ru-RU" sz="1200" dirty="0"/>
              <a:t>Сбросить</a:t>
            </a:r>
          </a:p>
        </p:txBody>
      </p:sp>
      <p:sp>
        <p:nvSpPr>
          <p:cNvPr id="171" name="TextBox 170">
            <a:extLst>
              <a:ext uri="{FF2B5EF4-FFF2-40B4-BE49-F238E27FC236}">
                <a16:creationId xmlns:a16="http://schemas.microsoft.com/office/drawing/2014/main" id="{24EFDF82-9F75-43D6-EE4E-BCA7F3DFCE38}"/>
              </a:ext>
            </a:extLst>
          </p:cNvPr>
          <p:cNvSpPr txBox="1"/>
          <p:nvPr/>
        </p:nvSpPr>
        <p:spPr>
          <a:xfrm>
            <a:off x="191164" y="3268843"/>
            <a:ext cx="4376544" cy="1015663"/>
          </a:xfrm>
          <a:prstGeom prst="rect">
            <a:avLst/>
          </a:prstGeom>
          <a:noFill/>
        </p:spPr>
        <p:txBody>
          <a:bodyPr wrap="square" lIns="0" tIns="0" rIns="0" bIns="0" rtlCol="0">
            <a:spAutoFit/>
          </a:bodyPr>
          <a:lstStyle/>
          <a:p>
            <a:r>
              <a:rPr lang="ru-RU" sz="1100" dirty="0"/>
              <a:t>3 – если предмет имеет несколько видов занятий то статистика считается общая а так же по каждому конкретному виду занятий (большая ячейка на несколько строк – название предмета, далее первая строчка общая по </a:t>
            </a:r>
            <a:r>
              <a:rPr lang="ru-RU" sz="1100" dirty="0" err="1"/>
              <a:t>предмету,если</a:t>
            </a:r>
            <a:r>
              <a:rPr lang="ru-RU" sz="1100" dirty="0"/>
              <a:t> раскрыть то как раз появляются несколько строк по видам занятий какие есть в </a:t>
            </a:r>
            <a:r>
              <a:rPr lang="ru-RU" sz="1100" dirty="0" err="1"/>
              <a:t>бд</a:t>
            </a:r>
            <a:r>
              <a:rPr lang="ru-RU" sz="1100" dirty="0"/>
              <a:t> к этому предмету, и по каждому виду отдельная статистика считается)</a:t>
            </a:r>
          </a:p>
        </p:txBody>
      </p:sp>
      <p:sp>
        <p:nvSpPr>
          <p:cNvPr id="172" name="TextBox 171">
            <a:extLst>
              <a:ext uri="{FF2B5EF4-FFF2-40B4-BE49-F238E27FC236}">
                <a16:creationId xmlns:a16="http://schemas.microsoft.com/office/drawing/2014/main" id="{3A3F3C82-B156-9E7D-763F-8965A16E193B}"/>
              </a:ext>
            </a:extLst>
          </p:cNvPr>
          <p:cNvSpPr txBox="1"/>
          <p:nvPr/>
        </p:nvSpPr>
        <p:spPr>
          <a:xfrm>
            <a:off x="191164" y="4402335"/>
            <a:ext cx="4376544" cy="507831"/>
          </a:xfrm>
          <a:prstGeom prst="rect">
            <a:avLst/>
          </a:prstGeom>
          <a:noFill/>
        </p:spPr>
        <p:txBody>
          <a:bodyPr wrap="square" lIns="0" tIns="0" rIns="0" bIns="0" rtlCol="0">
            <a:spAutoFit/>
          </a:bodyPr>
          <a:lstStyle/>
          <a:p>
            <a:r>
              <a:rPr lang="ru-RU" sz="1100" dirty="0"/>
              <a:t>4 – статистика в количестве и в процентах сразу после навигационного шапки считается всегда относительно семестра а не по неделям (по неделям есть на странице посещения</a:t>
            </a:r>
          </a:p>
        </p:txBody>
      </p:sp>
    </p:spTree>
    <p:extLst>
      <p:ext uri="{BB962C8B-B14F-4D97-AF65-F5344CB8AC3E}">
        <p14:creationId xmlns:p14="http://schemas.microsoft.com/office/powerpoint/2010/main" val="73362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BBF1D13-CE06-C806-8463-F69A90EE5805}"/>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103 – СТРАНИЦА СТУДЕНТ - СТАТИСТИКА </a:t>
            </a:r>
          </a:p>
        </p:txBody>
      </p:sp>
      <p:sp>
        <p:nvSpPr>
          <p:cNvPr id="3" name="Прямоугольник 2">
            <a:extLst>
              <a:ext uri="{FF2B5EF4-FFF2-40B4-BE49-F238E27FC236}">
                <a16:creationId xmlns:a16="http://schemas.microsoft.com/office/drawing/2014/main" id="{2437AA22-DE2F-A879-84F5-0810F36EAB2D}"/>
              </a:ext>
            </a:extLst>
          </p:cNvPr>
          <p:cNvSpPr/>
          <p:nvPr/>
        </p:nvSpPr>
        <p:spPr>
          <a:xfrm>
            <a:off x="4800601" y="0"/>
            <a:ext cx="7391398"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Job </a:t>
            </a:r>
            <a:r>
              <a:rPr lang="ru-RU" dirty="0"/>
              <a:t>и</a:t>
            </a:r>
            <a:r>
              <a:rPr lang="en-US" dirty="0"/>
              <a:t> User Story</a:t>
            </a:r>
            <a:endParaRPr lang="ru-RU" dirty="0"/>
          </a:p>
        </p:txBody>
      </p:sp>
      <p:sp>
        <p:nvSpPr>
          <p:cNvPr id="5" name="TextBox 4">
            <a:extLst>
              <a:ext uri="{FF2B5EF4-FFF2-40B4-BE49-F238E27FC236}">
                <a16:creationId xmlns:a16="http://schemas.microsoft.com/office/drawing/2014/main" id="{E336B0A3-EADC-13E1-99CB-6B2A5EA9B5BD}"/>
              </a:ext>
            </a:extLst>
          </p:cNvPr>
          <p:cNvSpPr txBox="1"/>
          <p:nvPr/>
        </p:nvSpPr>
        <p:spPr>
          <a:xfrm>
            <a:off x="191164" y="1247804"/>
            <a:ext cx="4376544" cy="677108"/>
          </a:xfrm>
          <a:prstGeom prst="rect">
            <a:avLst/>
          </a:prstGeom>
          <a:noFill/>
        </p:spPr>
        <p:txBody>
          <a:bodyPr wrap="square" lIns="0" tIns="0" rIns="0" bIns="0" rtlCol="0">
            <a:spAutoFit/>
          </a:bodyPr>
          <a:lstStyle/>
          <a:p>
            <a:r>
              <a:rPr lang="ru-RU" sz="1100" dirty="0"/>
              <a:t>Студент хочет видеть общую свою статистику и статистику по конкретному предмету и по конкретному предмету и конкретному виду занятия этого предмета. Студент хочет видеть статистику за весь прошедший семестр и по неделям переключаясь по неделям.</a:t>
            </a:r>
          </a:p>
        </p:txBody>
      </p:sp>
    </p:spTree>
    <p:extLst>
      <p:ext uri="{BB962C8B-B14F-4D97-AF65-F5344CB8AC3E}">
        <p14:creationId xmlns:p14="http://schemas.microsoft.com/office/powerpoint/2010/main" val="32617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755DE34E-1F52-2BE9-468C-A5BC762F6445}"/>
              </a:ext>
            </a:extLst>
          </p:cNvPr>
          <p:cNvSpPr>
            <a:spLocks/>
          </p:cNvSpPr>
          <p:nvPr/>
        </p:nvSpPr>
        <p:spPr>
          <a:xfrm>
            <a:off x="4800600" y="0"/>
            <a:ext cx="7391399" cy="6858000"/>
          </a:xfrm>
          <a:prstGeom prst="rect">
            <a:avLst/>
          </a:prstGeom>
          <a:solidFill>
            <a:schemeClr val="bg1">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3" name="Прямоугольник 82">
            <a:extLst>
              <a:ext uri="{FF2B5EF4-FFF2-40B4-BE49-F238E27FC236}">
                <a16:creationId xmlns:a16="http://schemas.microsoft.com/office/drawing/2014/main" id="{8F327C19-E4D2-6184-38CB-69A030DD5D4D}"/>
              </a:ext>
            </a:extLst>
          </p:cNvPr>
          <p:cNvSpPr/>
          <p:nvPr/>
        </p:nvSpPr>
        <p:spPr>
          <a:xfrm>
            <a:off x="4928315" y="3016124"/>
            <a:ext cx="7147774" cy="2239840"/>
          </a:xfrm>
          <a:prstGeom prst="rect">
            <a:avLst/>
          </a:prstGeom>
          <a:solidFill>
            <a:srgbClr val="D1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4">
            <a:extLst>
              <a:ext uri="{FF2B5EF4-FFF2-40B4-BE49-F238E27FC236}">
                <a16:creationId xmlns:a16="http://schemas.microsoft.com/office/drawing/2014/main" id="{6B8CB585-D000-9D9E-13D0-F9ED93B0ED70}"/>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104 – СТРАНИЦА СТУДЕНТ – ДОМАШНЕЕ ЗАДАНИЕ </a:t>
            </a:r>
          </a:p>
        </p:txBody>
      </p:sp>
      <p:sp>
        <p:nvSpPr>
          <p:cNvPr id="7" name="TextBox 6">
            <a:extLst>
              <a:ext uri="{FF2B5EF4-FFF2-40B4-BE49-F238E27FC236}">
                <a16:creationId xmlns:a16="http://schemas.microsoft.com/office/drawing/2014/main" id="{F4A6BACE-FADE-7E5D-4C20-821ABD1C29EE}"/>
              </a:ext>
            </a:extLst>
          </p:cNvPr>
          <p:cNvSpPr txBox="1"/>
          <p:nvPr/>
        </p:nvSpPr>
        <p:spPr>
          <a:xfrm>
            <a:off x="191164" y="1110702"/>
            <a:ext cx="4376544" cy="507831"/>
          </a:xfrm>
          <a:prstGeom prst="rect">
            <a:avLst/>
          </a:prstGeom>
          <a:noFill/>
        </p:spPr>
        <p:txBody>
          <a:bodyPr wrap="square" lIns="0" tIns="0" rIns="0" bIns="0" rtlCol="0">
            <a:spAutoFit/>
          </a:bodyPr>
          <a:lstStyle/>
          <a:p>
            <a:r>
              <a:rPr lang="ru-RU" sz="1100" dirty="0"/>
              <a:t>1 – «</a:t>
            </a:r>
            <a:r>
              <a:rPr lang="en-US" sz="1100" dirty="0"/>
              <a:t>&lt;</a:t>
            </a:r>
            <a:r>
              <a:rPr lang="ru-RU" sz="1100" dirty="0"/>
              <a:t>-» - означает стрелка назад переключающая, «</a:t>
            </a:r>
            <a:r>
              <a:rPr lang="en-US" sz="1100" dirty="0"/>
              <a:t>-&gt;</a:t>
            </a:r>
            <a:r>
              <a:rPr lang="ru-RU" sz="1100" dirty="0"/>
              <a:t>» - стрелка которая переключает вперёд и это во всей моей системе пока так обозначается потом иконку сделаю или выберу </a:t>
            </a:r>
            <a:r>
              <a:rPr lang="en-US" sz="1100" dirty="0" err="1"/>
              <a:t>svg</a:t>
            </a:r>
            <a:endParaRPr lang="ru-RU" sz="1100" dirty="0"/>
          </a:p>
        </p:txBody>
      </p:sp>
      <p:grpSp>
        <p:nvGrpSpPr>
          <p:cNvPr id="41" name="Группа 40">
            <a:extLst>
              <a:ext uri="{FF2B5EF4-FFF2-40B4-BE49-F238E27FC236}">
                <a16:creationId xmlns:a16="http://schemas.microsoft.com/office/drawing/2014/main" id="{FF034513-EA97-C422-0852-7C3B1AA68685}"/>
              </a:ext>
            </a:extLst>
          </p:cNvPr>
          <p:cNvGrpSpPr/>
          <p:nvPr/>
        </p:nvGrpSpPr>
        <p:grpSpPr>
          <a:xfrm>
            <a:off x="4928315" y="96316"/>
            <a:ext cx="7180627" cy="1014386"/>
            <a:chOff x="4928315" y="96316"/>
            <a:chExt cx="7180627" cy="1014386"/>
          </a:xfrm>
        </p:grpSpPr>
        <p:grpSp>
          <p:nvGrpSpPr>
            <p:cNvPr id="2" name="Группа 1">
              <a:extLst>
                <a:ext uri="{FF2B5EF4-FFF2-40B4-BE49-F238E27FC236}">
                  <a16:creationId xmlns:a16="http://schemas.microsoft.com/office/drawing/2014/main" id="{B70F6A3E-F5E8-62C1-712B-035CBC3D7A74}"/>
                </a:ext>
              </a:extLst>
            </p:cNvPr>
            <p:cNvGrpSpPr/>
            <p:nvPr/>
          </p:nvGrpSpPr>
          <p:grpSpPr>
            <a:xfrm>
              <a:off x="4928315" y="128790"/>
              <a:ext cx="1614152" cy="287630"/>
              <a:chOff x="1803042" y="2137890"/>
              <a:chExt cx="1747234" cy="523744"/>
            </a:xfrm>
          </p:grpSpPr>
          <p:sp>
            <p:nvSpPr>
              <p:cNvPr id="3" name="Прямоугольник 2">
                <a:extLst>
                  <a:ext uri="{FF2B5EF4-FFF2-40B4-BE49-F238E27FC236}">
                    <a16:creationId xmlns:a16="http://schemas.microsoft.com/office/drawing/2014/main" id="{B1E3AE3B-BE58-BA20-6A71-7184ED54220A}"/>
                  </a:ext>
                </a:extLst>
              </p:cNvPr>
              <p:cNvSpPr/>
              <p:nvPr/>
            </p:nvSpPr>
            <p:spPr>
              <a:xfrm>
                <a:off x="1803042" y="2137893"/>
                <a:ext cx="1747234" cy="52374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grpSp>
            <p:nvGrpSpPr>
              <p:cNvPr id="12" name="Группа 11">
                <a:extLst>
                  <a:ext uri="{FF2B5EF4-FFF2-40B4-BE49-F238E27FC236}">
                    <a16:creationId xmlns:a16="http://schemas.microsoft.com/office/drawing/2014/main" id="{AD83CF9B-9FE8-A586-2E5E-6CE50628BA80}"/>
                  </a:ext>
                </a:extLst>
              </p:cNvPr>
              <p:cNvGrpSpPr/>
              <p:nvPr/>
            </p:nvGrpSpPr>
            <p:grpSpPr>
              <a:xfrm>
                <a:off x="1970467" y="2137890"/>
                <a:ext cx="1419940" cy="277001"/>
                <a:chOff x="2082085" y="1725766"/>
                <a:chExt cx="1419940" cy="277001"/>
              </a:xfrm>
            </p:grpSpPr>
            <p:sp>
              <p:nvSpPr>
                <p:cNvPr id="20" name="TextBox 19">
                  <a:extLst>
                    <a:ext uri="{FF2B5EF4-FFF2-40B4-BE49-F238E27FC236}">
                      <a16:creationId xmlns:a16="http://schemas.microsoft.com/office/drawing/2014/main" id="{F306F49C-0161-491C-B7A5-411D9BDFD551}"/>
                    </a:ext>
                  </a:extLst>
                </p:cNvPr>
                <p:cNvSpPr txBox="1"/>
                <p:nvPr/>
              </p:nvSpPr>
              <p:spPr>
                <a:xfrm>
                  <a:off x="2082085" y="1725768"/>
                  <a:ext cx="744114" cy="276999"/>
                </a:xfrm>
                <a:prstGeom prst="rect">
                  <a:avLst/>
                </a:prstGeom>
                <a:noFill/>
              </p:spPr>
              <p:txBody>
                <a:bodyPr wrap="none" rtlCol="0">
                  <a:spAutoFit/>
                </a:bodyPr>
                <a:lstStyle/>
                <a:p>
                  <a:r>
                    <a:rPr lang="ru-RU" sz="1200" dirty="0"/>
                    <a:t>староста</a:t>
                  </a:r>
                </a:p>
              </p:txBody>
            </p:sp>
            <p:sp>
              <p:nvSpPr>
                <p:cNvPr id="22" name="TextBox 21">
                  <a:extLst>
                    <a:ext uri="{FF2B5EF4-FFF2-40B4-BE49-F238E27FC236}">
                      <a16:creationId xmlns:a16="http://schemas.microsoft.com/office/drawing/2014/main" id="{74FD25A9-65C3-0B65-C555-DEA77420D43F}"/>
                    </a:ext>
                  </a:extLst>
                </p:cNvPr>
                <p:cNvSpPr txBox="1"/>
                <p:nvPr/>
              </p:nvSpPr>
              <p:spPr>
                <a:xfrm>
                  <a:off x="2826199" y="1725766"/>
                  <a:ext cx="675826" cy="277000"/>
                </a:xfrm>
                <a:prstGeom prst="rect">
                  <a:avLst/>
                </a:prstGeom>
                <a:noFill/>
              </p:spPr>
              <p:txBody>
                <a:bodyPr wrap="none" rtlCol="0">
                  <a:spAutoFit/>
                </a:bodyPr>
                <a:lstStyle/>
                <a:p>
                  <a:r>
                    <a:rPr lang="ru-RU" sz="1200" dirty="0"/>
                    <a:t>студент</a:t>
                  </a:r>
                </a:p>
              </p:txBody>
            </p:sp>
          </p:grpSp>
        </p:grpSp>
        <p:grpSp>
          <p:nvGrpSpPr>
            <p:cNvPr id="29" name="Группа 28">
              <a:extLst>
                <a:ext uri="{FF2B5EF4-FFF2-40B4-BE49-F238E27FC236}">
                  <a16:creationId xmlns:a16="http://schemas.microsoft.com/office/drawing/2014/main" id="{21CF8A2D-F120-9D71-3645-E48F787D8EFC}"/>
                </a:ext>
              </a:extLst>
            </p:cNvPr>
            <p:cNvGrpSpPr/>
            <p:nvPr/>
          </p:nvGrpSpPr>
          <p:grpSpPr>
            <a:xfrm>
              <a:off x="4928315" y="598868"/>
              <a:ext cx="5786147" cy="184666"/>
              <a:chOff x="2659614" y="2814035"/>
              <a:chExt cx="5786147" cy="184666"/>
            </a:xfrm>
          </p:grpSpPr>
          <p:sp>
            <p:nvSpPr>
              <p:cNvPr id="30" name="TextBox 29">
                <a:extLst>
                  <a:ext uri="{FF2B5EF4-FFF2-40B4-BE49-F238E27FC236}">
                    <a16:creationId xmlns:a16="http://schemas.microsoft.com/office/drawing/2014/main" id="{9C9A08AC-D00C-0E04-126E-0C9CC3CE9351}"/>
                  </a:ext>
                </a:extLst>
              </p:cNvPr>
              <p:cNvSpPr txBox="1"/>
              <p:nvPr/>
            </p:nvSpPr>
            <p:spPr>
              <a:xfrm>
                <a:off x="2659614" y="2814035"/>
                <a:ext cx="502061" cy="184666"/>
              </a:xfrm>
              <a:prstGeom prst="rect">
                <a:avLst/>
              </a:prstGeom>
              <a:noFill/>
            </p:spPr>
            <p:txBody>
              <a:bodyPr wrap="none" lIns="0" tIns="0" rIns="0" bIns="0" rtlCol="0">
                <a:spAutoFit/>
              </a:bodyPr>
              <a:lstStyle/>
              <a:p>
                <a:r>
                  <a:rPr lang="ru-RU" sz="1200" dirty="0"/>
                  <a:t>главная</a:t>
                </a:r>
              </a:p>
            </p:txBody>
          </p:sp>
          <p:sp>
            <p:nvSpPr>
              <p:cNvPr id="31" name="TextBox 30">
                <a:extLst>
                  <a:ext uri="{FF2B5EF4-FFF2-40B4-BE49-F238E27FC236}">
                    <a16:creationId xmlns:a16="http://schemas.microsoft.com/office/drawing/2014/main" id="{E131BECD-3657-85C7-C80E-2E62FD1FB0D1}"/>
                  </a:ext>
                </a:extLst>
              </p:cNvPr>
              <p:cNvSpPr txBox="1"/>
              <p:nvPr/>
            </p:nvSpPr>
            <p:spPr>
              <a:xfrm>
                <a:off x="3353373" y="2814035"/>
                <a:ext cx="952890" cy="184666"/>
              </a:xfrm>
              <a:prstGeom prst="rect">
                <a:avLst/>
              </a:prstGeom>
              <a:noFill/>
            </p:spPr>
            <p:txBody>
              <a:bodyPr wrap="none" lIns="0" tIns="0" rIns="0" bIns="0" rtlCol="0">
                <a:spAutoFit/>
              </a:bodyPr>
              <a:lstStyle/>
              <a:p>
                <a:r>
                  <a:rPr lang="ru-RU" sz="1200" dirty="0"/>
                  <a:t>посещаемость</a:t>
                </a:r>
              </a:p>
            </p:txBody>
          </p:sp>
          <p:sp>
            <p:nvSpPr>
              <p:cNvPr id="32" name="TextBox 31">
                <a:extLst>
                  <a:ext uri="{FF2B5EF4-FFF2-40B4-BE49-F238E27FC236}">
                    <a16:creationId xmlns:a16="http://schemas.microsoft.com/office/drawing/2014/main" id="{E1BAF147-9E29-A33A-F5FD-01EC7DD2EFB1}"/>
                  </a:ext>
                </a:extLst>
              </p:cNvPr>
              <p:cNvSpPr txBox="1"/>
              <p:nvPr/>
            </p:nvSpPr>
            <p:spPr>
              <a:xfrm>
                <a:off x="4497961" y="2814035"/>
                <a:ext cx="693010" cy="184666"/>
              </a:xfrm>
              <a:prstGeom prst="rect">
                <a:avLst/>
              </a:prstGeom>
              <a:noFill/>
            </p:spPr>
            <p:txBody>
              <a:bodyPr wrap="none" lIns="0" tIns="0" rIns="0" bIns="0" rtlCol="0">
                <a:spAutoFit/>
              </a:bodyPr>
              <a:lstStyle/>
              <a:p>
                <a:r>
                  <a:rPr lang="ru-RU" sz="1200" dirty="0"/>
                  <a:t>статистика</a:t>
                </a:r>
              </a:p>
            </p:txBody>
          </p:sp>
          <p:sp>
            <p:nvSpPr>
              <p:cNvPr id="33" name="TextBox 32">
                <a:extLst>
                  <a:ext uri="{FF2B5EF4-FFF2-40B4-BE49-F238E27FC236}">
                    <a16:creationId xmlns:a16="http://schemas.microsoft.com/office/drawing/2014/main" id="{0C5C4B77-2B80-2A45-8059-9C58D6A28114}"/>
                  </a:ext>
                </a:extLst>
              </p:cNvPr>
              <p:cNvSpPr txBox="1"/>
              <p:nvPr/>
            </p:nvSpPr>
            <p:spPr>
              <a:xfrm>
                <a:off x="5382668" y="2814035"/>
                <a:ext cx="1269707" cy="184666"/>
              </a:xfrm>
              <a:prstGeom prst="rect">
                <a:avLst/>
              </a:prstGeom>
              <a:noFill/>
            </p:spPr>
            <p:txBody>
              <a:bodyPr wrap="none" lIns="0" tIns="0" rIns="0" bIns="0" rtlCol="0">
                <a:spAutoFit/>
              </a:bodyPr>
              <a:lstStyle/>
              <a:p>
                <a:r>
                  <a:rPr lang="ru-RU" sz="1200" dirty="0"/>
                  <a:t>домашнее задание</a:t>
                </a:r>
              </a:p>
            </p:txBody>
          </p:sp>
          <p:sp>
            <p:nvSpPr>
              <p:cNvPr id="34" name="TextBox 33">
                <a:extLst>
                  <a:ext uri="{FF2B5EF4-FFF2-40B4-BE49-F238E27FC236}">
                    <a16:creationId xmlns:a16="http://schemas.microsoft.com/office/drawing/2014/main" id="{E3C4621F-0186-1F84-D851-D6EA8A642640}"/>
                  </a:ext>
                </a:extLst>
              </p:cNvPr>
              <p:cNvSpPr txBox="1"/>
              <p:nvPr/>
            </p:nvSpPr>
            <p:spPr>
              <a:xfrm>
                <a:off x="6844072" y="2814035"/>
                <a:ext cx="356829" cy="184666"/>
              </a:xfrm>
              <a:prstGeom prst="rect">
                <a:avLst/>
              </a:prstGeom>
              <a:noFill/>
            </p:spPr>
            <p:txBody>
              <a:bodyPr wrap="none" lIns="0" tIns="0" rIns="0" bIns="0" rtlCol="0">
                <a:spAutoFit/>
              </a:bodyPr>
              <a:lstStyle/>
              <a:p>
                <a:r>
                  <a:rPr lang="ru-RU" sz="1200" dirty="0"/>
                  <a:t>карта</a:t>
                </a:r>
              </a:p>
            </p:txBody>
          </p:sp>
          <p:sp>
            <p:nvSpPr>
              <p:cNvPr id="35" name="TextBox 34">
                <a:extLst>
                  <a:ext uri="{FF2B5EF4-FFF2-40B4-BE49-F238E27FC236}">
                    <a16:creationId xmlns:a16="http://schemas.microsoft.com/office/drawing/2014/main" id="{8C05631F-6463-54C3-1678-C4ACE09E5435}"/>
                  </a:ext>
                </a:extLst>
              </p:cNvPr>
              <p:cNvSpPr txBox="1"/>
              <p:nvPr/>
            </p:nvSpPr>
            <p:spPr>
              <a:xfrm>
                <a:off x="7398167" y="2814035"/>
                <a:ext cx="1047594" cy="184666"/>
              </a:xfrm>
              <a:prstGeom prst="rect">
                <a:avLst/>
              </a:prstGeom>
              <a:noFill/>
            </p:spPr>
            <p:txBody>
              <a:bodyPr wrap="none" lIns="0" tIns="0" rIns="0" bIns="0" rtlCol="0">
                <a:spAutoFit/>
              </a:bodyPr>
              <a:lstStyle/>
              <a:p>
                <a:r>
                  <a:rPr lang="ru-RU" sz="1200" dirty="0"/>
                  <a:t>заявки и тикеты</a:t>
                </a:r>
              </a:p>
            </p:txBody>
          </p:sp>
        </p:grpSp>
        <p:sp>
          <p:nvSpPr>
            <p:cNvPr id="36" name="Овал 35">
              <a:extLst>
                <a:ext uri="{FF2B5EF4-FFF2-40B4-BE49-F238E27FC236}">
                  <a16:creationId xmlns:a16="http://schemas.microsoft.com/office/drawing/2014/main" id="{39D202CC-ACCF-2811-7D9E-EF8A30924AB9}"/>
                </a:ext>
              </a:extLst>
            </p:cNvPr>
            <p:cNvSpPr/>
            <p:nvPr/>
          </p:nvSpPr>
          <p:spPr>
            <a:xfrm>
              <a:off x="11638209" y="96316"/>
              <a:ext cx="369194" cy="36919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TextBox 36">
              <a:extLst>
                <a:ext uri="{FF2B5EF4-FFF2-40B4-BE49-F238E27FC236}">
                  <a16:creationId xmlns:a16="http://schemas.microsoft.com/office/drawing/2014/main" id="{4F704C06-9AF9-CBD5-DFCE-315C451F7E3E}"/>
                </a:ext>
              </a:extLst>
            </p:cNvPr>
            <p:cNvSpPr txBox="1"/>
            <p:nvPr/>
          </p:nvSpPr>
          <p:spPr>
            <a:xfrm>
              <a:off x="11536669" y="188580"/>
              <a:ext cx="572273" cy="184666"/>
            </a:xfrm>
            <a:prstGeom prst="rect">
              <a:avLst/>
            </a:prstGeom>
            <a:noFill/>
          </p:spPr>
          <p:txBody>
            <a:bodyPr wrap="none" lIns="0" tIns="0" rIns="0" bIns="0" rtlCol="0">
              <a:spAutoFit/>
            </a:bodyPr>
            <a:lstStyle/>
            <a:p>
              <a:r>
                <a:rPr lang="ru-RU" sz="1200" dirty="0"/>
                <a:t>профиль</a:t>
              </a:r>
            </a:p>
          </p:txBody>
        </p:sp>
        <p:grpSp>
          <p:nvGrpSpPr>
            <p:cNvPr id="38" name="Группа 37">
              <a:extLst>
                <a:ext uri="{FF2B5EF4-FFF2-40B4-BE49-F238E27FC236}">
                  <a16:creationId xmlns:a16="http://schemas.microsoft.com/office/drawing/2014/main" id="{CACC4AE7-7435-1D50-8747-954431BB5DAF}"/>
                </a:ext>
              </a:extLst>
            </p:cNvPr>
            <p:cNvGrpSpPr/>
            <p:nvPr/>
          </p:nvGrpSpPr>
          <p:grpSpPr>
            <a:xfrm>
              <a:off x="10908405" y="513981"/>
              <a:ext cx="1167685" cy="596721"/>
              <a:chOff x="10908405" y="513981"/>
              <a:chExt cx="1167685" cy="596721"/>
            </a:xfrm>
          </p:grpSpPr>
          <p:sp>
            <p:nvSpPr>
              <p:cNvPr id="39" name="Прямоугольник 38">
                <a:extLst>
                  <a:ext uri="{FF2B5EF4-FFF2-40B4-BE49-F238E27FC236}">
                    <a16:creationId xmlns:a16="http://schemas.microsoft.com/office/drawing/2014/main" id="{5A2CC246-4045-A2E7-6DEA-00D896223923}"/>
                  </a:ext>
                </a:extLst>
              </p:cNvPr>
              <p:cNvSpPr/>
              <p:nvPr/>
            </p:nvSpPr>
            <p:spPr>
              <a:xfrm>
                <a:off x="10908405" y="513981"/>
                <a:ext cx="1167685" cy="59672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0" name="TextBox 39">
                <a:extLst>
                  <a:ext uri="{FF2B5EF4-FFF2-40B4-BE49-F238E27FC236}">
                    <a16:creationId xmlns:a16="http://schemas.microsoft.com/office/drawing/2014/main" id="{92B88534-517C-B3C4-A3DC-862FED4F0966}"/>
                  </a:ext>
                </a:extLst>
              </p:cNvPr>
              <p:cNvSpPr txBox="1"/>
              <p:nvPr/>
            </p:nvSpPr>
            <p:spPr>
              <a:xfrm>
                <a:off x="11032536" y="603721"/>
                <a:ext cx="695703" cy="369332"/>
              </a:xfrm>
              <a:prstGeom prst="rect">
                <a:avLst/>
              </a:prstGeom>
              <a:noFill/>
            </p:spPr>
            <p:txBody>
              <a:bodyPr wrap="none" lIns="0" tIns="0" rIns="0" bIns="0" rtlCol="0">
                <a:spAutoFit/>
              </a:bodyPr>
              <a:lstStyle/>
              <a:p>
                <a:r>
                  <a:rPr lang="ru-RU" sz="1200" dirty="0"/>
                  <a:t>Настройки</a:t>
                </a:r>
                <a:br>
                  <a:rPr lang="ru-RU" sz="1200" dirty="0"/>
                </a:br>
                <a:r>
                  <a:rPr lang="ru-RU" sz="1200" dirty="0"/>
                  <a:t>Выход</a:t>
                </a:r>
              </a:p>
            </p:txBody>
          </p:sp>
        </p:grpSp>
      </p:grpSp>
      <p:sp>
        <p:nvSpPr>
          <p:cNvPr id="47" name="Прямоугольник 46">
            <a:extLst>
              <a:ext uri="{FF2B5EF4-FFF2-40B4-BE49-F238E27FC236}">
                <a16:creationId xmlns:a16="http://schemas.microsoft.com/office/drawing/2014/main" id="{764F2AE8-78D0-B3C3-832A-283C802AA1B3}"/>
              </a:ext>
            </a:extLst>
          </p:cNvPr>
          <p:cNvSpPr/>
          <p:nvPr/>
        </p:nvSpPr>
        <p:spPr>
          <a:xfrm>
            <a:off x="4928315" y="119598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8" name="TextBox 47">
            <a:extLst>
              <a:ext uri="{FF2B5EF4-FFF2-40B4-BE49-F238E27FC236}">
                <a16:creationId xmlns:a16="http://schemas.microsoft.com/office/drawing/2014/main" id="{EDA649FD-551B-08F8-A05E-F58F4E55DFCA}"/>
              </a:ext>
            </a:extLst>
          </p:cNvPr>
          <p:cNvSpPr txBox="1"/>
          <p:nvPr/>
        </p:nvSpPr>
        <p:spPr>
          <a:xfrm>
            <a:off x="5230445" y="1247463"/>
            <a:ext cx="529376" cy="184666"/>
          </a:xfrm>
          <a:prstGeom prst="rect">
            <a:avLst/>
          </a:prstGeom>
          <a:noFill/>
        </p:spPr>
        <p:txBody>
          <a:bodyPr wrap="none" lIns="0" tIns="0" rIns="0" bIns="0" rtlCol="0">
            <a:spAutoFit/>
          </a:bodyPr>
          <a:lstStyle/>
          <a:p>
            <a:r>
              <a:rPr lang="ru-RU" sz="1200" dirty="0"/>
              <a:t>Сегодня</a:t>
            </a:r>
          </a:p>
        </p:txBody>
      </p:sp>
      <p:sp>
        <p:nvSpPr>
          <p:cNvPr id="49" name="Прямоугольник 48">
            <a:extLst>
              <a:ext uri="{FF2B5EF4-FFF2-40B4-BE49-F238E27FC236}">
                <a16:creationId xmlns:a16="http://schemas.microsoft.com/office/drawing/2014/main" id="{D81F72E0-143A-A22E-59B8-922E599172AB}"/>
              </a:ext>
            </a:extLst>
          </p:cNvPr>
          <p:cNvSpPr/>
          <p:nvPr/>
        </p:nvSpPr>
        <p:spPr>
          <a:xfrm>
            <a:off x="8543352" y="119598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0" name="TextBox 49">
            <a:extLst>
              <a:ext uri="{FF2B5EF4-FFF2-40B4-BE49-F238E27FC236}">
                <a16:creationId xmlns:a16="http://schemas.microsoft.com/office/drawing/2014/main" id="{A5FE2AD2-696A-CD7B-2D6D-E76F029B2053}"/>
              </a:ext>
            </a:extLst>
          </p:cNvPr>
          <p:cNvSpPr txBox="1"/>
          <p:nvPr/>
        </p:nvSpPr>
        <p:spPr>
          <a:xfrm>
            <a:off x="8744666" y="1247463"/>
            <a:ext cx="482824" cy="184666"/>
          </a:xfrm>
          <a:prstGeom prst="rect">
            <a:avLst/>
          </a:prstGeom>
          <a:noFill/>
        </p:spPr>
        <p:txBody>
          <a:bodyPr wrap="none" lIns="0" tIns="0" rIns="0" bIns="0" rtlCol="0">
            <a:spAutoFit/>
          </a:bodyPr>
          <a:lstStyle/>
          <a:p>
            <a:r>
              <a:rPr lang="ru-RU" sz="1200" dirty="0"/>
              <a:t>Неделя</a:t>
            </a:r>
          </a:p>
        </p:txBody>
      </p:sp>
      <p:sp>
        <p:nvSpPr>
          <p:cNvPr id="51" name="Прямоугольник 50">
            <a:extLst>
              <a:ext uri="{FF2B5EF4-FFF2-40B4-BE49-F238E27FC236}">
                <a16:creationId xmlns:a16="http://schemas.microsoft.com/office/drawing/2014/main" id="{059D9E3C-BAAC-7419-D37C-9E84FFD5BB7F}"/>
              </a:ext>
            </a:extLst>
          </p:cNvPr>
          <p:cNvSpPr/>
          <p:nvPr/>
        </p:nvSpPr>
        <p:spPr>
          <a:xfrm>
            <a:off x="10390396" y="119598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2" name="TextBox 51">
            <a:extLst>
              <a:ext uri="{FF2B5EF4-FFF2-40B4-BE49-F238E27FC236}">
                <a16:creationId xmlns:a16="http://schemas.microsoft.com/office/drawing/2014/main" id="{D7777B83-B4BE-1BC0-0F87-4F40A6B42BB0}"/>
              </a:ext>
            </a:extLst>
          </p:cNvPr>
          <p:cNvSpPr txBox="1"/>
          <p:nvPr/>
        </p:nvSpPr>
        <p:spPr>
          <a:xfrm>
            <a:off x="10692526" y="1247463"/>
            <a:ext cx="431208" cy="184666"/>
          </a:xfrm>
          <a:prstGeom prst="rect">
            <a:avLst/>
          </a:prstGeom>
          <a:noFill/>
        </p:spPr>
        <p:txBody>
          <a:bodyPr wrap="none" lIns="0" tIns="0" rIns="0" bIns="0" rtlCol="0">
            <a:spAutoFit/>
          </a:bodyPr>
          <a:lstStyle/>
          <a:p>
            <a:r>
              <a:rPr lang="ru-RU" sz="1200" dirty="0"/>
              <a:t>Месяц</a:t>
            </a:r>
          </a:p>
        </p:txBody>
      </p:sp>
      <p:sp>
        <p:nvSpPr>
          <p:cNvPr id="53" name="Прямоугольник 52">
            <a:extLst>
              <a:ext uri="{FF2B5EF4-FFF2-40B4-BE49-F238E27FC236}">
                <a16:creationId xmlns:a16="http://schemas.microsoft.com/office/drawing/2014/main" id="{BCB856B8-D182-3E1F-C553-F36254022878}"/>
              </a:ext>
            </a:extLst>
          </p:cNvPr>
          <p:cNvSpPr/>
          <p:nvPr/>
        </p:nvSpPr>
        <p:spPr>
          <a:xfrm>
            <a:off x="4928315" y="1579289"/>
            <a:ext cx="7147775" cy="116741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TextBox 53">
            <a:extLst>
              <a:ext uri="{FF2B5EF4-FFF2-40B4-BE49-F238E27FC236}">
                <a16:creationId xmlns:a16="http://schemas.microsoft.com/office/drawing/2014/main" id="{F32993C5-64AB-D8FF-ADF2-0D67503320DE}"/>
              </a:ext>
            </a:extLst>
          </p:cNvPr>
          <p:cNvSpPr txBox="1"/>
          <p:nvPr/>
        </p:nvSpPr>
        <p:spPr>
          <a:xfrm>
            <a:off x="5141071" y="1737239"/>
            <a:ext cx="577594" cy="184666"/>
          </a:xfrm>
          <a:prstGeom prst="rect">
            <a:avLst/>
          </a:prstGeom>
          <a:noFill/>
        </p:spPr>
        <p:txBody>
          <a:bodyPr wrap="none" lIns="0" tIns="0" rIns="0" bIns="0" rtlCol="0">
            <a:spAutoFit/>
          </a:bodyPr>
          <a:lstStyle/>
          <a:p>
            <a:r>
              <a:rPr lang="ru-RU" sz="1200" dirty="0"/>
              <a:t>Предмет</a:t>
            </a:r>
          </a:p>
        </p:txBody>
      </p:sp>
      <p:sp>
        <p:nvSpPr>
          <p:cNvPr id="55" name="TextBox 54">
            <a:extLst>
              <a:ext uri="{FF2B5EF4-FFF2-40B4-BE49-F238E27FC236}">
                <a16:creationId xmlns:a16="http://schemas.microsoft.com/office/drawing/2014/main" id="{C614901C-89FF-18A7-5713-3BDD732C805E}"/>
              </a:ext>
            </a:extLst>
          </p:cNvPr>
          <p:cNvSpPr txBox="1"/>
          <p:nvPr/>
        </p:nvSpPr>
        <p:spPr>
          <a:xfrm>
            <a:off x="5869730" y="1247463"/>
            <a:ext cx="292901" cy="184666"/>
          </a:xfrm>
          <a:prstGeom prst="rect">
            <a:avLst/>
          </a:prstGeom>
          <a:noFill/>
        </p:spPr>
        <p:txBody>
          <a:bodyPr wrap="none" lIns="0" tIns="0" rIns="0" bIns="0" rtlCol="0">
            <a:spAutoFit/>
          </a:bodyPr>
          <a:lstStyle/>
          <a:p>
            <a:r>
              <a:rPr lang="ru-RU" sz="1200" dirty="0"/>
              <a:t>дата</a:t>
            </a:r>
          </a:p>
        </p:txBody>
      </p:sp>
      <p:sp>
        <p:nvSpPr>
          <p:cNvPr id="56" name="TextBox 55">
            <a:extLst>
              <a:ext uri="{FF2B5EF4-FFF2-40B4-BE49-F238E27FC236}">
                <a16:creationId xmlns:a16="http://schemas.microsoft.com/office/drawing/2014/main" id="{44EE8EC9-E47F-1914-2233-EE70A2D088FA}"/>
              </a:ext>
            </a:extLst>
          </p:cNvPr>
          <p:cNvSpPr txBox="1"/>
          <p:nvPr/>
        </p:nvSpPr>
        <p:spPr>
          <a:xfrm>
            <a:off x="9351170" y="1188685"/>
            <a:ext cx="478016" cy="369332"/>
          </a:xfrm>
          <a:prstGeom prst="rect">
            <a:avLst/>
          </a:prstGeom>
          <a:noFill/>
        </p:spPr>
        <p:txBody>
          <a:bodyPr wrap="none" lIns="0" tIns="0" rIns="0" bIns="0" rtlCol="0">
            <a:spAutoFit/>
          </a:bodyPr>
          <a:lstStyle/>
          <a:p>
            <a:r>
              <a:rPr lang="ru-RU" sz="1200" dirty="0"/>
              <a:t>Даты </a:t>
            </a:r>
            <a:br>
              <a:rPr lang="en-US" sz="1200" dirty="0"/>
            </a:br>
            <a:r>
              <a:rPr lang="ru-RU" sz="1200" dirty="0"/>
              <a:t>недели</a:t>
            </a:r>
          </a:p>
        </p:txBody>
      </p:sp>
      <p:sp>
        <p:nvSpPr>
          <p:cNvPr id="57" name="TextBox 56">
            <a:extLst>
              <a:ext uri="{FF2B5EF4-FFF2-40B4-BE49-F238E27FC236}">
                <a16:creationId xmlns:a16="http://schemas.microsoft.com/office/drawing/2014/main" id="{D56FA308-B822-1D75-77BC-1BE216A51FFA}"/>
              </a:ext>
            </a:extLst>
          </p:cNvPr>
          <p:cNvSpPr txBox="1"/>
          <p:nvPr/>
        </p:nvSpPr>
        <p:spPr>
          <a:xfrm>
            <a:off x="191164" y="1765314"/>
            <a:ext cx="4376544" cy="338554"/>
          </a:xfrm>
          <a:prstGeom prst="rect">
            <a:avLst/>
          </a:prstGeom>
          <a:noFill/>
        </p:spPr>
        <p:txBody>
          <a:bodyPr wrap="square" lIns="0" tIns="0" rIns="0" bIns="0" rtlCol="0">
            <a:spAutoFit/>
          </a:bodyPr>
          <a:lstStyle/>
          <a:p>
            <a:r>
              <a:rPr lang="ru-RU" sz="1100" dirty="0"/>
              <a:t>2 – по умолчанию стоит дз на завтра (тк на сегодня по умолчанию стоит на главной странице)</a:t>
            </a:r>
          </a:p>
        </p:txBody>
      </p:sp>
      <p:sp>
        <p:nvSpPr>
          <p:cNvPr id="58" name="Прямоугольник 57">
            <a:extLst>
              <a:ext uri="{FF2B5EF4-FFF2-40B4-BE49-F238E27FC236}">
                <a16:creationId xmlns:a16="http://schemas.microsoft.com/office/drawing/2014/main" id="{EC840437-C47B-AF6C-659E-1D17E93A9E65}"/>
              </a:ext>
            </a:extLst>
          </p:cNvPr>
          <p:cNvSpPr/>
          <p:nvPr/>
        </p:nvSpPr>
        <p:spPr>
          <a:xfrm>
            <a:off x="6686546" y="119598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9" name="TextBox 58">
            <a:extLst>
              <a:ext uri="{FF2B5EF4-FFF2-40B4-BE49-F238E27FC236}">
                <a16:creationId xmlns:a16="http://schemas.microsoft.com/office/drawing/2014/main" id="{14B08195-614B-B179-9D40-46FA6F28BF09}"/>
              </a:ext>
            </a:extLst>
          </p:cNvPr>
          <p:cNvSpPr txBox="1"/>
          <p:nvPr/>
        </p:nvSpPr>
        <p:spPr>
          <a:xfrm>
            <a:off x="6988676" y="1247463"/>
            <a:ext cx="432811" cy="184666"/>
          </a:xfrm>
          <a:prstGeom prst="rect">
            <a:avLst/>
          </a:prstGeom>
          <a:noFill/>
        </p:spPr>
        <p:txBody>
          <a:bodyPr wrap="none" lIns="0" tIns="0" rIns="0" bIns="0" rtlCol="0">
            <a:spAutoFit/>
          </a:bodyPr>
          <a:lstStyle/>
          <a:p>
            <a:r>
              <a:rPr lang="ru-RU" sz="1200" dirty="0"/>
              <a:t>Завтра</a:t>
            </a:r>
          </a:p>
        </p:txBody>
      </p:sp>
      <p:sp>
        <p:nvSpPr>
          <p:cNvPr id="60" name="TextBox 59">
            <a:extLst>
              <a:ext uri="{FF2B5EF4-FFF2-40B4-BE49-F238E27FC236}">
                <a16:creationId xmlns:a16="http://schemas.microsoft.com/office/drawing/2014/main" id="{83CBC818-C8F5-48C2-5330-E288132BB0AC}"/>
              </a:ext>
            </a:extLst>
          </p:cNvPr>
          <p:cNvSpPr txBox="1"/>
          <p:nvPr/>
        </p:nvSpPr>
        <p:spPr>
          <a:xfrm>
            <a:off x="7627961" y="1247463"/>
            <a:ext cx="292901" cy="184666"/>
          </a:xfrm>
          <a:prstGeom prst="rect">
            <a:avLst/>
          </a:prstGeom>
          <a:noFill/>
        </p:spPr>
        <p:txBody>
          <a:bodyPr wrap="none" lIns="0" tIns="0" rIns="0" bIns="0" rtlCol="0">
            <a:spAutoFit/>
          </a:bodyPr>
          <a:lstStyle/>
          <a:p>
            <a:r>
              <a:rPr lang="ru-RU" sz="1200" dirty="0"/>
              <a:t>дата</a:t>
            </a:r>
          </a:p>
        </p:txBody>
      </p:sp>
      <p:sp>
        <p:nvSpPr>
          <p:cNvPr id="66" name="TextBox 65">
            <a:extLst>
              <a:ext uri="{FF2B5EF4-FFF2-40B4-BE49-F238E27FC236}">
                <a16:creationId xmlns:a16="http://schemas.microsoft.com/office/drawing/2014/main" id="{254C0488-7F0E-7663-0AEB-7C943C22113A}"/>
              </a:ext>
            </a:extLst>
          </p:cNvPr>
          <p:cNvSpPr txBox="1"/>
          <p:nvPr/>
        </p:nvSpPr>
        <p:spPr>
          <a:xfrm>
            <a:off x="6764254" y="1223180"/>
            <a:ext cx="123432" cy="184666"/>
          </a:xfrm>
          <a:prstGeom prst="rect">
            <a:avLst/>
          </a:prstGeom>
          <a:noFill/>
        </p:spPr>
        <p:txBody>
          <a:bodyPr wrap="none" lIns="0" tIns="0" rIns="0" bIns="0" rtlCol="0">
            <a:spAutoFit/>
          </a:bodyPr>
          <a:lstStyle/>
          <a:p>
            <a:r>
              <a:rPr lang="en-US" sz="1200" dirty="0"/>
              <a:t>&lt;-</a:t>
            </a:r>
            <a:endParaRPr lang="ru-RU" sz="1200" dirty="0"/>
          </a:p>
        </p:txBody>
      </p:sp>
      <p:sp>
        <p:nvSpPr>
          <p:cNvPr id="67" name="TextBox 66">
            <a:extLst>
              <a:ext uri="{FF2B5EF4-FFF2-40B4-BE49-F238E27FC236}">
                <a16:creationId xmlns:a16="http://schemas.microsoft.com/office/drawing/2014/main" id="{06363CE1-4FE0-21C4-0F01-0B767FA46ADC}"/>
              </a:ext>
            </a:extLst>
          </p:cNvPr>
          <p:cNvSpPr txBox="1"/>
          <p:nvPr/>
        </p:nvSpPr>
        <p:spPr>
          <a:xfrm>
            <a:off x="8056389" y="1227069"/>
            <a:ext cx="123432" cy="184666"/>
          </a:xfrm>
          <a:prstGeom prst="rect">
            <a:avLst/>
          </a:prstGeom>
          <a:noFill/>
        </p:spPr>
        <p:txBody>
          <a:bodyPr wrap="none" lIns="0" tIns="0" rIns="0" bIns="0" rtlCol="0">
            <a:spAutoFit/>
          </a:bodyPr>
          <a:lstStyle/>
          <a:p>
            <a:r>
              <a:rPr lang="en-US" sz="1200" dirty="0"/>
              <a:t>-&gt;</a:t>
            </a:r>
            <a:endParaRPr lang="ru-RU" sz="1200" dirty="0"/>
          </a:p>
        </p:txBody>
      </p:sp>
      <p:sp>
        <p:nvSpPr>
          <p:cNvPr id="68" name="TextBox 67">
            <a:extLst>
              <a:ext uri="{FF2B5EF4-FFF2-40B4-BE49-F238E27FC236}">
                <a16:creationId xmlns:a16="http://schemas.microsoft.com/office/drawing/2014/main" id="{B3AF7E9C-C10F-05EE-6799-4A85512D9044}"/>
              </a:ext>
            </a:extLst>
          </p:cNvPr>
          <p:cNvSpPr txBox="1"/>
          <p:nvPr/>
        </p:nvSpPr>
        <p:spPr>
          <a:xfrm>
            <a:off x="8556785" y="1223180"/>
            <a:ext cx="123432" cy="184666"/>
          </a:xfrm>
          <a:prstGeom prst="rect">
            <a:avLst/>
          </a:prstGeom>
          <a:noFill/>
        </p:spPr>
        <p:txBody>
          <a:bodyPr wrap="none" lIns="0" tIns="0" rIns="0" bIns="0" rtlCol="0">
            <a:spAutoFit/>
          </a:bodyPr>
          <a:lstStyle/>
          <a:p>
            <a:r>
              <a:rPr lang="en-US" sz="1200" dirty="0"/>
              <a:t>&lt;-</a:t>
            </a:r>
            <a:endParaRPr lang="ru-RU" sz="1200" dirty="0"/>
          </a:p>
        </p:txBody>
      </p:sp>
      <p:sp>
        <p:nvSpPr>
          <p:cNvPr id="69" name="TextBox 68">
            <a:extLst>
              <a:ext uri="{FF2B5EF4-FFF2-40B4-BE49-F238E27FC236}">
                <a16:creationId xmlns:a16="http://schemas.microsoft.com/office/drawing/2014/main" id="{C754D71D-B181-955A-1833-E9C36CE5575B}"/>
              </a:ext>
            </a:extLst>
          </p:cNvPr>
          <p:cNvSpPr txBox="1"/>
          <p:nvPr/>
        </p:nvSpPr>
        <p:spPr>
          <a:xfrm>
            <a:off x="9848920" y="1227069"/>
            <a:ext cx="123432" cy="184666"/>
          </a:xfrm>
          <a:prstGeom prst="rect">
            <a:avLst/>
          </a:prstGeom>
          <a:noFill/>
        </p:spPr>
        <p:txBody>
          <a:bodyPr wrap="none" lIns="0" tIns="0" rIns="0" bIns="0" rtlCol="0">
            <a:spAutoFit/>
          </a:bodyPr>
          <a:lstStyle/>
          <a:p>
            <a:r>
              <a:rPr lang="en-US" sz="1200" dirty="0"/>
              <a:t>-&gt;</a:t>
            </a:r>
            <a:endParaRPr lang="ru-RU" sz="1200" dirty="0"/>
          </a:p>
        </p:txBody>
      </p:sp>
      <p:sp>
        <p:nvSpPr>
          <p:cNvPr id="70" name="TextBox 69">
            <a:extLst>
              <a:ext uri="{FF2B5EF4-FFF2-40B4-BE49-F238E27FC236}">
                <a16:creationId xmlns:a16="http://schemas.microsoft.com/office/drawing/2014/main" id="{60ADC93B-80FB-4EFB-D83C-9805FD35302B}"/>
              </a:ext>
            </a:extLst>
          </p:cNvPr>
          <p:cNvSpPr txBox="1"/>
          <p:nvPr/>
        </p:nvSpPr>
        <p:spPr>
          <a:xfrm>
            <a:off x="10483587" y="1223180"/>
            <a:ext cx="123432" cy="184666"/>
          </a:xfrm>
          <a:prstGeom prst="rect">
            <a:avLst/>
          </a:prstGeom>
          <a:noFill/>
        </p:spPr>
        <p:txBody>
          <a:bodyPr wrap="none" lIns="0" tIns="0" rIns="0" bIns="0" rtlCol="0">
            <a:spAutoFit/>
          </a:bodyPr>
          <a:lstStyle/>
          <a:p>
            <a:r>
              <a:rPr lang="en-US" sz="1200" dirty="0"/>
              <a:t>&lt;-</a:t>
            </a:r>
            <a:endParaRPr lang="ru-RU" sz="1200" dirty="0"/>
          </a:p>
        </p:txBody>
      </p:sp>
      <p:sp>
        <p:nvSpPr>
          <p:cNvPr id="71" name="TextBox 70">
            <a:extLst>
              <a:ext uri="{FF2B5EF4-FFF2-40B4-BE49-F238E27FC236}">
                <a16:creationId xmlns:a16="http://schemas.microsoft.com/office/drawing/2014/main" id="{715B0971-32A1-6382-F616-43A1B860280D}"/>
              </a:ext>
            </a:extLst>
          </p:cNvPr>
          <p:cNvSpPr txBox="1"/>
          <p:nvPr/>
        </p:nvSpPr>
        <p:spPr>
          <a:xfrm>
            <a:off x="11775722" y="1227069"/>
            <a:ext cx="123432" cy="184666"/>
          </a:xfrm>
          <a:prstGeom prst="rect">
            <a:avLst/>
          </a:prstGeom>
          <a:noFill/>
        </p:spPr>
        <p:txBody>
          <a:bodyPr wrap="none" lIns="0" tIns="0" rIns="0" bIns="0" rtlCol="0">
            <a:spAutoFit/>
          </a:bodyPr>
          <a:lstStyle/>
          <a:p>
            <a:r>
              <a:rPr lang="en-US" sz="1200" dirty="0"/>
              <a:t>-&gt;</a:t>
            </a:r>
            <a:endParaRPr lang="ru-RU" sz="1200" dirty="0"/>
          </a:p>
        </p:txBody>
      </p:sp>
      <p:sp>
        <p:nvSpPr>
          <p:cNvPr id="72" name="TextBox 71">
            <a:extLst>
              <a:ext uri="{FF2B5EF4-FFF2-40B4-BE49-F238E27FC236}">
                <a16:creationId xmlns:a16="http://schemas.microsoft.com/office/drawing/2014/main" id="{E3668E45-97FB-2553-EECA-7022ABF40009}"/>
              </a:ext>
            </a:extLst>
          </p:cNvPr>
          <p:cNvSpPr txBox="1"/>
          <p:nvPr/>
        </p:nvSpPr>
        <p:spPr>
          <a:xfrm>
            <a:off x="191164" y="2172174"/>
            <a:ext cx="4376544" cy="338554"/>
          </a:xfrm>
          <a:prstGeom prst="rect">
            <a:avLst/>
          </a:prstGeom>
          <a:noFill/>
        </p:spPr>
        <p:txBody>
          <a:bodyPr wrap="square" lIns="0" tIns="0" rIns="0" bIns="0" rtlCol="0">
            <a:spAutoFit/>
          </a:bodyPr>
          <a:lstStyle/>
          <a:p>
            <a:r>
              <a:rPr lang="en-US" sz="1100" dirty="0"/>
              <a:t>3 – </a:t>
            </a:r>
            <a:r>
              <a:rPr lang="ru-RU" sz="1100" dirty="0"/>
              <a:t>выбрать можно только один фильтр по дню или неделе или по месяцу</a:t>
            </a:r>
          </a:p>
        </p:txBody>
      </p:sp>
      <p:sp>
        <p:nvSpPr>
          <p:cNvPr id="73" name="TextBox 72">
            <a:extLst>
              <a:ext uri="{FF2B5EF4-FFF2-40B4-BE49-F238E27FC236}">
                <a16:creationId xmlns:a16="http://schemas.microsoft.com/office/drawing/2014/main" id="{BACCB694-7DB5-7D43-9587-32B9122864BE}"/>
              </a:ext>
            </a:extLst>
          </p:cNvPr>
          <p:cNvSpPr txBox="1"/>
          <p:nvPr/>
        </p:nvSpPr>
        <p:spPr>
          <a:xfrm>
            <a:off x="10148341" y="1737239"/>
            <a:ext cx="1852495" cy="738664"/>
          </a:xfrm>
          <a:prstGeom prst="rect">
            <a:avLst/>
          </a:prstGeom>
          <a:noFill/>
        </p:spPr>
        <p:txBody>
          <a:bodyPr wrap="none" lIns="0" tIns="0" rIns="0" bIns="0" rtlCol="0">
            <a:spAutoFit/>
          </a:bodyPr>
          <a:lstStyle/>
          <a:p>
            <a:r>
              <a:rPr lang="ru-RU" sz="1200" dirty="0"/>
              <a:t>Статус иконкой</a:t>
            </a:r>
            <a:br>
              <a:rPr lang="ru-RU" sz="1200" dirty="0"/>
            </a:br>
            <a:r>
              <a:rPr lang="ru-RU" sz="1200" dirty="0"/>
              <a:t>или чекбокс для отметки</a:t>
            </a:r>
          </a:p>
          <a:p>
            <a:r>
              <a:rPr lang="ru-RU" sz="1200" dirty="0"/>
              <a:t> пользователем (можно как </a:t>
            </a:r>
            <a:br>
              <a:rPr lang="ru-RU" sz="1200" dirty="0"/>
            </a:br>
            <a:r>
              <a:rPr lang="ru-RU" sz="1200" dirty="0"/>
              <a:t>снять так и поставить)</a:t>
            </a:r>
          </a:p>
        </p:txBody>
      </p:sp>
      <p:sp>
        <p:nvSpPr>
          <p:cNvPr id="74" name="TextBox 73">
            <a:extLst>
              <a:ext uri="{FF2B5EF4-FFF2-40B4-BE49-F238E27FC236}">
                <a16:creationId xmlns:a16="http://schemas.microsoft.com/office/drawing/2014/main" id="{AFC6C112-DFAA-F147-81D1-47B4CB9AD31B}"/>
              </a:ext>
            </a:extLst>
          </p:cNvPr>
          <p:cNvSpPr txBox="1"/>
          <p:nvPr/>
        </p:nvSpPr>
        <p:spPr>
          <a:xfrm>
            <a:off x="5141071" y="2060573"/>
            <a:ext cx="2501134" cy="184666"/>
          </a:xfrm>
          <a:prstGeom prst="rect">
            <a:avLst/>
          </a:prstGeom>
          <a:noFill/>
        </p:spPr>
        <p:txBody>
          <a:bodyPr wrap="none" lIns="0" tIns="0" rIns="0" bIns="0" rtlCol="0">
            <a:spAutoFit/>
          </a:bodyPr>
          <a:lstStyle/>
          <a:p>
            <a:r>
              <a:rPr lang="ru-RU" sz="1200" dirty="0"/>
              <a:t>Ссылка (</a:t>
            </a:r>
            <a:r>
              <a:rPr lang="ru-RU" sz="1200" dirty="0" err="1"/>
              <a:t>кликабельная</a:t>
            </a:r>
            <a:r>
              <a:rPr lang="ru-RU" sz="1200" dirty="0"/>
              <a:t> будет иконкой)</a:t>
            </a:r>
          </a:p>
        </p:txBody>
      </p:sp>
      <p:sp>
        <p:nvSpPr>
          <p:cNvPr id="75" name="TextBox 74">
            <a:extLst>
              <a:ext uri="{FF2B5EF4-FFF2-40B4-BE49-F238E27FC236}">
                <a16:creationId xmlns:a16="http://schemas.microsoft.com/office/drawing/2014/main" id="{B2E53A30-27FE-D8C0-356D-0254AA3CED2A}"/>
              </a:ext>
            </a:extLst>
          </p:cNvPr>
          <p:cNvSpPr txBox="1"/>
          <p:nvPr/>
        </p:nvSpPr>
        <p:spPr>
          <a:xfrm>
            <a:off x="5141071" y="2339011"/>
            <a:ext cx="1503681" cy="184666"/>
          </a:xfrm>
          <a:prstGeom prst="rect">
            <a:avLst/>
          </a:prstGeom>
          <a:noFill/>
        </p:spPr>
        <p:txBody>
          <a:bodyPr wrap="none" lIns="0" tIns="0" rIns="0" bIns="0" rtlCol="0">
            <a:spAutoFit/>
          </a:bodyPr>
          <a:lstStyle/>
          <a:p>
            <a:r>
              <a:rPr lang="ru-RU" sz="1200" dirty="0"/>
              <a:t>Само задание текстом</a:t>
            </a:r>
          </a:p>
        </p:txBody>
      </p:sp>
      <p:grpSp>
        <p:nvGrpSpPr>
          <p:cNvPr id="82" name="Группа 81">
            <a:extLst>
              <a:ext uri="{FF2B5EF4-FFF2-40B4-BE49-F238E27FC236}">
                <a16:creationId xmlns:a16="http://schemas.microsoft.com/office/drawing/2014/main" id="{76E27CB3-30E6-27D8-1764-6F1096EDA67B}"/>
              </a:ext>
            </a:extLst>
          </p:cNvPr>
          <p:cNvGrpSpPr/>
          <p:nvPr/>
        </p:nvGrpSpPr>
        <p:grpSpPr>
          <a:xfrm>
            <a:off x="6479034" y="3137253"/>
            <a:ext cx="5388236" cy="880036"/>
            <a:chOff x="4928315" y="3239753"/>
            <a:chExt cx="7147775" cy="1167413"/>
          </a:xfrm>
        </p:grpSpPr>
        <p:sp>
          <p:nvSpPr>
            <p:cNvPr id="76" name="Прямоугольник 75">
              <a:extLst>
                <a:ext uri="{FF2B5EF4-FFF2-40B4-BE49-F238E27FC236}">
                  <a16:creationId xmlns:a16="http://schemas.microsoft.com/office/drawing/2014/main" id="{BA953410-9E6D-6B3F-0ABA-4E7A183738A7}"/>
                </a:ext>
              </a:extLst>
            </p:cNvPr>
            <p:cNvSpPr/>
            <p:nvPr/>
          </p:nvSpPr>
          <p:spPr>
            <a:xfrm>
              <a:off x="4928315" y="3239753"/>
              <a:ext cx="7147775" cy="116741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TextBox 76">
              <a:extLst>
                <a:ext uri="{FF2B5EF4-FFF2-40B4-BE49-F238E27FC236}">
                  <a16:creationId xmlns:a16="http://schemas.microsoft.com/office/drawing/2014/main" id="{31177E38-B397-C6DD-F254-BB277AEB5179}"/>
                </a:ext>
              </a:extLst>
            </p:cNvPr>
            <p:cNvSpPr txBox="1"/>
            <p:nvPr/>
          </p:nvSpPr>
          <p:spPr>
            <a:xfrm>
              <a:off x="5141071" y="3397703"/>
              <a:ext cx="577594" cy="184666"/>
            </a:xfrm>
            <a:prstGeom prst="rect">
              <a:avLst/>
            </a:prstGeom>
            <a:noFill/>
          </p:spPr>
          <p:txBody>
            <a:bodyPr wrap="none" lIns="0" tIns="0" rIns="0" bIns="0" rtlCol="0">
              <a:spAutoFit/>
            </a:bodyPr>
            <a:lstStyle/>
            <a:p>
              <a:r>
                <a:rPr lang="ru-RU" sz="1200" dirty="0"/>
                <a:t>Предмет</a:t>
              </a:r>
            </a:p>
          </p:txBody>
        </p:sp>
        <p:sp>
          <p:nvSpPr>
            <p:cNvPr id="78" name="TextBox 77">
              <a:extLst>
                <a:ext uri="{FF2B5EF4-FFF2-40B4-BE49-F238E27FC236}">
                  <a16:creationId xmlns:a16="http://schemas.microsoft.com/office/drawing/2014/main" id="{A2D86BF0-7303-B367-0988-D9D4096ACC6E}"/>
                </a:ext>
              </a:extLst>
            </p:cNvPr>
            <p:cNvSpPr txBox="1"/>
            <p:nvPr/>
          </p:nvSpPr>
          <p:spPr>
            <a:xfrm>
              <a:off x="9548831" y="3397703"/>
              <a:ext cx="1852495" cy="738664"/>
            </a:xfrm>
            <a:prstGeom prst="rect">
              <a:avLst/>
            </a:prstGeom>
            <a:noFill/>
          </p:spPr>
          <p:txBody>
            <a:bodyPr wrap="none" lIns="0" tIns="0" rIns="0" bIns="0" rtlCol="0">
              <a:spAutoFit/>
            </a:bodyPr>
            <a:lstStyle/>
            <a:p>
              <a:r>
                <a:rPr lang="ru-RU" sz="1200" dirty="0"/>
                <a:t>Статус иконкой</a:t>
              </a:r>
              <a:br>
                <a:rPr lang="ru-RU" sz="1200" dirty="0"/>
              </a:br>
              <a:r>
                <a:rPr lang="ru-RU" sz="1200" dirty="0"/>
                <a:t>или чекбокс для отметки</a:t>
              </a:r>
            </a:p>
            <a:p>
              <a:r>
                <a:rPr lang="ru-RU" sz="1200" dirty="0"/>
                <a:t> пользователем (можно как </a:t>
              </a:r>
              <a:br>
                <a:rPr lang="ru-RU" sz="1200" dirty="0"/>
              </a:br>
              <a:r>
                <a:rPr lang="ru-RU" sz="1200" dirty="0"/>
                <a:t>снять так и поставить)</a:t>
              </a:r>
            </a:p>
          </p:txBody>
        </p:sp>
        <p:sp>
          <p:nvSpPr>
            <p:cNvPr id="79" name="TextBox 78">
              <a:extLst>
                <a:ext uri="{FF2B5EF4-FFF2-40B4-BE49-F238E27FC236}">
                  <a16:creationId xmlns:a16="http://schemas.microsoft.com/office/drawing/2014/main" id="{691231E8-40CE-04EB-9B2E-6C3F69C68517}"/>
                </a:ext>
              </a:extLst>
            </p:cNvPr>
            <p:cNvSpPr txBox="1"/>
            <p:nvPr/>
          </p:nvSpPr>
          <p:spPr>
            <a:xfrm>
              <a:off x="5141071" y="3721037"/>
              <a:ext cx="2501134" cy="184666"/>
            </a:xfrm>
            <a:prstGeom prst="rect">
              <a:avLst/>
            </a:prstGeom>
            <a:noFill/>
          </p:spPr>
          <p:txBody>
            <a:bodyPr wrap="none" lIns="0" tIns="0" rIns="0" bIns="0" rtlCol="0">
              <a:spAutoFit/>
            </a:bodyPr>
            <a:lstStyle/>
            <a:p>
              <a:r>
                <a:rPr lang="ru-RU" sz="1200" dirty="0"/>
                <a:t>Ссылка (</a:t>
              </a:r>
              <a:r>
                <a:rPr lang="ru-RU" sz="1200" dirty="0" err="1"/>
                <a:t>кликабельная</a:t>
              </a:r>
              <a:r>
                <a:rPr lang="ru-RU" sz="1200" dirty="0"/>
                <a:t> будет иконкой)</a:t>
              </a:r>
            </a:p>
          </p:txBody>
        </p:sp>
        <p:sp>
          <p:nvSpPr>
            <p:cNvPr id="80" name="TextBox 79">
              <a:extLst>
                <a:ext uri="{FF2B5EF4-FFF2-40B4-BE49-F238E27FC236}">
                  <a16:creationId xmlns:a16="http://schemas.microsoft.com/office/drawing/2014/main" id="{35296CC7-E41F-A001-F378-AA5F13812CA9}"/>
                </a:ext>
              </a:extLst>
            </p:cNvPr>
            <p:cNvSpPr txBox="1"/>
            <p:nvPr/>
          </p:nvSpPr>
          <p:spPr>
            <a:xfrm>
              <a:off x="5141071" y="3999475"/>
              <a:ext cx="1503681" cy="184666"/>
            </a:xfrm>
            <a:prstGeom prst="rect">
              <a:avLst/>
            </a:prstGeom>
            <a:noFill/>
          </p:spPr>
          <p:txBody>
            <a:bodyPr wrap="none" lIns="0" tIns="0" rIns="0" bIns="0" rtlCol="0">
              <a:spAutoFit/>
            </a:bodyPr>
            <a:lstStyle/>
            <a:p>
              <a:r>
                <a:rPr lang="ru-RU" sz="1200" dirty="0"/>
                <a:t>Само задание текстом</a:t>
              </a:r>
            </a:p>
          </p:txBody>
        </p:sp>
      </p:grpSp>
      <p:sp>
        <p:nvSpPr>
          <p:cNvPr id="81" name="TextBox 80">
            <a:extLst>
              <a:ext uri="{FF2B5EF4-FFF2-40B4-BE49-F238E27FC236}">
                <a16:creationId xmlns:a16="http://schemas.microsoft.com/office/drawing/2014/main" id="{E8763EE8-1E41-F611-F775-87917C08AB73}"/>
              </a:ext>
            </a:extLst>
          </p:cNvPr>
          <p:cNvSpPr txBox="1"/>
          <p:nvPr/>
        </p:nvSpPr>
        <p:spPr>
          <a:xfrm>
            <a:off x="7073439" y="2801361"/>
            <a:ext cx="3959097" cy="184666"/>
          </a:xfrm>
          <a:prstGeom prst="rect">
            <a:avLst/>
          </a:prstGeom>
          <a:noFill/>
        </p:spPr>
        <p:txBody>
          <a:bodyPr wrap="none" lIns="0" tIns="0" rIns="0" bIns="0" rtlCol="0">
            <a:spAutoFit/>
          </a:bodyPr>
          <a:lstStyle/>
          <a:p>
            <a:r>
              <a:rPr lang="ru-RU" sz="1200" dirty="0"/>
              <a:t>Если выбрали по неделям то ниже пример как должно быть</a:t>
            </a:r>
          </a:p>
        </p:txBody>
      </p:sp>
      <p:grpSp>
        <p:nvGrpSpPr>
          <p:cNvPr id="84" name="Группа 83">
            <a:extLst>
              <a:ext uri="{FF2B5EF4-FFF2-40B4-BE49-F238E27FC236}">
                <a16:creationId xmlns:a16="http://schemas.microsoft.com/office/drawing/2014/main" id="{C14CBC0E-8BD1-0085-56EC-D95A7F8CF158}"/>
              </a:ext>
            </a:extLst>
          </p:cNvPr>
          <p:cNvGrpSpPr/>
          <p:nvPr/>
        </p:nvGrpSpPr>
        <p:grpSpPr>
          <a:xfrm>
            <a:off x="6479034" y="4166885"/>
            <a:ext cx="5388236" cy="880036"/>
            <a:chOff x="4928315" y="3239753"/>
            <a:chExt cx="7147775" cy="1167413"/>
          </a:xfrm>
        </p:grpSpPr>
        <p:sp>
          <p:nvSpPr>
            <p:cNvPr id="85" name="Прямоугольник 84">
              <a:extLst>
                <a:ext uri="{FF2B5EF4-FFF2-40B4-BE49-F238E27FC236}">
                  <a16:creationId xmlns:a16="http://schemas.microsoft.com/office/drawing/2014/main" id="{0800A078-A59A-C2EE-76AE-8C7FA7694C16}"/>
                </a:ext>
              </a:extLst>
            </p:cNvPr>
            <p:cNvSpPr/>
            <p:nvPr/>
          </p:nvSpPr>
          <p:spPr>
            <a:xfrm>
              <a:off x="4928315" y="3239753"/>
              <a:ext cx="7147775" cy="116741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6" name="TextBox 85">
              <a:extLst>
                <a:ext uri="{FF2B5EF4-FFF2-40B4-BE49-F238E27FC236}">
                  <a16:creationId xmlns:a16="http://schemas.microsoft.com/office/drawing/2014/main" id="{1B93F500-366D-9450-B0C2-560F72E1055E}"/>
                </a:ext>
              </a:extLst>
            </p:cNvPr>
            <p:cNvSpPr txBox="1"/>
            <p:nvPr/>
          </p:nvSpPr>
          <p:spPr>
            <a:xfrm>
              <a:off x="5141071" y="3397703"/>
              <a:ext cx="577594" cy="184666"/>
            </a:xfrm>
            <a:prstGeom prst="rect">
              <a:avLst/>
            </a:prstGeom>
            <a:noFill/>
          </p:spPr>
          <p:txBody>
            <a:bodyPr wrap="none" lIns="0" tIns="0" rIns="0" bIns="0" rtlCol="0">
              <a:spAutoFit/>
            </a:bodyPr>
            <a:lstStyle/>
            <a:p>
              <a:r>
                <a:rPr lang="ru-RU" sz="1200" dirty="0"/>
                <a:t>Предмет</a:t>
              </a:r>
            </a:p>
          </p:txBody>
        </p:sp>
        <p:sp>
          <p:nvSpPr>
            <p:cNvPr id="87" name="TextBox 86">
              <a:extLst>
                <a:ext uri="{FF2B5EF4-FFF2-40B4-BE49-F238E27FC236}">
                  <a16:creationId xmlns:a16="http://schemas.microsoft.com/office/drawing/2014/main" id="{578A9C6F-DE09-5BA3-FAE1-CCA40D2103EC}"/>
                </a:ext>
              </a:extLst>
            </p:cNvPr>
            <p:cNvSpPr txBox="1"/>
            <p:nvPr/>
          </p:nvSpPr>
          <p:spPr>
            <a:xfrm>
              <a:off x="9548831" y="3397703"/>
              <a:ext cx="1852495" cy="738664"/>
            </a:xfrm>
            <a:prstGeom prst="rect">
              <a:avLst/>
            </a:prstGeom>
            <a:noFill/>
          </p:spPr>
          <p:txBody>
            <a:bodyPr wrap="none" lIns="0" tIns="0" rIns="0" bIns="0" rtlCol="0">
              <a:spAutoFit/>
            </a:bodyPr>
            <a:lstStyle/>
            <a:p>
              <a:r>
                <a:rPr lang="ru-RU" sz="1200" dirty="0"/>
                <a:t>Статус иконкой</a:t>
              </a:r>
              <a:br>
                <a:rPr lang="ru-RU" sz="1200" dirty="0"/>
              </a:br>
              <a:r>
                <a:rPr lang="ru-RU" sz="1200" dirty="0"/>
                <a:t>или чекбокс для отметки</a:t>
              </a:r>
            </a:p>
            <a:p>
              <a:r>
                <a:rPr lang="ru-RU" sz="1200" dirty="0"/>
                <a:t> пользователем (можно как </a:t>
              </a:r>
              <a:br>
                <a:rPr lang="ru-RU" sz="1200" dirty="0"/>
              </a:br>
              <a:r>
                <a:rPr lang="ru-RU" sz="1200" dirty="0"/>
                <a:t>снять так и поставить)</a:t>
              </a:r>
            </a:p>
          </p:txBody>
        </p:sp>
        <p:sp>
          <p:nvSpPr>
            <p:cNvPr id="88" name="TextBox 87">
              <a:extLst>
                <a:ext uri="{FF2B5EF4-FFF2-40B4-BE49-F238E27FC236}">
                  <a16:creationId xmlns:a16="http://schemas.microsoft.com/office/drawing/2014/main" id="{C4E4DE96-0686-206A-B11E-FAABBC301EB7}"/>
                </a:ext>
              </a:extLst>
            </p:cNvPr>
            <p:cNvSpPr txBox="1"/>
            <p:nvPr/>
          </p:nvSpPr>
          <p:spPr>
            <a:xfrm>
              <a:off x="5141071" y="3721037"/>
              <a:ext cx="2501134" cy="184666"/>
            </a:xfrm>
            <a:prstGeom prst="rect">
              <a:avLst/>
            </a:prstGeom>
            <a:noFill/>
          </p:spPr>
          <p:txBody>
            <a:bodyPr wrap="none" lIns="0" tIns="0" rIns="0" bIns="0" rtlCol="0">
              <a:spAutoFit/>
            </a:bodyPr>
            <a:lstStyle/>
            <a:p>
              <a:r>
                <a:rPr lang="ru-RU" sz="1200" dirty="0"/>
                <a:t>Ссылка (</a:t>
              </a:r>
              <a:r>
                <a:rPr lang="ru-RU" sz="1200" dirty="0" err="1"/>
                <a:t>кликабельная</a:t>
              </a:r>
              <a:r>
                <a:rPr lang="ru-RU" sz="1200" dirty="0"/>
                <a:t> будет иконкой)</a:t>
              </a:r>
            </a:p>
          </p:txBody>
        </p:sp>
        <p:sp>
          <p:nvSpPr>
            <p:cNvPr id="89" name="TextBox 88">
              <a:extLst>
                <a:ext uri="{FF2B5EF4-FFF2-40B4-BE49-F238E27FC236}">
                  <a16:creationId xmlns:a16="http://schemas.microsoft.com/office/drawing/2014/main" id="{25597B18-CC5C-94CC-6AA2-BF2694A227F1}"/>
                </a:ext>
              </a:extLst>
            </p:cNvPr>
            <p:cNvSpPr txBox="1"/>
            <p:nvPr/>
          </p:nvSpPr>
          <p:spPr>
            <a:xfrm>
              <a:off x="5141071" y="3999475"/>
              <a:ext cx="1503681" cy="184666"/>
            </a:xfrm>
            <a:prstGeom prst="rect">
              <a:avLst/>
            </a:prstGeom>
            <a:noFill/>
          </p:spPr>
          <p:txBody>
            <a:bodyPr wrap="none" lIns="0" tIns="0" rIns="0" bIns="0" rtlCol="0">
              <a:spAutoFit/>
            </a:bodyPr>
            <a:lstStyle/>
            <a:p>
              <a:r>
                <a:rPr lang="ru-RU" sz="1200" dirty="0"/>
                <a:t>Само задание текстом</a:t>
              </a:r>
            </a:p>
          </p:txBody>
        </p:sp>
      </p:grpSp>
      <p:sp>
        <p:nvSpPr>
          <p:cNvPr id="90" name="TextBox 89">
            <a:extLst>
              <a:ext uri="{FF2B5EF4-FFF2-40B4-BE49-F238E27FC236}">
                <a16:creationId xmlns:a16="http://schemas.microsoft.com/office/drawing/2014/main" id="{4194B2D1-70CF-D503-0DFC-0E9E3601AC65}"/>
              </a:ext>
            </a:extLst>
          </p:cNvPr>
          <p:cNvSpPr txBox="1"/>
          <p:nvPr/>
        </p:nvSpPr>
        <p:spPr>
          <a:xfrm>
            <a:off x="5307224" y="3500061"/>
            <a:ext cx="881973" cy="369332"/>
          </a:xfrm>
          <a:prstGeom prst="rect">
            <a:avLst/>
          </a:prstGeom>
          <a:noFill/>
        </p:spPr>
        <p:txBody>
          <a:bodyPr wrap="none" lIns="0" tIns="0" rIns="0" bIns="0" rtlCol="0">
            <a:spAutoFit/>
          </a:bodyPr>
          <a:lstStyle/>
          <a:p>
            <a:r>
              <a:rPr lang="ru-RU" sz="1200" dirty="0"/>
              <a:t>Понедельник</a:t>
            </a:r>
            <a:br>
              <a:rPr lang="ru-RU" sz="1200" dirty="0"/>
            </a:br>
            <a:r>
              <a:rPr lang="ru-RU" sz="1200" dirty="0"/>
              <a:t>дата</a:t>
            </a:r>
          </a:p>
        </p:txBody>
      </p:sp>
      <p:sp>
        <p:nvSpPr>
          <p:cNvPr id="91" name="TextBox 90">
            <a:extLst>
              <a:ext uri="{FF2B5EF4-FFF2-40B4-BE49-F238E27FC236}">
                <a16:creationId xmlns:a16="http://schemas.microsoft.com/office/drawing/2014/main" id="{D3FE1CD0-CAAD-C12A-D8FD-73B49028AE9A}"/>
              </a:ext>
            </a:extLst>
          </p:cNvPr>
          <p:cNvSpPr txBox="1"/>
          <p:nvPr/>
        </p:nvSpPr>
        <p:spPr>
          <a:xfrm>
            <a:off x="5307224" y="4414631"/>
            <a:ext cx="539571" cy="369332"/>
          </a:xfrm>
          <a:prstGeom prst="rect">
            <a:avLst/>
          </a:prstGeom>
          <a:noFill/>
        </p:spPr>
        <p:txBody>
          <a:bodyPr wrap="none" lIns="0" tIns="0" rIns="0" bIns="0" rtlCol="0">
            <a:spAutoFit/>
          </a:bodyPr>
          <a:lstStyle/>
          <a:p>
            <a:r>
              <a:rPr lang="ru-RU" sz="1200" dirty="0"/>
              <a:t>Вторник</a:t>
            </a:r>
            <a:br>
              <a:rPr lang="ru-RU" sz="1200" dirty="0"/>
            </a:br>
            <a:r>
              <a:rPr lang="ru-RU" sz="1200" dirty="0"/>
              <a:t>Дата</a:t>
            </a:r>
          </a:p>
        </p:txBody>
      </p:sp>
      <p:sp>
        <p:nvSpPr>
          <p:cNvPr id="92" name="TextBox 91">
            <a:extLst>
              <a:ext uri="{FF2B5EF4-FFF2-40B4-BE49-F238E27FC236}">
                <a16:creationId xmlns:a16="http://schemas.microsoft.com/office/drawing/2014/main" id="{B50D237C-1F92-DE8A-B444-0C9E178424F9}"/>
              </a:ext>
            </a:extLst>
          </p:cNvPr>
          <p:cNvSpPr txBox="1"/>
          <p:nvPr/>
        </p:nvSpPr>
        <p:spPr>
          <a:xfrm>
            <a:off x="191164" y="2590809"/>
            <a:ext cx="4376544" cy="1184940"/>
          </a:xfrm>
          <a:prstGeom prst="rect">
            <a:avLst/>
          </a:prstGeom>
          <a:noFill/>
        </p:spPr>
        <p:txBody>
          <a:bodyPr wrap="square" lIns="0" tIns="0" rIns="0" bIns="0" rtlCol="0">
            <a:spAutoFit/>
          </a:bodyPr>
          <a:lstStyle/>
          <a:p>
            <a:r>
              <a:rPr lang="ru-RU" sz="1100" dirty="0"/>
              <a:t>4 – есть сделанный </a:t>
            </a:r>
            <a:r>
              <a:rPr lang="en-US" sz="1100" dirty="0" err="1"/>
              <a:t>tempolate</a:t>
            </a:r>
            <a:r>
              <a:rPr lang="en-US" sz="1100" dirty="0"/>
              <a:t> </a:t>
            </a:r>
            <a:r>
              <a:rPr lang="ru-RU" sz="1100" dirty="0"/>
              <a:t>на </a:t>
            </a:r>
            <a:r>
              <a:rPr lang="en-US" sz="1100" dirty="0" err="1"/>
              <a:t>vue</a:t>
            </a:r>
            <a:r>
              <a:rPr lang="en-US" sz="1100" dirty="0"/>
              <a:t> </a:t>
            </a:r>
            <a:r>
              <a:rPr lang="ru-RU" sz="1100" dirty="0"/>
              <a:t>и </a:t>
            </a:r>
            <a:r>
              <a:rPr lang="ru-RU" sz="1100" dirty="0" err="1"/>
              <a:t>оне</a:t>
            </a:r>
            <a:r>
              <a:rPr lang="ru-RU" sz="1100" dirty="0"/>
              <a:t> просто без всего  показывается когда выбирают по одному дню (сегодня или завтра), если выбрана неделя то собираются несколько таких шаблонов и оборачиваются в ещё один контейнер или блок чтоб можно было добавить ещё и дату и день недели на какое задано. А в формате месяца выбирается день на календаре и он раскрывается ниже сразу с аналогичными </a:t>
            </a:r>
            <a:r>
              <a:rPr lang="en-US" sz="1100" dirty="0"/>
              <a:t>templates </a:t>
            </a:r>
            <a:r>
              <a:rPr lang="ru-RU" sz="1100" dirty="0"/>
              <a:t>но по одному дню</a:t>
            </a:r>
          </a:p>
        </p:txBody>
      </p:sp>
      <p:sp>
        <p:nvSpPr>
          <p:cNvPr id="93" name="TextBox 92">
            <a:extLst>
              <a:ext uri="{FF2B5EF4-FFF2-40B4-BE49-F238E27FC236}">
                <a16:creationId xmlns:a16="http://schemas.microsoft.com/office/drawing/2014/main" id="{B23B2E3C-183A-9EFF-ABEF-ED154B528DAB}"/>
              </a:ext>
            </a:extLst>
          </p:cNvPr>
          <p:cNvSpPr txBox="1"/>
          <p:nvPr/>
        </p:nvSpPr>
        <p:spPr>
          <a:xfrm>
            <a:off x="191164" y="3985385"/>
            <a:ext cx="4376544" cy="846386"/>
          </a:xfrm>
          <a:prstGeom prst="rect">
            <a:avLst/>
          </a:prstGeom>
          <a:noFill/>
        </p:spPr>
        <p:txBody>
          <a:bodyPr wrap="square" lIns="0" tIns="0" rIns="0" bIns="0" rtlCol="0">
            <a:spAutoFit/>
          </a:bodyPr>
          <a:lstStyle/>
          <a:p>
            <a:r>
              <a:rPr lang="ru-RU" sz="1100" dirty="0"/>
              <a:t>5 – по умолчанию будет так: есть фиксированный блок «сегодня» и там нельзя двигать дз а под </a:t>
            </a:r>
            <a:r>
              <a:rPr lang="ru-RU" sz="1100" dirty="0" err="1"/>
              <a:t>нним</a:t>
            </a:r>
            <a:r>
              <a:rPr lang="ru-RU" sz="1100" dirty="0"/>
              <a:t> по умолчанию открывается </a:t>
            </a:r>
            <a:r>
              <a:rPr lang="ru-RU" sz="1100" dirty="0" err="1"/>
              <a:t>завтар</a:t>
            </a:r>
            <a:r>
              <a:rPr lang="ru-RU" sz="1100" dirty="0"/>
              <a:t> и вот его уже можно двигать на дни и щёлкать. Сменяется название только «Завтра, послезавтра, вчера и позавчера и + даты тут в остальных случаях только даты</a:t>
            </a:r>
          </a:p>
        </p:txBody>
      </p:sp>
      <p:sp>
        <p:nvSpPr>
          <p:cNvPr id="94" name="TextBox 93">
            <a:extLst>
              <a:ext uri="{FF2B5EF4-FFF2-40B4-BE49-F238E27FC236}">
                <a16:creationId xmlns:a16="http://schemas.microsoft.com/office/drawing/2014/main" id="{032D4520-475B-487A-C477-5287A96668E2}"/>
              </a:ext>
            </a:extLst>
          </p:cNvPr>
          <p:cNvSpPr txBox="1"/>
          <p:nvPr/>
        </p:nvSpPr>
        <p:spPr>
          <a:xfrm>
            <a:off x="7073439" y="5404689"/>
            <a:ext cx="3968394" cy="184666"/>
          </a:xfrm>
          <a:prstGeom prst="rect">
            <a:avLst/>
          </a:prstGeom>
          <a:noFill/>
        </p:spPr>
        <p:txBody>
          <a:bodyPr wrap="none" lIns="0" tIns="0" rIns="0" bIns="0" rtlCol="0">
            <a:spAutoFit/>
          </a:bodyPr>
          <a:lstStyle/>
          <a:p>
            <a:r>
              <a:rPr lang="ru-RU" sz="1200" dirty="0"/>
              <a:t>Если выбрали по месяцам то ниже пример как должно быть</a:t>
            </a:r>
          </a:p>
        </p:txBody>
      </p:sp>
      <p:sp>
        <p:nvSpPr>
          <p:cNvPr id="95" name="Прямоугольник 94">
            <a:extLst>
              <a:ext uri="{FF2B5EF4-FFF2-40B4-BE49-F238E27FC236}">
                <a16:creationId xmlns:a16="http://schemas.microsoft.com/office/drawing/2014/main" id="{E3871B58-5F14-A922-CF48-22FC7EA341D9}"/>
              </a:ext>
            </a:extLst>
          </p:cNvPr>
          <p:cNvSpPr/>
          <p:nvPr/>
        </p:nvSpPr>
        <p:spPr>
          <a:xfrm>
            <a:off x="4928315" y="5662018"/>
            <a:ext cx="7147774" cy="1147100"/>
          </a:xfrm>
          <a:prstGeom prst="rect">
            <a:avLst/>
          </a:prstGeom>
          <a:solidFill>
            <a:srgbClr val="D1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6" name="TextBox 95">
            <a:extLst>
              <a:ext uri="{FF2B5EF4-FFF2-40B4-BE49-F238E27FC236}">
                <a16:creationId xmlns:a16="http://schemas.microsoft.com/office/drawing/2014/main" id="{95EAD4AE-9A5E-7B2A-C1AB-C1ADDCD5FF41}"/>
              </a:ext>
            </a:extLst>
          </p:cNvPr>
          <p:cNvSpPr txBox="1"/>
          <p:nvPr/>
        </p:nvSpPr>
        <p:spPr>
          <a:xfrm>
            <a:off x="5150946" y="5801202"/>
            <a:ext cx="161904" cy="184666"/>
          </a:xfrm>
          <a:prstGeom prst="rect">
            <a:avLst/>
          </a:prstGeom>
          <a:noFill/>
        </p:spPr>
        <p:txBody>
          <a:bodyPr wrap="none" lIns="0" tIns="0" rIns="0" bIns="0" rtlCol="0">
            <a:spAutoFit/>
          </a:bodyPr>
          <a:lstStyle/>
          <a:p>
            <a:r>
              <a:rPr lang="ru-RU" sz="1200" dirty="0" err="1"/>
              <a:t>пн</a:t>
            </a:r>
            <a:endParaRPr lang="ru-RU" sz="1200" dirty="0"/>
          </a:p>
        </p:txBody>
      </p:sp>
      <p:sp>
        <p:nvSpPr>
          <p:cNvPr id="97" name="TextBox 96">
            <a:extLst>
              <a:ext uri="{FF2B5EF4-FFF2-40B4-BE49-F238E27FC236}">
                <a16:creationId xmlns:a16="http://schemas.microsoft.com/office/drawing/2014/main" id="{BA9C001A-53D4-C757-A945-DA0494836209}"/>
              </a:ext>
            </a:extLst>
          </p:cNvPr>
          <p:cNvSpPr txBox="1"/>
          <p:nvPr/>
        </p:nvSpPr>
        <p:spPr>
          <a:xfrm>
            <a:off x="5817038" y="5801202"/>
            <a:ext cx="133050" cy="184666"/>
          </a:xfrm>
          <a:prstGeom prst="rect">
            <a:avLst/>
          </a:prstGeom>
          <a:noFill/>
        </p:spPr>
        <p:txBody>
          <a:bodyPr wrap="none" lIns="0" tIns="0" rIns="0" bIns="0" rtlCol="0">
            <a:spAutoFit/>
          </a:bodyPr>
          <a:lstStyle/>
          <a:p>
            <a:r>
              <a:rPr lang="ru-RU" sz="1200" dirty="0"/>
              <a:t>вт</a:t>
            </a:r>
          </a:p>
        </p:txBody>
      </p:sp>
      <p:sp>
        <p:nvSpPr>
          <p:cNvPr id="98" name="TextBox 97">
            <a:extLst>
              <a:ext uri="{FF2B5EF4-FFF2-40B4-BE49-F238E27FC236}">
                <a16:creationId xmlns:a16="http://schemas.microsoft.com/office/drawing/2014/main" id="{8A2A9ED9-C5EF-2056-BB14-B853D7BB2E4C}"/>
              </a:ext>
            </a:extLst>
          </p:cNvPr>
          <p:cNvSpPr txBox="1"/>
          <p:nvPr/>
        </p:nvSpPr>
        <p:spPr>
          <a:xfrm>
            <a:off x="6454276" y="5801202"/>
            <a:ext cx="145874" cy="184666"/>
          </a:xfrm>
          <a:prstGeom prst="rect">
            <a:avLst/>
          </a:prstGeom>
          <a:noFill/>
        </p:spPr>
        <p:txBody>
          <a:bodyPr wrap="none" lIns="0" tIns="0" rIns="0" bIns="0" rtlCol="0">
            <a:spAutoFit/>
          </a:bodyPr>
          <a:lstStyle/>
          <a:p>
            <a:r>
              <a:rPr lang="ru-RU" sz="1200" dirty="0"/>
              <a:t>ср</a:t>
            </a:r>
          </a:p>
        </p:txBody>
      </p:sp>
      <p:sp>
        <p:nvSpPr>
          <p:cNvPr id="99" name="TextBox 98">
            <a:extLst>
              <a:ext uri="{FF2B5EF4-FFF2-40B4-BE49-F238E27FC236}">
                <a16:creationId xmlns:a16="http://schemas.microsoft.com/office/drawing/2014/main" id="{124BD1FE-1B33-BD1C-64B8-47E04B2BDD18}"/>
              </a:ext>
            </a:extLst>
          </p:cNvPr>
          <p:cNvSpPr txBox="1"/>
          <p:nvPr/>
        </p:nvSpPr>
        <p:spPr>
          <a:xfrm>
            <a:off x="7104338" y="5801202"/>
            <a:ext cx="131446" cy="184666"/>
          </a:xfrm>
          <a:prstGeom prst="rect">
            <a:avLst/>
          </a:prstGeom>
          <a:noFill/>
        </p:spPr>
        <p:txBody>
          <a:bodyPr wrap="none" lIns="0" tIns="0" rIns="0" bIns="0" rtlCol="0">
            <a:spAutoFit/>
          </a:bodyPr>
          <a:lstStyle/>
          <a:p>
            <a:r>
              <a:rPr lang="ru-RU" sz="1200" dirty="0" err="1"/>
              <a:t>чт</a:t>
            </a:r>
            <a:endParaRPr lang="ru-RU" sz="1200" dirty="0"/>
          </a:p>
        </p:txBody>
      </p:sp>
      <p:sp>
        <p:nvSpPr>
          <p:cNvPr id="100" name="TextBox 99">
            <a:extLst>
              <a:ext uri="{FF2B5EF4-FFF2-40B4-BE49-F238E27FC236}">
                <a16:creationId xmlns:a16="http://schemas.microsoft.com/office/drawing/2014/main" id="{E888F1FF-914D-BC4E-4C48-02CBDBB4D353}"/>
              </a:ext>
            </a:extLst>
          </p:cNvPr>
          <p:cNvSpPr txBox="1"/>
          <p:nvPr/>
        </p:nvSpPr>
        <p:spPr>
          <a:xfrm>
            <a:off x="7739972" y="5801202"/>
            <a:ext cx="139462" cy="184666"/>
          </a:xfrm>
          <a:prstGeom prst="rect">
            <a:avLst/>
          </a:prstGeom>
          <a:noFill/>
        </p:spPr>
        <p:txBody>
          <a:bodyPr wrap="none" lIns="0" tIns="0" rIns="0" bIns="0" rtlCol="0">
            <a:spAutoFit/>
          </a:bodyPr>
          <a:lstStyle/>
          <a:p>
            <a:r>
              <a:rPr lang="ru-RU" sz="1200" dirty="0" err="1"/>
              <a:t>пт</a:t>
            </a:r>
            <a:endParaRPr lang="ru-RU" sz="1200" dirty="0"/>
          </a:p>
        </p:txBody>
      </p:sp>
      <p:sp>
        <p:nvSpPr>
          <p:cNvPr id="101" name="TextBox 100">
            <a:extLst>
              <a:ext uri="{FF2B5EF4-FFF2-40B4-BE49-F238E27FC236}">
                <a16:creationId xmlns:a16="http://schemas.microsoft.com/office/drawing/2014/main" id="{027BD632-9960-3AD9-53E5-6761CF306CE4}"/>
              </a:ext>
            </a:extLst>
          </p:cNvPr>
          <p:cNvSpPr txBox="1"/>
          <p:nvPr/>
        </p:nvSpPr>
        <p:spPr>
          <a:xfrm>
            <a:off x="8383621" y="5801202"/>
            <a:ext cx="147476" cy="184666"/>
          </a:xfrm>
          <a:prstGeom prst="rect">
            <a:avLst/>
          </a:prstGeom>
          <a:noFill/>
        </p:spPr>
        <p:txBody>
          <a:bodyPr wrap="none" lIns="0" tIns="0" rIns="0" bIns="0" rtlCol="0">
            <a:spAutoFit/>
          </a:bodyPr>
          <a:lstStyle/>
          <a:p>
            <a:r>
              <a:rPr lang="ru-RU" sz="1200" dirty="0"/>
              <a:t>сб</a:t>
            </a:r>
          </a:p>
        </p:txBody>
      </p:sp>
      <p:grpSp>
        <p:nvGrpSpPr>
          <p:cNvPr id="108" name="Группа 107">
            <a:extLst>
              <a:ext uri="{FF2B5EF4-FFF2-40B4-BE49-F238E27FC236}">
                <a16:creationId xmlns:a16="http://schemas.microsoft.com/office/drawing/2014/main" id="{5B0CF0CB-F3C4-A164-8D67-5A103D35048F}"/>
              </a:ext>
            </a:extLst>
          </p:cNvPr>
          <p:cNvGrpSpPr/>
          <p:nvPr/>
        </p:nvGrpSpPr>
        <p:grpSpPr>
          <a:xfrm>
            <a:off x="9002875" y="5739459"/>
            <a:ext cx="2867488" cy="992218"/>
            <a:chOff x="13263767" y="1248090"/>
            <a:chExt cx="3704377" cy="1127003"/>
          </a:xfrm>
        </p:grpSpPr>
        <p:sp>
          <p:nvSpPr>
            <p:cNvPr id="103" name="Прямоугольник 102">
              <a:extLst>
                <a:ext uri="{FF2B5EF4-FFF2-40B4-BE49-F238E27FC236}">
                  <a16:creationId xmlns:a16="http://schemas.microsoft.com/office/drawing/2014/main" id="{7B51AC77-7FE6-5B04-6A41-D996CCD9FF60}"/>
                </a:ext>
              </a:extLst>
            </p:cNvPr>
            <p:cNvSpPr/>
            <p:nvPr/>
          </p:nvSpPr>
          <p:spPr>
            <a:xfrm>
              <a:off x="13263767" y="1248090"/>
              <a:ext cx="3704377" cy="1127003"/>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104" name="TextBox 103">
              <a:extLst>
                <a:ext uri="{FF2B5EF4-FFF2-40B4-BE49-F238E27FC236}">
                  <a16:creationId xmlns:a16="http://schemas.microsoft.com/office/drawing/2014/main" id="{59C6ECD7-A778-BC4F-F18F-42291929CA3D}"/>
                </a:ext>
              </a:extLst>
            </p:cNvPr>
            <p:cNvSpPr txBox="1"/>
            <p:nvPr/>
          </p:nvSpPr>
          <p:spPr>
            <a:xfrm>
              <a:off x="13409957" y="1384745"/>
              <a:ext cx="508152" cy="161583"/>
            </a:xfrm>
            <a:prstGeom prst="rect">
              <a:avLst/>
            </a:prstGeom>
            <a:noFill/>
          </p:spPr>
          <p:txBody>
            <a:bodyPr wrap="none" lIns="0" tIns="0" rIns="0" bIns="0" rtlCol="0">
              <a:spAutoFit/>
            </a:bodyPr>
            <a:lstStyle/>
            <a:p>
              <a:r>
                <a:rPr lang="ru-RU" sz="1050" dirty="0"/>
                <a:t>Предмет</a:t>
              </a:r>
            </a:p>
          </p:txBody>
        </p:sp>
        <p:sp>
          <p:nvSpPr>
            <p:cNvPr id="105" name="TextBox 104">
              <a:extLst>
                <a:ext uri="{FF2B5EF4-FFF2-40B4-BE49-F238E27FC236}">
                  <a16:creationId xmlns:a16="http://schemas.microsoft.com/office/drawing/2014/main" id="{FDDA88F1-0D65-5008-A933-CCE0407E7AEE}"/>
                </a:ext>
              </a:extLst>
            </p:cNvPr>
            <p:cNvSpPr txBox="1"/>
            <p:nvPr/>
          </p:nvSpPr>
          <p:spPr>
            <a:xfrm>
              <a:off x="15149479" y="1342301"/>
              <a:ext cx="1625445" cy="646331"/>
            </a:xfrm>
            <a:prstGeom prst="rect">
              <a:avLst/>
            </a:prstGeom>
            <a:noFill/>
          </p:spPr>
          <p:txBody>
            <a:bodyPr wrap="none" lIns="0" tIns="0" rIns="0" bIns="0" rtlCol="0">
              <a:spAutoFit/>
            </a:bodyPr>
            <a:lstStyle/>
            <a:p>
              <a:r>
                <a:rPr lang="ru-RU" sz="1050" dirty="0"/>
                <a:t>Статус иконкой</a:t>
              </a:r>
              <a:br>
                <a:rPr lang="ru-RU" sz="1050" dirty="0"/>
              </a:br>
              <a:r>
                <a:rPr lang="ru-RU" sz="1050" dirty="0"/>
                <a:t>или чекбокс для отметки</a:t>
              </a:r>
            </a:p>
            <a:p>
              <a:r>
                <a:rPr lang="ru-RU" sz="1050" dirty="0"/>
                <a:t> пользователем (можно как </a:t>
              </a:r>
              <a:br>
                <a:rPr lang="ru-RU" sz="1050" dirty="0"/>
              </a:br>
              <a:r>
                <a:rPr lang="ru-RU" sz="1050" dirty="0"/>
                <a:t>снять так и поставить)</a:t>
              </a:r>
            </a:p>
          </p:txBody>
        </p:sp>
        <p:sp>
          <p:nvSpPr>
            <p:cNvPr id="106" name="TextBox 105">
              <a:extLst>
                <a:ext uri="{FF2B5EF4-FFF2-40B4-BE49-F238E27FC236}">
                  <a16:creationId xmlns:a16="http://schemas.microsoft.com/office/drawing/2014/main" id="{86A9CB0B-4F37-FF21-CAE1-BFE60C0C40D9}"/>
                </a:ext>
              </a:extLst>
            </p:cNvPr>
            <p:cNvSpPr txBox="1"/>
            <p:nvPr/>
          </p:nvSpPr>
          <p:spPr>
            <a:xfrm>
              <a:off x="13409957" y="1575038"/>
              <a:ext cx="1002750" cy="484748"/>
            </a:xfrm>
            <a:prstGeom prst="rect">
              <a:avLst/>
            </a:prstGeom>
            <a:noFill/>
          </p:spPr>
          <p:txBody>
            <a:bodyPr wrap="none" lIns="0" tIns="0" rIns="0" bIns="0" rtlCol="0">
              <a:spAutoFit/>
            </a:bodyPr>
            <a:lstStyle/>
            <a:p>
              <a:r>
                <a:rPr lang="ru-RU" sz="1050" dirty="0"/>
                <a:t>Ссылка </a:t>
              </a:r>
            </a:p>
            <a:p>
              <a:r>
                <a:rPr lang="ru-RU" sz="1050" dirty="0"/>
                <a:t>(</a:t>
              </a:r>
              <a:r>
                <a:rPr lang="ru-RU" sz="1050" dirty="0" err="1"/>
                <a:t>кликабельная</a:t>
              </a:r>
              <a:r>
                <a:rPr lang="ru-RU" sz="1050" dirty="0"/>
                <a:t> </a:t>
              </a:r>
            </a:p>
            <a:p>
              <a:r>
                <a:rPr lang="ru-RU" sz="1050" dirty="0"/>
                <a:t>будет иконкой)</a:t>
              </a:r>
            </a:p>
          </p:txBody>
        </p:sp>
        <p:sp>
          <p:nvSpPr>
            <p:cNvPr id="107" name="TextBox 106">
              <a:extLst>
                <a:ext uri="{FF2B5EF4-FFF2-40B4-BE49-F238E27FC236}">
                  <a16:creationId xmlns:a16="http://schemas.microsoft.com/office/drawing/2014/main" id="{BAF72586-3637-3BFF-9E1C-985B9CAF2B18}"/>
                </a:ext>
              </a:extLst>
            </p:cNvPr>
            <p:cNvSpPr txBox="1"/>
            <p:nvPr/>
          </p:nvSpPr>
          <p:spPr>
            <a:xfrm>
              <a:off x="13409957" y="2088496"/>
              <a:ext cx="1287212" cy="161583"/>
            </a:xfrm>
            <a:prstGeom prst="rect">
              <a:avLst/>
            </a:prstGeom>
            <a:noFill/>
          </p:spPr>
          <p:txBody>
            <a:bodyPr wrap="none" lIns="0" tIns="0" rIns="0" bIns="0" rtlCol="0">
              <a:spAutoFit/>
            </a:bodyPr>
            <a:lstStyle/>
            <a:p>
              <a:r>
                <a:rPr lang="ru-RU" sz="1050" dirty="0"/>
                <a:t>Само задание текстом</a:t>
              </a:r>
            </a:p>
          </p:txBody>
        </p:sp>
      </p:grpSp>
      <p:sp>
        <p:nvSpPr>
          <p:cNvPr id="109" name="TextBox 108">
            <a:extLst>
              <a:ext uri="{FF2B5EF4-FFF2-40B4-BE49-F238E27FC236}">
                <a16:creationId xmlns:a16="http://schemas.microsoft.com/office/drawing/2014/main" id="{B1986A03-391D-5F1C-8309-4DD6DFBF58EF}"/>
              </a:ext>
            </a:extLst>
          </p:cNvPr>
          <p:cNvSpPr txBox="1"/>
          <p:nvPr/>
        </p:nvSpPr>
        <p:spPr>
          <a:xfrm>
            <a:off x="5150946" y="6074466"/>
            <a:ext cx="157094" cy="184666"/>
          </a:xfrm>
          <a:prstGeom prst="rect">
            <a:avLst/>
          </a:prstGeom>
          <a:noFill/>
        </p:spPr>
        <p:txBody>
          <a:bodyPr wrap="none" lIns="0" tIns="0" rIns="0" bIns="0" rtlCol="0">
            <a:spAutoFit/>
          </a:bodyPr>
          <a:lstStyle/>
          <a:p>
            <a:r>
              <a:rPr lang="ru-RU" sz="1200" dirty="0"/>
              <a:t>01</a:t>
            </a:r>
          </a:p>
        </p:txBody>
      </p:sp>
      <p:sp>
        <p:nvSpPr>
          <p:cNvPr id="110" name="TextBox 109">
            <a:extLst>
              <a:ext uri="{FF2B5EF4-FFF2-40B4-BE49-F238E27FC236}">
                <a16:creationId xmlns:a16="http://schemas.microsoft.com/office/drawing/2014/main" id="{2E676FE9-3A53-384B-F76E-CED5640CFE99}"/>
              </a:ext>
            </a:extLst>
          </p:cNvPr>
          <p:cNvSpPr txBox="1"/>
          <p:nvPr/>
        </p:nvSpPr>
        <p:spPr>
          <a:xfrm>
            <a:off x="5817038" y="6074466"/>
            <a:ext cx="157094" cy="184666"/>
          </a:xfrm>
          <a:prstGeom prst="rect">
            <a:avLst/>
          </a:prstGeom>
          <a:noFill/>
        </p:spPr>
        <p:txBody>
          <a:bodyPr wrap="none" lIns="0" tIns="0" rIns="0" bIns="0" rtlCol="0">
            <a:spAutoFit/>
          </a:bodyPr>
          <a:lstStyle/>
          <a:p>
            <a:r>
              <a:rPr lang="ru-RU" sz="1200" dirty="0"/>
              <a:t>02</a:t>
            </a:r>
          </a:p>
        </p:txBody>
      </p:sp>
      <p:sp>
        <p:nvSpPr>
          <p:cNvPr id="111" name="TextBox 110">
            <a:extLst>
              <a:ext uri="{FF2B5EF4-FFF2-40B4-BE49-F238E27FC236}">
                <a16:creationId xmlns:a16="http://schemas.microsoft.com/office/drawing/2014/main" id="{F0B79E73-4D7F-16FC-55BD-03D52519DD7F}"/>
              </a:ext>
            </a:extLst>
          </p:cNvPr>
          <p:cNvSpPr txBox="1"/>
          <p:nvPr/>
        </p:nvSpPr>
        <p:spPr>
          <a:xfrm>
            <a:off x="6454276" y="6074466"/>
            <a:ext cx="157094" cy="184666"/>
          </a:xfrm>
          <a:prstGeom prst="rect">
            <a:avLst/>
          </a:prstGeom>
          <a:noFill/>
        </p:spPr>
        <p:txBody>
          <a:bodyPr wrap="none" lIns="0" tIns="0" rIns="0" bIns="0" rtlCol="0">
            <a:spAutoFit/>
          </a:bodyPr>
          <a:lstStyle/>
          <a:p>
            <a:r>
              <a:rPr lang="ru-RU" sz="1200" dirty="0"/>
              <a:t>03</a:t>
            </a:r>
          </a:p>
        </p:txBody>
      </p:sp>
      <p:sp>
        <p:nvSpPr>
          <p:cNvPr id="112" name="TextBox 111">
            <a:extLst>
              <a:ext uri="{FF2B5EF4-FFF2-40B4-BE49-F238E27FC236}">
                <a16:creationId xmlns:a16="http://schemas.microsoft.com/office/drawing/2014/main" id="{742DE1C6-81E0-988D-C628-7D46976B4C36}"/>
              </a:ext>
            </a:extLst>
          </p:cNvPr>
          <p:cNvSpPr txBox="1"/>
          <p:nvPr/>
        </p:nvSpPr>
        <p:spPr>
          <a:xfrm>
            <a:off x="7104338" y="6074466"/>
            <a:ext cx="157094" cy="184666"/>
          </a:xfrm>
          <a:prstGeom prst="rect">
            <a:avLst/>
          </a:prstGeom>
          <a:noFill/>
        </p:spPr>
        <p:txBody>
          <a:bodyPr wrap="none" lIns="0" tIns="0" rIns="0" bIns="0" rtlCol="0">
            <a:spAutoFit/>
          </a:bodyPr>
          <a:lstStyle/>
          <a:p>
            <a:r>
              <a:rPr lang="ru-RU" sz="1200" dirty="0"/>
              <a:t>04</a:t>
            </a:r>
          </a:p>
        </p:txBody>
      </p:sp>
      <p:sp>
        <p:nvSpPr>
          <p:cNvPr id="113" name="TextBox 112">
            <a:extLst>
              <a:ext uri="{FF2B5EF4-FFF2-40B4-BE49-F238E27FC236}">
                <a16:creationId xmlns:a16="http://schemas.microsoft.com/office/drawing/2014/main" id="{245122E2-7477-F387-3664-CEDE817FED16}"/>
              </a:ext>
            </a:extLst>
          </p:cNvPr>
          <p:cNvSpPr txBox="1"/>
          <p:nvPr/>
        </p:nvSpPr>
        <p:spPr>
          <a:xfrm>
            <a:off x="7739972" y="6074466"/>
            <a:ext cx="157094" cy="184666"/>
          </a:xfrm>
          <a:prstGeom prst="rect">
            <a:avLst/>
          </a:prstGeom>
          <a:noFill/>
        </p:spPr>
        <p:txBody>
          <a:bodyPr wrap="none" lIns="0" tIns="0" rIns="0" bIns="0" rtlCol="0">
            <a:spAutoFit/>
          </a:bodyPr>
          <a:lstStyle/>
          <a:p>
            <a:r>
              <a:rPr lang="ru-RU" sz="1200" dirty="0"/>
              <a:t>05</a:t>
            </a:r>
          </a:p>
        </p:txBody>
      </p:sp>
      <p:sp>
        <p:nvSpPr>
          <p:cNvPr id="114" name="TextBox 113">
            <a:extLst>
              <a:ext uri="{FF2B5EF4-FFF2-40B4-BE49-F238E27FC236}">
                <a16:creationId xmlns:a16="http://schemas.microsoft.com/office/drawing/2014/main" id="{6508C36B-EDF4-CD67-7F63-129C5F9F4E0B}"/>
              </a:ext>
            </a:extLst>
          </p:cNvPr>
          <p:cNvSpPr txBox="1"/>
          <p:nvPr/>
        </p:nvSpPr>
        <p:spPr>
          <a:xfrm>
            <a:off x="8383621" y="6074466"/>
            <a:ext cx="157094" cy="184666"/>
          </a:xfrm>
          <a:prstGeom prst="rect">
            <a:avLst/>
          </a:prstGeom>
          <a:noFill/>
        </p:spPr>
        <p:txBody>
          <a:bodyPr wrap="none" lIns="0" tIns="0" rIns="0" bIns="0" rtlCol="0">
            <a:spAutoFit/>
          </a:bodyPr>
          <a:lstStyle/>
          <a:p>
            <a:r>
              <a:rPr lang="ru-RU" sz="1200" dirty="0"/>
              <a:t>06</a:t>
            </a:r>
          </a:p>
        </p:txBody>
      </p:sp>
      <p:sp>
        <p:nvSpPr>
          <p:cNvPr id="115" name="TextBox 114">
            <a:extLst>
              <a:ext uri="{FF2B5EF4-FFF2-40B4-BE49-F238E27FC236}">
                <a16:creationId xmlns:a16="http://schemas.microsoft.com/office/drawing/2014/main" id="{8C343849-32EB-3CDA-CCC6-2B10E98F8AA5}"/>
              </a:ext>
            </a:extLst>
          </p:cNvPr>
          <p:cNvSpPr txBox="1"/>
          <p:nvPr/>
        </p:nvSpPr>
        <p:spPr>
          <a:xfrm>
            <a:off x="5150946" y="6504729"/>
            <a:ext cx="157094" cy="184666"/>
          </a:xfrm>
          <a:prstGeom prst="rect">
            <a:avLst/>
          </a:prstGeom>
          <a:noFill/>
        </p:spPr>
        <p:txBody>
          <a:bodyPr wrap="none" lIns="0" tIns="0" rIns="0" bIns="0" rtlCol="0">
            <a:spAutoFit/>
          </a:bodyPr>
          <a:lstStyle/>
          <a:p>
            <a:r>
              <a:rPr lang="ru-RU" sz="1200" dirty="0"/>
              <a:t>08</a:t>
            </a:r>
          </a:p>
        </p:txBody>
      </p:sp>
      <p:sp>
        <p:nvSpPr>
          <p:cNvPr id="116" name="TextBox 115">
            <a:extLst>
              <a:ext uri="{FF2B5EF4-FFF2-40B4-BE49-F238E27FC236}">
                <a16:creationId xmlns:a16="http://schemas.microsoft.com/office/drawing/2014/main" id="{27C8D6E1-F91F-9343-372C-854104FC6C5A}"/>
              </a:ext>
            </a:extLst>
          </p:cNvPr>
          <p:cNvSpPr txBox="1"/>
          <p:nvPr/>
        </p:nvSpPr>
        <p:spPr>
          <a:xfrm>
            <a:off x="5817038" y="6504729"/>
            <a:ext cx="157094" cy="184666"/>
          </a:xfrm>
          <a:prstGeom prst="rect">
            <a:avLst/>
          </a:prstGeom>
          <a:noFill/>
        </p:spPr>
        <p:txBody>
          <a:bodyPr wrap="none" lIns="0" tIns="0" rIns="0" bIns="0" rtlCol="0">
            <a:spAutoFit/>
          </a:bodyPr>
          <a:lstStyle/>
          <a:p>
            <a:r>
              <a:rPr lang="ru-RU" sz="1200" dirty="0"/>
              <a:t>09</a:t>
            </a:r>
          </a:p>
        </p:txBody>
      </p:sp>
      <p:sp>
        <p:nvSpPr>
          <p:cNvPr id="117" name="TextBox 116">
            <a:extLst>
              <a:ext uri="{FF2B5EF4-FFF2-40B4-BE49-F238E27FC236}">
                <a16:creationId xmlns:a16="http://schemas.microsoft.com/office/drawing/2014/main" id="{E02062DD-BD5D-B6CB-7F12-E60E2D7F8708}"/>
              </a:ext>
            </a:extLst>
          </p:cNvPr>
          <p:cNvSpPr txBox="1"/>
          <p:nvPr/>
        </p:nvSpPr>
        <p:spPr>
          <a:xfrm>
            <a:off x="6454276" y="6504729"/>
            <a:ext cx="157094" cy="184666"/>
          </a:xfrm>
          <a:prstGeom prst="rect">
            <a:avLst/>
          </a:prstGeom>
          <a:noFill/>
        </p:spPr>
        <p:txBody>
          <a:bodyPr wrap="none" lIns="0" tIns="0" rIns="0" bIns="0" rtlCol="0">
            <a:spAutoFit/>
          </a:bodyPr>
          <a:lstStyle/>
          <a:p>
            <a:r>
              <a:rPr lang="ru-RU" sz="1200" dirty="0"/>
              <a:t>10</a:t>
            </a:r>
          </a:p>
        </p:txBody>
      </p:sp>
      <p:sp>
        <p:nvSpPr>
          <p:cNvPr id="118" name="TextBox 117">
            <a:extLst>
              <a:ext uri="{FF2B5EF4-FFF2-40B4-BE49-F238E27FC236}">
                <a16:creationId xmlns:a16="http://schemas.microsoft.com/office/drawing/2014/main" id="{A2E35C99-F891-6114-FAFB-DDB924C85A99}"/>
              </a:ext>
            </a:extLst>
          </p:cNvPr>
          <p:cNvSpPr txBox="1"/>
          <p:nvPr/>
        </p:nvSpPr>
        <p:spPr>
          <a:xfrm>
            <a:off x="7104338" y="6504729"/>
            <a:ext cx="157094" cy="184666"/>
          </a:xfrm>
          <a:prstGeom prst="rect">
            <a:avLst/>
          </a:prstGeom>
          <a:noFill/>
        </p:spPr>
        <p:txBody>
          <a:bodyPr wrap="none" lIns="0" tIns="0" rIns="0" bIns="0" rtlCol="0">
            <a:spAutoFit/>
          </a:bodyPr>
          <a:lstStyle/>
          <a:p>
            <a:r>
              <a:rPr lang="ru-RU" sz="1200" dirty="0"/>
              <a:t>11</a:t>
            </a:r>
          </a:p>
        </p:txBody>
      </p:sp>
      <p:sp>
        <p:nvSpPr>
          <p:cNvPr id="119" name="TextBox 118">
            <a:extLst>
              <a:ext uri="{FF2B5EF4-FFF2-40B4-BE49-F238E27FC236}">
                <a16:creationId xmlns:a16="http://schemas.microsoft.com/office/drawing/2014/main" id="{F1B2A6D9-FD70-3E62-92AA-FEB3E996FA1E}"/>
              </a:ext>
            </a:extLst>
          </p:cNvPr>
          <p:cNvSpPr txBox="1"/>
          <p:nvPr/>
        </p:nvSpPr>
        <p:spPr>
          <a:xfrm>
            <a:off x="7739972" y="6504729"/>
            <a:ext cx="157094" cy="184666"/>
          </a:xfrm>
          <a:prstGeom prst="rect">
            <a:avLst/>
          </a:prstGeom>
          <a:noFill/>
        </p:spPr>
        <p:txBody>
          <a:bodyPr wrap="none" lIns="0" tIns="0" rIns="0" bIns="0" rtlCol="0">
            <a:spAutoFit/>
          </a:bodyPr>
          <a:lstStyle/>
          <a:p>
            <a:r>
              <a:rPr lang="ru-RU" sz="1200" dirty="0"/>
              <a:t>12</a:t>
            </a:r>
          </a:p>
        </p:txBody>
      </p:sp>
      <p:sp>
        <p:nvSpPr>
          <p:cNvPr id="120" name="TextBox 119">
            <a:extLst>
              <a:ext uri="{FF2B5EF4-FFF2-40B4-BE49-F238E27FC236}">
                <a16:creationId xmlns:a16="http://schemas.microsoft.com/office/drawing/2014/main" id="{7189E150-A3E6-867D-9FD3-74587C081B9A}"/>
              </a:ext>
            </a:extLst>
          </p:cNvPr>
          <p:cNvSpPr txBox="1"/>
          <p:nvPr/>
        </p:nvSpPr>
        <p:spPr>
          <a:xfrm>
            <a:off x="8383621" y="6504729"/>
            <a:ext cx="157094" cy="184666"/>
          </a:xfrm>
          <a:prstGeom prst="rect">
            <a:avLst/>
          </a:prstGeom>
          <a:noFill/>
        </p:spPr>
        <p:txBody>
          <a:bodyPr wrap="none" lIns="0" tIns="0" rIns="0" bIns="0" rtlCol="0">
            <a:spAutoFit/>
          </a:bodyPr>
          <a:lstStyle/>
          <a:p>
            <a:r>
              <a:rPr lang="ru-RU" sz="1200" dirty="0"/>
              <a:t>13</a:t>
            </a:r>
          </a:p>
        </p:txBody>
      </p:sp>
      <p:sp>
        <p:nvSpPr>
          <p:cNvPr id="121" name="Прямоугольник 120">
            <a:extLst>
              <a:ext uri="{FF2B5EF4-FFF2-40B4-BE49-F238E27FC236}">
                <a16:creationId xmlns:a16="http://schemas.microsoft.com/office/drawing/2014/main" id="{897CF0C1-95FD-732A-FBD0-F1BDAB7E57BC}"/>
              </a:ext>
            </a:extLst>
          </p:cNvPr>
          <p:cNvSpPr/>
          <p:nvPr/>
        </p:nvSpPr>
        <p:spPr>
          <a:xfrm>
            <a:off x="5086508" y="6234480"/>
            <a:ext cx="290553" cy="8333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122" name="Прямоугольник 121">
            <a:extLst>
              <a:ext uri="{FF2B5EF4-FFF2-40B4-BE49-F238E27FC236}">
                <a16:creationId xmlns:a16="http://schemas.microsoft.com/office/drawing/2014/main" id="{70850742-70E7-EA59-FCD1-2D8E46559E53}"/>
              </a:ext>
            </a:extLst>
          </p:cNvPr>
          <p:cNvSpPr/>
          <p:nvPr/>
        </p:nvSpPr>
        <p:spPr>
          <a:xfrm>
            <a:off x="5763309" y="6234480"/>
            <a:ext cx="290553" cy="8333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123" name="Прямоугольник 122">
            <a:extLst>
              <a:ext uri="{FF2B5EF4-FFF2-40B4-BE49-F238E27FC236}">
                <a16:creationId xmlns:a16="http://schemas.microsoft.com/office/drawing/2014/main" id="{E1C3F882-06AC-2BE8-882B-C1806C750AF0}"/>
              </a:ext>
            </a:extLst>
          </p:cNvPr>
          <p:cNvSpPr/>
          <p:nvPr/>
        </p:nvSpPr>
        <p:spPr>
          <a:xfrm>
            <a:off x="5763309" y="6342553"/>
            <a:ext cx="290553" cy="8333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124" name="Прямоугольник 123">
            <a:extLst>
              <a:ext uri="{FF2B5EF4-FFF2-40B4-BE49-F238E27FC236}">
                <a16:creationId xmlns:a16="http://schemas.microsoft.com/office/drawing/2014/main" id="{4A78624F-E173-B871-2AB4-613310098D1D}"/>
              </a:ext>
            </a:extLst>
          </p:cNvPr>
          <p:cNvSpPr/>
          <p:nvPr/>
        </p:nvSpPr>
        <p:spPr>
          <a:xfrm>
            <a:off x="6395140" y="6234480"/>
            <a:ext cx="290553" cy="8333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125" name="Прямоугольник 124">
            <a:extLst>
              <a:ext uri="{FF2B5EF4-FFF2-40B4-BE49-F238E27FC236}">
                <a16:creationId xmlns:a16="http://schemas.microsoft.com/office/drawing/2014/main" id="{2FCF3BD2-DA57-1B39-4CF9-55FB6483210D}"/>
              </a:ext>
            </a:extLst>
          </p:cNvPr>
          <p:cNvSpPr/>
          <p:nvPr/>
        </p:nvSpPr>
        <p:spPr>
          <a:xfrm>
            <a:off x="6395140" y="6342553"/>
            <a:ext cx="290553" cy="8333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400"/>
          </a:p>
        </p:txBody>
      </p:sp>
      <p:sp>
        <p:nvSpPr>
          <p:cNvPr id="126" name="TextBox 125">
            <a:extLst>
              <a:ext uri="{FF2B5EF4-FFF2-40B4-BE49-F238E27FC236}">
                <a16:creationId xmlns:a16="http://schemas.microsoft.com/office/drawing/2014/main" id="{A8E7F815-FE54-A562-68D2-322A76F47ADA}"/>
              </a:ext>
            </a:extLst>
          </p:cNvPr>
          <p:cNvSpPr txBox="1"/>
          <p:nvPr/>
        </p:nvSpPr>
        <p:spPr>
          <a:xfrm>
            <a:off x="191164" y="4984151"/>
            <a:ext cx="4376544" cy="507831"/>
          </a:xfrm>
          <a:prstGeom prst="rect">
            <a:avLst/>
          </a:prstGeom>
          <a:noFill/>
        </p:spPr>
        <p:txBody>
          <a:bodyPr wrap="square" lIns="0" tIns="0" rIns="0" bIns="0" rtlCol="0">
            <a:spAutoFit/>
          </a:bodyPr>
          <a:lstStyle/>
          <a:p>
            <a:r>
              <a:rPr lang="ru-RU" sz="1100" dirty="0"/>
              <a:t>6 – под днями неделями кратко пишется предмет если не влезает то троеточие, раскрывается справа от календаря и там по текущему выбранному дню</a:t>
            </a:r>
          </a:p>
        </p:txBody>
      </p:sp>
    </p:spTree>
    <p:extLst>
      <p:ext uri="{BB962C8B-B14F-4D97-AF65-F5344CB8AC3E}">
        <p14:creationId xmlns:p14="http://schemas.microsoft.com/office/powerpoint/2010/main" val="516075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BBF1D13-CE06-C806-8463-F69A90EE5805}"/>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104 – СТРАНИЦА СТУДЕНТ – ДОМАШНЕЕ ЗАДАНИЕ</a:t>
            </a:r>
          </a:p>
        </p:txBody>
      </p:sp>
      <p:sp>
        <p:nvSpPr>
          <p:cNvPr id="3" name="Прямоугольник 2">
            <a:extLst>
              <a:ext uri="{FF2B5EF4-FFF2-40B4-BE49-F238E27FC236}">
                <a16:creationId xmlns:a16="http://schemas.microsoft.com/office/drawing/2014/main" id="{2437AA22-DE2F-A879-84F5-0810F36EAB2D}"/>
              </a:ext>
            </a:extLst>
          </p:cNvPr>
          <p:cNvSpPr/>
          <p:nvPr/>
        </p:nvSpPr>
        <p:spPr>
          <a:xfrm>
            <a:off x="4800601" y="0"/>
            <a:ext cx="7391398"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Job </a:t>
            </a:r>
            <a:r>
              <a:rPr lang="ru-RU" dirty="0"/>
              <a:t>и</a:t>
            </a:r>
            <a:r>
              <a:rPr lang="en-US" dirty="0"/>
              <a:t> User Story</a:t>
            </a:r>
            <a:endParaRPr lang="ru-RU" dirty="0"/>
          </a:p>
        </p:txBody>
      </p:sp>
      <p:sp>
        <p:nvSpPr>
          <p:cNvPr id="5" name="TextBox 4">
            <a:extLst>
              <a:ext uri="{FF2B5EF4-FFF2-40B4-BE49-F238E27FC236}">
                <a16:creationId xmlns:a16="http://schemas.microsoft.com/office/drawing/2014/main" id="{E336B0A3-EADC-13E1-99CB-6B2A5EA9B5BD}"/>
              </a:ext>
            </a:extLst>
          </p:cNvPr>
          <p:cNvSpPr txBox="1"/>
          <p:nvPr/>
        </p:nvSpPr>
        <p:spPr>
          <a:xfrm>
            <a:off x="191164" y="1247804"/>
            <a:ext cx="4376544" cy="1184940"/>
          </a:xfrm>
          <a:prstGeom prst="rect">
            <a:avLst/>
          </a:prstGeom>
          <a:noFill/>
        </p:spPr>
        <p:txBody>
          <a:bodyPr wrap="square" lIns="0" tIns="0" rIns="0" bIns="0" rtlCol="0">
            <a:spAutoFit/>
          </a:bodyPr>
          <a:lstStyle/>
          <a:p>
            <a:r>
              <a:rPr lang="ru-RU" sz="1100" dirty="0"/>
              <a:t>Студент хочет видеть дз на сегодня фиксированно и на завтра по умолчанию, смотреть дз на неделю и на месяц. При этом есть сразу иконка перейти по ссылке если она одна и указана в ячейке ссылка старостой. Отметить у себя сделанное задание или снять отметку. Сделанное задание опускается вниз и вверх поднимается не сделанное первое, сортируем по предметам в этот день, те какой предмет идёт раньше в этот день, то </a:t>
            </a:r>
            <a:r>
              <a:rPr lang="ru-RU" sz="1100" dirty="0" err="1"/>
              <a:t>то</a:t>
            </a:r>
            <a:r>
              <a:rPr lang="ru-RU" sz="1100" dirty="0"/>
              <a:t> дз и будет первым</a:t>
            </a:r>
          </a:p>
        </p:txBody>
      </p:sp>
    </p:spTree>
    <p:extLst>
      <p:ext uri="{BB962C8B-B14F-4D97-AF65-F5344CB8AC3E}">
        <p14:creationId xmlns:p14="http://schemas.microsoft.com/office/powerpoint/2010/main" val="2940155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755DE34E-1F52-2BE9-468C-A5BC762F6445}"/>
              </a:ext>
            </a:extLst>
          </p:cNvPr>
          <p:cNvSpPr>
            <a:spLocks/>
          </p:cNvSpPr>
          <p:nvPr/>
        </p:nvSpPr>
        <p:spPr>
          <a:xfrm>
            <a:off x="4800600" y="0"/>
            <a:ext cx="7391399" cy="6858000"/>
          </a:xfrm>
          <a:prstGeom prst="rect">
            <a:avLst/>
          </a:prstGeom>
          <a:solidFill>
            <a:schemeClr val="bg1">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Прямоугольник 4">
            <a:extLst>
              <a:ext uri="{FF2B5EF4-FFF2-40B4-BE49-F238E27FC236}">
                <a16:creationId xmlns:a16="http://schemas.microsoft.com/office/drawing/2014/main" id="{6B8CB585-D000-9D9E-13D0-F9ED93B0ED70}"/>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105 – СТРАНИЦА СТУДЕНТ – КАРТА</a:t>
            </a:r>
          </a:p>
        </p:txBody>
      </p:sp>
      <p:sp>
        <p:nvSpPr>
          <p:cNvPr id="7" name="TextBox 6">
            <a:extLst>
              <a:ext uri="{FF2B5EF4-FFF2-40B4-BE49-F238E27FC236}">
                <a16:creationId xmlns:a16="http://schemas.microsoft.com/office/drawing/2014/main" id="{F4A6BACE-FADE-7E5D-4C20-821ABD1C29EE}"/>
              </a:ext>
            </a:extLst>
          </p:cNvPr>
          <p:cNvSpPr txBox="1"/>
          <p:nvPr/>
        </p:nvSpPr>
        <p:spPr>
          <a:xfrm>
            <a:off x="191164" y="1110702"/>
            <a:ext cx="4376544" cy="846386"/>
          </a:xfrm>
          <a:prstGeom prst="rect">
            <a:avLst/>
          </a:prstGeom>
          <a:noFill/>
        </p:spPr>
        <p:txBody>
          <a:bodyPr wrap="square" lIns="0" tIns="0" rIns="0" bIns="0" rtlCol="0">
            <a:spAutoFit/>
          </a:bodyPr>
          <a:lstStyle/>
          <a:p>
            <a:r>
              <a:rPr lang="ru-RU" sz="1100" dirty="0"/>
              <a:t>1 – у меня есть схемы некоторых корпусов в формате </a:t>
            </a:r>
            <a:r>
              <a:rPr lang="en-US" sz="1100" dirty="0" err="1"/>
              <a:t>Png</a:t>
            </a:r>
            <a:r>
              <a:rPr lang="en-US" sz="1100" dirty="0"/>
              <a:t> </a:t>
            </a:r>
            <a:r>
              <a:rPr lang="ru-RU" sz="1100" dirty="0"/>
              <a:t>и </a:t>
            </a:r>
            <a:r>
              <a:rPr lang="en-US" sz="1100" dirty="0" err="1"/>
              <a:t>svg</a:t>
            </a:r>
            <a:r>
              <a:rPr lang="ru-RU" sz="1100" dirty="0"/>
              <a:t> и как админ я хочу загружать карту в общий доступ (и эта страница </a:t>
            </a:r>
            <a:r>
              <a:rPr lang="ru-RU" sz="1100" dirty="0" err="1"/>
              <a:t>бцдет</a:t>
            </a:r>
            <a:r>
              <a:rPr lang="ru-RU" sz="1100" dirty="0"/>
              <a:t> видна всем потом на </a:t>
            </a:r>
            <a:r>
              <a:rPr lang="ru-RU" sz="1100" dirty="0" err="1"/>
              <a:t>лендинге</a:t>
            </a:r>
            <a:r>
              <a:rPr lang="ru-RU" sz="1100" dirty="0"/>
              <a:t>, те карта будет у всех). А так на будущее тут будет идея отзывов аудиторий рейтинга и фото для всех зарегистрированных пользователей</a:t>
            </a:r>
          </a:p>
        </p:txBody>
      </p:sp>
      <p:grpSp>
        <p:nvGrpSpPr>
          <p:cNvPr id="2" name="Группа 1">
            <a:extLst>
              <a:ext uri="{FF2B5EF4-FFF2-40B4-BE49-F238E27FC236}">
                <a16:creationId xmlns:a16="http://schemas.microsoft.com/office/drawing/2014/main" id="{3148C457-7A5C-7B2E-2ADF-8A798F094DDB}"/>
              </a:ext>
            </a:extLst>
          </p:cNvPr>
          <p:cNvGrpSpPr/>
          <p:nvPr/>
        </p:nvGrpSpPr>
        <p:grpSpPr>
          <a:xfrm>
            <a:off x="4928315" y="96316"/>
            <a:ext cx="7180627" cy="1014386"/>
            <a:chOff x="4928315" y="96316"/>
            <a:chExt cx="7180627" cy="1014386"/>
          </a:xfrm>
        </p:grpSpPr>
        <p:grpSp>
          <p:nvGrpSpPr>
            <p:cNvPr id="3" name="Группа 2">
              <a:extLst>
                <a:ext uri="{FF2B5EF4-FFF2-40B4-BE49-F238E27FC236}">
                  <a16:creationId xmlns:a16="http://schemas.microsoft.com/office/drawing/2014/main" id="{F466516C-D91F-EC53-45AA-A7A9C1FDD05F}"/>
                </a:ext>
              </a:extLst>
            </p:cNvPr>
            <p:cNvGrpSpPr/>
            <p:nvPr/>
          </p:nvGrpSpPr>
          <p:grpSpPr>
            <a:xfrm>
              <a:off x="4928315" y="128790"/>
              <a:ext cx="1614152" cy="287630"/>
              <a:chOff x="1803042" y="2137890"/>
              <a:chExt cx="1747234" cy="523744"/>
            </a:xfrm>
          </p:grpSpPr>
          <p:sp>
            <p:nvSpPr>
              <p:cNvPr id="20" name="Прямоугольник 19">
                <a:extLst>
                  <a:ext uri="{FF2B5EF4-FFF2-40B4-BE49-F238E27FC236}">
                    <a16:creationId xmlns:a16="http://schemas.microsoft.com/office/drawing/2014/main" id="{ABD5C23E-8D64-5809-614A-D3BB9F0F02A0}"/>
                  </a:ext>
                </a:extLst>
              </p:cNvPr>
              <p:cNvSpPr/>
              <p:nvPr/>
            </p:nvSpPr>
            <p:spPr>
              <a:xfrm>
                <a:off x="1803042" y="2137893"/>
                <a:ext cx="1747234" cy="52374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grpSp>
            <p:nvGrpSpPr>
              <p:cNvPr id="21" name="Группа 20">
                <a:extLst>
                  <a:ext uri="{FF2B5EF4-FFF2-40B4-BE49-F238E27FC236}">
                    <a16:creationId xmlns:a16="http://schemas.microsoft.com/office/drawing/2014/main" id="{B45DAC3B-AE11-3CA6-9726-504F3974382B}"/>
                  </a:ext>
                </a:extLst>
              </p:cNvPr>
              <p:cNvGrpSpPr/>
              <p:nvPr/>
            </p:nvGrpSpPr>
            <p:grpSpPr>
              <a:xfrm>
                <a:off x="1970467" y="2137890"/>
                <a:ext cx="1419940" cy="277001"/>
                <a:chOff x="2082085" y="1725766"/>
                <a:chExt cx="1419940" cy="277001"/>
              </a:xfrm>
            </p:grpSpPr>
            <p:sp>
              <p:nvSpPr>
                <p:cNvPr id="22" name="TextBox 21">
                  <a:extLst>
                    <a:ext uri="{FF2B5EF4-FFF2-40B4-BE49-F238E27FC236}">
                      <a16:creationId xmlns:a16="http://schemas.microsoft.com/office/drawing/2014/main" id="{7236C05F-285F-7E76-2E11-CD7A4AF4B21B}"/>
                    </a:ext>
                  </a:extLst>
                </p:cNvPr>
                <p:cNvSpPr txBox="1"/>
                <p:nvPr/>
              </p:nvSpPr>
              <p:spPr>
                <a:xfrm>
                  <a:off x="2082085" y="1725768"/>
                  <a:ext cx="744114" cy="276999"/>
                </a:xfrm>
                <a:prstGeom prst="rect">
                  <a:avLst/>
                </a:prstGeom>
                <a:noFill/>
              </p:spPr>
              <p:txBody>
                <a:bodyPr wrap="none" rtlCol="0">
                  <a:spAutoFit/>
                </a:bodyPr>
                <a:lstStyle/>
                <a:p>
                  <a:r>
                    <a:rPr lang="ru-RU" sz="1200" dirty="0"/>
                    <a:t>староста</a:t>
                  </a:r>
                </a:p>
              </p:txBody>
            </p:sp>
            <p:sp>
              <p:nvSpPr>
                <p:cNvPr id="23" name="TextBox 22">
                  <a:extLst>
                    <a:ext uri="{FF2B5EF4-FFF2-40B4-BE49-F238E27FC236}">
                      <a16:creationId xmlns:a16="http://schemas.microsoft.com/office/drawing/2014/main" id="{DD365130-4CE5-5616-7CAE-ED2006F73EEF}"/>
                    </a:ext>
                  </a:extLst>
                </p:cNvPr>
                <p:cNvSpPr txBox="1"/>
                <p:nvPr/>
              </p:nvSpPr>
              <p:spPr>
                <a:xfrm>
                  <a:off x="2826199" y="1725766"/>
                  <a:ext cx="675826" cy="277000"/>
                </a:xfrm>
                <a:prstGeom prst="rect">
                  <a:avLst/>
                </a:prstGeom>
                <a:noFill/>
              </p:spPr>
              <p:txBody>
                <a:bodyPr wrap="none" rtlCol="0">
                  <a:spAutoFit/>
                </a:bodyPr>
                <a:lstStyle/>
                <a:p>
                  <a:r>
                    <a:rPr lang="ru-RU" sz="1200" dirty="0"/>
                    <a:t>студент</a:t>
                  </a:r>
                </a:p>
              </p:txBody>
            </p:sp>
          </p:grpSp>
        </p:grpSp>
        <p:grpSp>
          <p:nvGrpSpPr>
            <p:cNvPr id="8" name="Группа 7">
              <a:extLst>
                <a:ext uri="{FF2B5EF4-FFF2-40B4-BE49-F238E27FC236}">
                  <a16:creationId xmlns:a16="http://schemas.microsoft.com/office/drawing/2014/main" id="{13ADA3DB-2BCE-26A5-E33A-5859FF300953}"/>
                </a:ext>
              </a:extLst>
            </p:cNvPr>
            <p:cNvGrpSpPr/>
            <p:nvPr/>
          </p:nvGrpSpPr>
          <p:grpSpPr>
            <a:xfrm>
              <a:off x="4928315" y="598868"/>
              <a:ext cx="5786147" cy="184666"/>
              <a:chOff x="2659614" y="2814035"/>
              <a:chExt cx="5786147" cy="184666"/>
            </a:xfrm>
          </p:grpSpPr>
          <p:sp>
            <p:nvSpPr>
              <p:cNvPr id="14" name="TextBox 13">
                <a:extLst>
                  <a:ext uri="{FF2B5EF4-FFF2-40B4-BE49-F238E27FC236}">
                    <a16:creationId xmlns:a16="http://schemas.microsoft.com/office/drawing/2014/main" id="{194B07E2-A3C3-F7B6-E739-39DCCF281D4D}"/>
                  </a:ext>
                </a:extLst>
              </p:cNvPr>
              <p:cNvSpPr txBox="1"/>
              <p:nvPr/>
            </p:nvSpPr>
            <p:spPr>
              <a:xfrm>
                <a:off x="2659614" y="2814035"/>
                <a:ext cx="502061" cy="184666"/>
              </a:xfrm>
              <a:prstGeom prst="rect">
                <a:avLst/>
              </a:prstGeom>
              <a:noFill/>
            </p:spPr>
            <p:txBody>
              <a:bodyPr wrap="none" lIns="0" tIns="0" rIns="0" bIns="0" rtlCol="0">
                <a:spAutoFit/>
              </a:bodyPr>
              <a:lstStyle/>
              <a:p>
                <a:r>
                  <a:rPr lang="ru-RU" sz="1200" dirty="0"/>
                  <a:t>главная</a:t>
                </a:r>
              </a:p>
            </p:txBody>
          </p:sp>
          <p:sp>
            <p:nvSpPr>
              <p:cNvPr id="15" name="TextBox 14">
                <a:extLst>
                  <a:ext uri="{FF2B5EF4-FFF2-40B4-BE49-F238E27FC236}">
                    <a16:creationId xmlns:a16="http://schemas.microsoft.com/office/drawing/2014/main" id="{3F0BD554-B573-CAD3-51FB-FAD6027C2399}"/>
                  </a:ext>
                </a:extLst>
              </p:cNvPr>
              <p:cNvSpPr txBox="1"/>
              <p:nvPr/>
            </p:nvSpPr>
            <p:spPr>
              <a:xfrm>
                <a:off x="3353373" y="2814035"/>
                <a:ext cx="952890" cy="184666"/>
              </a:xfrm>
              <a:prstGeom prst="rect">
                <a:avLst/>
              </a:prstGeom>
              <a:noFill/>
            </p:spPr>
            <p:txBody>
              <a:bodyPr wrap="none" lIns="0" tIns="0" rIns="0" bIns="0" rtlCol="0">
                <a:spAutoFit/>
              </a:bodyPr>
              <a:lstStyle/>
              <a:p>
                <a:r>
                  <a:rPr lang="ru-RU" sz="1200" dirty="0"/>
                  <a:t>посещаемость</a:t>
                </a:r>
              </a:p>
            </p:txBody>
          </p:sp>
          <p:sp>
            <p:nvSpPr>
              <p:cNvPr id="16" name="TextBox 15">
                <a:extLst>
                  <a:ext uri="{FF2B5EF4-FFF2-40B4-BE49-F238E27FC236}">
                    <a16:creationId xmlns:a16="http://schemas.microsoft.com/office/drawing/2014/main" id="{7824F749-8921-513E-C228-0E64BCE2229E}"/>
                  </a:ext>
                </a:extLst>
              </p:cNvPr>
              <p:cNvSpPr txBox="1"/>
              <p:nvPr/>
            </p:nvSpPr>
            <p:spPr>
              <a:xfrm>
                <a:off x="4497961" y="2814035"/>
                <a:ext cx="693010" cy="184666"/>
              </a:xfrm>
              <a:prstGeom prst="rect">
                <a:avLst/>
              </a:prstGeom>
              <a:noFill/>
            </p:spPr>
            <p:txBody>
              <a:bodyPr wrap="none" lIns="0" tIns="0" rIns="0" bIns="0" rtlCol="0">
                <a:spAutoFit/>
              </a:bodyPr>
              <a:lstStyle/>
              <a:p>
                <a:r>
                  <a:rPr lang="ru-RU" sz="1200" dirty="0"/>
                  <a:t>статистика</a:t>
                </a:r>
              </a:p>
            </p:txBody>
          </p:sp>
          <p:sp>
            <p:nvSpPr>
              <p:cNvPr id="17" name="TextBox 16">
                <a:extLst>
                  <a:ext uri="{FF2B5EF4-FFF2-40B4-BE49-F238E27FC236}">
                    <a16:creationId xmlns:a16="http://schemas.microsoft.com/office/drawing/2014/main" id="{1FDE48DA-2D80-AAD0-679B-73CDD42DBC91}"/>
                  </a:ext>
                </a:extLst>
              </p:cNvPr>
              <p:cNvSpPr txBox="1"/>
              <p:nvPr/>
            </p:nvSpPr>
            <p:spPr>
              <a:xfrm>
                <a:off x="5382668" y="2814035"/>
                <a:ext cx="1269707" cy="184666"/>
              </a:xfrm>
              <a:prstGeom prst="rect">
                <a:avLst/>
              </a:prstGeom>
              <a:noFill/>
            </p:spPr>
            <p:txBody>
              <a:bodyPr wrap="none" lIns="0" tIns="0" rIns="0" bIns="0" rtlCol="0">
                <a:spAutoFit/>
              </a:bodyPr>
              <a:lstStyle/>
              <a:p>
                <a:r>
                  <a:rPr lang="ru-RU" sz="1200" dirty="0"/>
                  <a:t>домашнее задание</a:t>
                </a:r>
              </a:p>
            </p:txBody>
          </p:sp>
          <p:sp>
            <p:nvSpPr>
              <p:cNvPr id="18" name="TextBox 17">
                <a:extLst>
                  <a:ext uri="{FF2B5EF4-FFF2-40B4-BE49-F238E27FC236}">
                    <a16:creationId xmlns:a16="http://schemas.microsoft.com/office/drawing/2014/main" id="{E668B40F-86C5-9E6D-CC76-5EA30E709F40}"/>
                  </a:ext>
                </a:extLst>
              </p:cNvPr>
              <p:cNvSpPr txBox="1"/>
              <p:nvPr/>
            </p:nvSpPr>
            <p:spPr>
              <a:xfrm>
                <a:off x="6844072" y="2814035"/>
                <a:ext cx="356829" cy="184666"/>
              </a:xfrm>
              <a:prstGeom prst="rect">
                <a:avLst/>
              </a:prstGeom>
              <a:noFill/>
            </p:spPr>
            <p:txBody>
              <a:bodyPr wrap="none" lIns="0" tIns="0" rIns="0" bIns="0" rtlCol="0">
                <a:spAutoFit/>
              </a:bodyPr>
              <a:lstStyle/>
              <a:p>
                <a:r>
                  <a:rPr lang="ru-RU" sz="1200" dirty="0"/>
                  <a:t>карта</a:t>
                </a:r>
              </a:p>
            </p:txBody>
          </p:sp>
          <p:sp>
            <p:nvSpPr>
              <p:cNvPr id="19" name="TextBox 18">
                <a:extLst>
                  <a:ext uri="{FF2B5EF4-FFF2-40B4-BE49-F238E27FC236}">
                    <a16:creationId xmlns:a16="http://schemas.microsoft.com/office/drawing/2014/main" id="{5806E499-89CE-4CD9-38CF-9340C0381820}"/>
                  </a:ext>
                </a:extLst>
              </p:cNvPr>
              <p:cNvSpPr txBox="1"/>
              <p:nvPr/>
            </p:nvSpPr>
            <p:spPr>
              <a:xfrm>
                <a:off x="7398167" y="2814035"/>
                <a:ext cx="1047594" cy="184666"/>
              </a:xfrm>
              <a:prstGeom prst="rect">
                <a:avLst/>
              </a:prstGeom>
              <a:noFill/>
            </p:spPr>
            <p:txBody>
              <a:bodyPr wrap="none" lIns="0" tIns="0" rIns="0" bIns="0" rtlCol="0">
                <a:spAutoFit/>
              </a:bodyPr>
              <a:lstStyle/>
              <a:p>
                <a:r>
                  <a:rPr lang="ru-RU" sz="1200" dirty="0"/>
                  <a:t>заявки и тикеты</a:t>
                </a:r>
              </a:p>
            </p:txBody>
          </p:sp>
        </p:grpSp>
        <p:sp>
          <p:nvSpPr>
            <p:cNvPr id="9" name="Овал 8">
              <a:extLst>
                <a:ext uri="{FF2B5EF4-FFF2-40B4-BE49-F238E27FC236}">
                  <a16:creationId xmlns:a16="http://schemas.microsoft.com/office/drawing/2014/main" id="{CB0626E6-5550-CBA3-C7B8-6BE9F259E18B}"/>
                </a:ext>
              </a:extLst>
            </p:cNvPr>
            <p:cNvSpPr/>
            <p:nvPr/>
          </p:nvSpPr>
          <p:spPr>
            <a:xfrm>
              <a:off x="11638209" y="96316"/>
              <a:ext cx="369194" cy="36919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76F535A7-EABC-78CB-9167-4A513615C940}"/>
                </a:ext>
              </a:extLst>
            </p:cNvPr>
            <p:cNvSpPr txBox="1"/>
            <p:nvPr/>
          </p:nvSpPr>
          <p:spPr>
            <a:xfrm>
              <a:off x="11536669" y="188580"/>
              <a:ext cx="572273" cy="184666"/>
            </a:xfrm>
            <a:prstGeom prst="rect">
              <a:avLst/>
            </a:prstGeom>
            <a:noFill/>
          </p:spPr>
          <p:txBody>
            <a:bodyPr wrap="none" lIns="0" tIns="0" rIns="0" bIns="0" rtlCol="0">
              <a:spAutoFit/>
            </a:bodyPr>
            <a:lstStyle/>
            <a:p>
              <a:r>
                <a:rPr lang="ru-RU" sz="1200" dirty="0"/>
                <a:t>профиль</a:t>
              </a:r>
            </a:p>
          </p:txBody>
        </p:sp>
        <p:grpSp>
          <p:nvGrpSpPr>
            <p:cNvPr id="11" name="Группа 10">
              <a:extLst>
                <a:ext uri="{FF2B5EF4-FFF2-40B4-BE49-F238E27FC236}">
                  <a16:creationId xmlns:a16="http://schemas.microsoft.com/office/drawing/2014/main" id="{F4F7A1B1-B878-DEB8-00D7-3F67E388D649}"/>
                </a:ext>
              </a:extLst>
            </p:cNvPr>
            <p:cNvGrpSpPr/>
            <p:nvPr/>
          </p:nvGrpSpPr>
          <p:grpSpPr>
            <a:xfrm>
              <a:off x="10908405" y="513981"/>
              <a:ext cx="1167685" cy="596721"/>
              <a:chOff x="10908405" y="513981"/>
              <a:chExt cx="1167685" cy="596721"/>
            </a:xfrm>
          </p:grpSpPr>
          <p:sp>
            <p:nvSpPr>
              <p:cNvPr id="12" name="Прямоугольник 11">
                <a:extLst>
                  <a:ext uri="{FF2B5EF4-FFF2-40B4-BE49-F238E27FC236}">
                    <a16:creationId xmlns:a16="http://schemas.microsoft.com/office/drawing/2014/main" id="{8C80C87D-B938-50C2-90FA-75E5F0901133}"/>
                  </a:ext>
                </a:extLst>
              </p:cNvPr>
              <p:cNvSpPr/>
              <p:nvPr/>
            </p:nvSpPr>
            <p:spPr>
              <a:xfrm>
                <a:off x="10908405" y="513981"/>
                <a:ext cx="1167685" cy="59672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a:extLst>
                  <a:ext uri="{FF2B5EF4-FFF2-40B4-BE49-F238E27FC236}">
                    <a16:creationId xmlns:a16="http://schemas.microsoft.com/office/drawing/2014/main" id="{5D8ACECF-0A1B-A227-C485-5486F552B9AF}"/>
                  </a:ext>
                </a:extLst>
              </p:cNvPr>
              <p:cNvSpPr txBox="1"/>
              <p:nvPr/>
            </p:nvSpPr>
            <p:spPr>
              <a:xfrm>
                <a:off x="11032536" y="603721"/>
                <a:ext cx="695703" cy="369332"/>
              </a:xfrm>
              <a:prstGeom prst="rect">
                <a:avLst/>
              </a:prstGeom>
              <a:noFill/>
            </p:spPr>
            <p:txBody>
              <a:bodyPr wrap="none" lIns="0" tIns="0" rIns="0" bIns="0" rtlCol="0">
                <a:spAutoFit/>
              </a:bodyPr>
              <a:lstStyle/>
              <a:p>
                <a:r>
                  <a:rPr lang="ru-RU" sz="1200" dirty="0"/>
                  <a:t>Настройки</a:t>
                </a:r>
                <a:br>
                  <a:rPr lang="ru-RU" sz="1200" dirty="0"/>
                </a:br>
                <a:r>
                  <a:rPr lang="ru-RU" sz="1200" dirty="0"/>
                  <a:t>Выход</a:t>
                </a:r>
              </a:p>
            </p:txBody>
          </p:sp>
        </p:grpSp>
      </p:grpSp>
      <p:sp>
        <p:nvSpPr>
          <p:cNvPr id="24" name="Прямоугольник 23">
            <a:extLst>
              <a:ext uri="{FF2B5EF4-FFF2-40B4-BE49-F238E27FC236}">
                <a16:creationId xmlns:a16="http://schemas.microsoft.com/office/drawing/2014/main" id="{2846EED6-4213-30BD-804B-1FCF94D85D77}"/>
              </a:ext>
            </a:extLst>
          </p:cNvPr>
          <p:cNvSpPr/>
          <p:nvPr/>
        </p:nvSpPr>
        <p:spPr>
          <a:xfrm>
            <a:off x="5009882" y="136702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5" name="TextBox 24">
            <a:extLst>
              <a:ext uri="{FF2B5EF4-FFF2-40B4-BE49-F238E27FC236}">
                <a16:creationId xmlns:a16="http://schemas.microsoft.com/office/drawing/2014/main" id="{154BBD5F-FDA1-DDD3-8AAB-4D7F11FB1D19}"/>
              </a:ext>
            </a:extLst>
          </p:cNvPr>
          <p:cNvSpPr txBox="1"/>
          <p:nvPr/>
        </p:nvSpPr>
        <p:spPr>
          <a:xfrm>
            <a:off x="5482918" y="1441562"/>
            <a:ext cx="539058" cy="184666"/>
          </a:xfrm>
          <a:prstGeom prst="rect">
            <a:avLst/>
          </a:prstGeom>
          <a:noFill/>
        </p:spPr>
        <p:txBody>
          <a:bodyPr wrap="none" lIns="0" tIns="0" rIns="0" bIns="0" rtlCol="0">
            <a:spAutoFit/>
          </a:bodyPr>
          <a:lstStyle/>
          <a:p>
            <a:r>
              <a:rPr lang="ru-RU" sz="1200" dirty="0" err="1"/>
              <a:t>Коропус</a:t>
            </a:r>
            <a:endParaRPr lang="ru-RU" sz="1200" dirty="0"/>
          </a:p>
        </p:txBody>
      </p:sp>
      <p:sp>
        <p:nvSpPr>
          <p:cNvPr id="26" name="Прямоугольник 25">
            <a:extLst>
              <a:ext uri="{FF2B5EF4-FFF2-40B4-BE49-F238E27FC236}">
                <a16:creationId xmlns:a16="http://schemas.microsoft.com/office/drawing/2014/main" id="{62B453CA-B4F3-92E7-B95F-B019E36CE328}"/>
              </a:ext>
            </a:extLst>
          </p:cNvPr>
          <p:cNvSpPr/>
          <p:nvPr/>
        </p:nvSpPr>
        <p:spPr>
          <a:xfrm>
            <a:off x="6993138" y="136702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7" name="TextBox 26">
            <a:extLst>
              <a:ext uri="{FF2B5EF4-FFF2-40B4-BE49-F238E27FC236}">
                <a16:creationId xmlns:a16="http://schemas.microsoft.com/office/drawing/2014/main" id="{519843DD-B9E1-1391-A2D0-97AE4B765B47}"/>
              </a:ext>
            </a:extLst>
          </p:cNvPr>
          <p:cNvSpPr txBox="1"/>
          <p:nvPr/>
        </p:nvSpPr>
        <p:spPr>
          <a:xfrm>
            <a:off x="7466174" y="1441562"/>
            <a:ext cx="306174" cy="184666"/>
          </a:xfrm>
          <a:prstGeom prst="rect">
            <a:avLst/>
          </a:prstGeom>
          <a:noFill/>
        </p:spPr>
        <p:txBody>
          <a:bodyPr wrap="none" lIns="0" tIns="0" rIns="0" bIns="0" rtlCol="0">
            <a:spAutoFit/>
          </a:bodyPr>
          <a:lstStyle/>
          <a:p>
            <a:r>
              <a:rPr lang="ru-RU" sz="1200" dirty="0"/>
              <a:t>этаж</a:t>
            </a:r>
          </a:p>
        </p:txBody>
      </p:sp>
      <p:sp>
        <p:nvSpPr>
          <p:cNvPr id="28" name="TextBox 27">
            <a:extLst>
              <a:ext uri="{FF2B5EF4-FFF2-40B4-BE49-F238E27FC236}">
                <a16:creationId xmlns:a16="http://schemas.microsoft.com/office/drawing/2014/main" id="{06330BC8-0CCE-9BBC-D612-B691F68BAD41}"/>
              </a:ext>
            </a:extLst>
          </p:cNvPr>
          <p:cNvSpPr txBox="1"/>
          <p:nvPr/>
        </p:nvSpPr>
        <p:spPr>
          <a:xfrm>
            <a:off x="191164" y="2165542"/>
            <a:ext cx="4376544" cy="338554"/>
          </a:xfrm>
          <a:prstGeom prst="rect">
            <a:avLst/>
          </a:prstGeom>
          <a:noFill/>
        </p:spPr>
        <p:txBody>
          <a:bodyPr wrap="square" lIns="0" tIns="0" rIns="0" bIns="0" rtlCol="0">
            <a:spAutoFit/>
          </a:bodyPr>
          <a:lstStyle/>
          <a:p>
            <a:r>
              <a:rPr lang="ru-RU" sz="1100" dirty="0"/>
              <a:t>2 – надо придумать формат хранения файлов, скорее всего в </a:t>
            </a:r>
            <a:r>
              <a:rPr lang="ru-RU" sz="1100" dirty="0" err="1"/>
              <a:t>хеше</a:t>
            </a:r>
            <a:r>
              <a:rPr lang="ru-RU" sz="1100" dirty="0"/>
              <a:t>. И как их добавлять тоже</a:t>
            </a:r>
          </a:p>
        </p:txBody>
      </p:sp>
      <p:sp>
        <p:nvSpPr>
          <p:cNvPr id="29" name="TextBox 28">
            <a:extLst>
              <a:ext uri="{FF2B5EF4-FFF2-40B4-BE49-F238E27FC236}">
                <a16:creationId xmlns:a16="http://schemas.microsoft.com/office/drawing/2014/main" id="{7C8E0CD8-2130-C798-918E-40CBD4280560}"/>
              </a:ext>
            </a:extLst>
          </p:cNvPr>
          <p:cNvSpPr txBox="1"/>
          <p:nvPr/>
        </p:nvSpPr>
        <p:spPr>
          <a:xfrm>
            <a:off x="191164" y="2544013"/>
            <a:ext cx="4376544" cy="169277"/>
          </a:xfrm>
          <a:prstGeom prst="rect">
            <a:avLst/>
          </a:prstGeom>
          <a:noFill/>
        </p:spPr>
        <p:txBody>
          <a:bodyPr wrap="square" lIns="0" tIns="0" rIns="0" bIns="0" rtlCol="0">
            <a:spAutoFit/>
          </a:bodyPr>
          <a:lstStyle/>
          <a:p>
            <a:r>
              <a:rPr lang="ru-RU" sz="1100" dirty="0"/>
              <a:t>3 – выпадающий список корпусов и этажей</a:t>
            </a:r>
          </a:p>
        </p:txBody>
      </p:sp>
      <p:sp>
        <p:nvSpPr>
          <p:cNvPr id="30" name="Прямоугольник 29">
            <a:extLst>
              <a:ext uri="{FF2B5EF4-FFF2-40B4-BE49-F238E27FC236}">
                <a16:creationId xmlns:a16="http://schemas.microsoft.com/office/drawing/2014/main" id="{60FEC807-E478-867F-059B-DE9D52715457}"/>
              </a:ext>
            </a:extLst>
          </p:cNvPr>
          <p:cNvSpPr/>
          <p:nvPr/>
        </p:nvSpPr>
        <p:spPr>
          <a:xfrm>
            <a:off x="4924059" y="1780722"/>
            <a:ext cx="7147776" cy="257292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Прямоугольник 30">
            <a:extLst>
              <a:ext uri="{FF2B5EF4-FFF2-40B4-BE49-F238E27FC236}">
                <a16:creationId xmlns:a16="http://schemas.microsoft.com/office/drawing/2014/main" id="{7605B35A-B123-A552-0A3A-CF09F0639898}"/>
              </a:ext>
            </a:extLst>
          </p:cNvPr>
          <p:cNvSpPr/>
          <p:nvPr/>
        </p:nvSpPr>
        <p:spPr>
          <a:xfrm>
            <a:off x="10457683" y="4420925"/>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2" name="TextBox 31">
            <a:extLst>
              <a:ext uri="{FF2B5EF4-FFF2-40B4-BE49-F238E27FC236}">
                <a16:creationId xmlns:a16="http://schemas.microsoft.com/office/drawing/2014/main" id="{DBFDF79E-B1CA-A38A-E5A4-6704796E76FC}"/>
              </a:ext>
            </a:extLst>
          </p:cNvPr>
          <p:cNvSpPr txBox="1"/>
          <p:nvPr/>
        </p:nvSpPr>
        <p:spPr>
          <a:xfrm>
            <a:off x="10930719" y="4495465"/>
            <a:ext cx="502253" cy="184666"/>
          </a:xfrm>
          <a:prstGeom prst="rect">
            <a:avLst/>
          </a:prstGeom>
          <a:noFill/>
        </p:spPr>
        <p:txBody>
          <a:bodyPr wrap="none" lIns="0" tIns="0" rIns="0" bIns="0" rtlCol="0">
            <a:spAutoFit/>
          </a:bodyPr>
          <a:lstStyle/>
          <a:p>
            <a:r>
              <a:rPr lang="ru-RU" sz="1200" dirty="0"/>
              <a:t>Скачать</a:t>
            </a:r>
          </a:p>
        </p:txBody>
      </p:sp>
      <p:sp>
        <p:nvSpPr>
          <p:cNvPr id="33" name="TextBox 32">
            <a:extLst>
              <a:ext uri="{FF2B5EF4-FFF2-40B4-BE49-F238E27FC236}">
                <a16:creationId xmlns:a16="http://schemas.microsoft.com/office/drawing/2014/main" id="{A3DACA0A-C0F5-52D9-EF7F-3ECA1E3092FF}"/>
              </a:ext>
            </a:extLst>
          </p:cNvPr>
          <p:cNvSpPr txBox="1"/>
          <p:nvPr/>
        </p:nvSpPr>
        <p:spPr>
          <a:xfrm>
            <a:off x="191164" y="2862003"/>
            <a:ext cx="4376544" cy="338554"/>
          </a:xfrm>
          <a:prstGeom prst="rect">
            <a:avLst/>
          </a:prstGeom>
          <a:noFill/>
        </p:spPr>
        <p:txBody>
          <a:bodyPr wrap="square" lIns="0" tIns="0" rIns="0" bIns="0" rtlCol="0">
            <a:spAutoFit/>
          </a:bodyPr>
          <a:lstStyle/>
          <a:p>
            <a:r>
              <a:rPr lang="ru-RU" sz="1100" dirty="0"/>
              <a:t>4 – скачать карту может студент себе в память она скачивается в формате </a:t>
            </a:r>
            <a:r>
              <a:rPr lang="en-US" sz="1100" dirty="0" err="1"/>
              <a:t>png</a:t>
            </a:r>
            <a:r>
              <a:rPr lang="en-US" sz="1100" dirty="0"/>
              <a:t> </a:t>
            </a:r>
            <a:endParaRPr lang="ru-RU" sz="1100" dirty="0"/>
          </a:p>
        </p:txBody>
      </p:sp>
      <p:sp>
        <p:nvSpPr>
          <p:cNvPr id="34" name="TextBox 33">
            <a:extLst>
              <a:ext uri="{FF2B5EF4-FFF2-40B4-BE49-F238E27FC236}">
                <a16:creationId xmlns:a16="http://schemas.microsoft.com/office/drawing/2014/main" id="{D282BD62-2C51-EB1B-79EB-DF12753D2F63}"/>
              </a:ext>
            </a:extLst>
          </p:cNvPr>
          <p:cNvSpPr txBox="1"/>
          <p:nvPr/>
        </p:nvSpPr>
        <p:spPr>
          <a:xfrm>
            <a:off x="191164" y="3353773"/>
            <a:ext cx="4376544" cy="507831"/>
          </a:xfrm>
          <a:prstGeom prst="rect">
            <a:avLst/>
          </a:prstGeom>
          <a:noFill/>
        </p:spPr>
        <p:txBody>
          <a:bodyPr wrap="square" lIns="0" tIns="0" rIns="0" bIns="0" rtlCol="0">
            <a:spAutoFit/>
          </a:bodyPr>
          <a:lstStyle/>
          <a:p>
            <a:r>
              <a:rPr lang="ru-RU" sz="1100" dirty="0"/>
              <a:t>5 – на будущее идея мы можем сделать интерактивные карты, чтоб они были кликабельны по аудиториям и тд но это намного подальше идея но задел надо сделать</a:t>
            </a:r>
          </a:p>
        </p:txBody>
      </p:sp>
    </p:spTree>
    <p:extLst>
      <p:ext uri="{BB962C8B-B14F-4D97-AF65-F5344CB8AC3E}">
        <p14:creationId xmlns:p14="http://schemas.microsoft.com/office/powerpoint/2010/main" val="10097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BBF1D13-CE06-C806-8463-F69A90EE5805}"/>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105 – СТРАНИЦА СТУДЕНТ – КАРТА</a:t>
            </a:r>
          </a:p>
        </p:txBody>
      </p:sp>
      <p:sp>
        <p:nvSpPr>
          <p:cNvPr id="3" name="Прямоугольник 2">
            <a:extLst>
              <a:ext uri="{FF2B5EF4-FFF2-40B4-BE49-F238E27FC236}">
                <a16:creationId xmlns:a16="http://schemas.microsoft.com/office/drawing/2014/main" id="{2437AA22-DE2F-A879-84F5-0810F36EAB2D}"/>
              </a:ext>
            </a:extLst>
          </p:cNvPr>
          <p:cNvSpPr/>
          <p:nvPr/>
        </p:nvSpPr>
        <p:spPr>
          <a:xfrm>
            <a:off x="4800601" y="0"/>
            <a:ext cx="7391398"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Job </a:t>
            </a:r>
            <a:r>
              <a:rPr lang="ru-RU" dirty="0"/>
              <a:t>и</a:t>
            </a:r>
            <a:r>
              <a:rPr lang="en-US" dirty="0"/>
              <a:t> User Story</a:t>
            </a:r>
            <a:endParaRPr lang="ru-RU" dirty="0"/>
          </a:p>
        </p:txBody>
      </p:sp>
      <p:sp>
        <p:nvSpPr>
          <p:cNvPr id="5" name="TextBox 4">
            <a:extLst>
              <a:ext uri="{FF2B5EF4-FFF2-40B4-BE49-F238E27FC236}">
                <a16:creationId xmlns:a16="http://schemas.microsoft.com/office/drawing/2014/main" id="{E336B0A3-EADC-13E1-99CB-6B2A5EA9B5BD}"/>
              </a:ext>
            </a:extLst>
          </p:cNvPr>
          <p:cNvSpPr txBox="1"/>
          <p:nvPr/>
        </p:nvSpPr>
        <p:spPr>
          <a:xfrm>
            <a:off x="191164" y="1247804"/>
            <a:ext cx="4376544" cy="338554"/>
          </a:xfrm>
          <a:prstGeom prst="rect">
            <a:avLst/>
          </a:prstGeom>
          <a:noFill/>
        </p:spPr>
        <p:txBody>
          <a:bodyPr wrap="square" lIns="0" tIns="0" rIns="0" bIns="0" rtlCol="0">
            <a:spAutoFit/>
          </a:bodyPr>
          <a:lstStyle/>
          <a:p>
            <a:r>
              <a:rPr lang="ru-RU" sz="1100" dirty="0"/>
              <a:t>Студент хочет видеть карту чтобы он сам мог построить маршрут до нужной аудитории или посмотреть расположение аудитории</a:t>
            </a:r>
          </a:p>
        </p:txBody>
      </p:sp>
    </p:spTree>
    <p:extLst>
      <p:ext uri="{BB962C8B-B14F-4D97-AF65-F5344CB8AC3E}">
        <p14:creationId xmlns:p14="http://schemas.microsoft.com/office/powerpoint/2010/main" val="116997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755DE34E-1F52-2BE9-468C-A5BC762F6445}"/>
              </a:ext>
            </a:extLst>
          </p:cNvPr>
          <p:cNvSpPr>
            <a:spLocks/>
          </p:cNvSpPr>
          <p:nvPr/>
        </p:nvSpPr>
        <p:spPr>
          <a:xfrm>
            <a:off x="4800600" y="0"/>
            <a:ext cx="7391399" cy="6858000"/>
          </a:xfrm>
          <a:prstGeom prst="rect">
            <a:avLst/>
          </a:prstGeom>
          <a:solidFill>
            <a:schemeClr val="bg1">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Прямоугольник 4">
            <a:extLst>
              <a:ext uri="{FF2B5EF4-FFF2-40B4-BE49-F238E27FC236}">
                <a16:creationId xmlns:a16="http://schemas.microsoft.com/office/drawing/2014/main" id="{6B8CB585-D000-9D9E-13D0-F9ED93B0ED70}"/>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107 – СТРАНИЦА СТУДЕНТ – ЗАЯВКИ И ТИКЕТЫ</a:t>
            </a:r>
          </a:p>
        </p:txBody>
      </p:sp>
      <p:sp>
        <p:nvSpPr>
          <p:cNvPr id="7" name="TextBox 6">
            <a:extLst>
              <a:ext uri="{FF2B5EF4-FFF2-40B4-BE49-F238E27FC236}">
                <a16:creationId xmlns:a16="http://schemas.microsoft.com/office/drawing/2014/main" id="{F4A6BACE-FADE-7E5D-4C20-821ABD1C29EE}"/>
              </a:ext>
            </a:extLst>
          </p:cNvPr>
          <p:cNvSpPr txBox="1"/>
          <p:nvPr/>
        </p:nvSpPr>
        <p:spPr>
          <a:xfrm>
            <a:off x="191164" y="1110702"/>
            <a:ext cx="4376544" cy="338554"/>
          </a:xfrm>
          <a:prstGeom prst="rect">
            <a:avLst/>
          </a:prstGeom>
          <a:noFill/>
        </p:spPr>
        <p:txBody>
          <a:bodyPr wrap="square" lIns="0" tIns="0" rIns="0" bIns="0" rtlCol="0">
            <a:spAutoFit/>
          </a:bodyPr>
          <a:lstStyle/>
          <a:p>
            <a:r>
              <a:rPr lang="ru-RU" sz="1100" dirty="0"/>
              <a:t>1 – когда тикет на рассмотрении то там есть счётчик около кнопки сколько там тикетов</a:t>
            </a:r>
          </a:p>
        </p:txBody>
      </p:sp>
      <p:grpSp>
        <p:nvGrpSpPr>
          <p:cNvPr id="2" name="Группа 1">
            <a:extLst>
              <a:ext uri="{FF2B5EF4-FFF2-40B4-BE49-F238E27FC236}">
                <a16:creationId xmlns:a16="http://schemas.microsoft.com/office/drawing/2014/main" id="{BE6C97F3-9DE4-E71B-64FF-240769FD62B3}"/>
              </a:ext>
            </a:extLst>
          </p:cNvPr>
          <p:cNvGrpSpPr/>
          <p:nvPr/>
        </p:nvGrpSpPr>
        <p:grpSpPr>
          <a:xfrm>
            <a:off x="4928315" y="96316"/>
            <a:ext cx="7180627" cy="1014386"/>
            <a:chOff x="4928315" y="96316"/>
            <a:chExt cx="7180627" cy="1014386"/>
          </a:xfrm>
        </p:grpSpPr>
        <p:grpSp>
          <p:nvGrpSpPr>
            <p:cNvPr id="3" name="Группа 2">
              <a:extLst>
                <a:ext uri="{FF2B5EF4-FFF2-40B4-BE49-F238E27FC236}">
                  <a16:creationId xmlns:a16="http://schemas.microsoft.com/office/drawing/2014/main" id="{CB354FFF-52F8-3E2E-9EF8-AC19D78B855F}"/>
                </a:ext>
              </a:extLst>
            </p:cNvPr>
            <p:cNvGrpSpPr/>
            <p:nvPr/>
          </p:nvGrpSpPr>
          <p:grpSpPr>
            <a:xfrm>
              <a:off x="4928315" y="128790"/>
              <a:ext cx="1614152" cy="287630"/>
              <a:chOff x="1803042" y="2137890"/>
              <a:chExt cx="1747234" cy="523744"/>
            </a:xfrm>
          </p:grpSpPr>
          <p:sp>
            <p:nvSpPr>
              <p:cNvPr id="20" name="Прямоугольник 19">
                <a:extLst>
                  <a:ext uri="{FF2B5EF4-FFF2-40B4-BE49-F238E27FC236}">
                    <a16:creationId xmlns:a16="http://schemas.microsoft.com/office/drawing/2014/main" id="{3C8B1F58-75BE-CECF-4013-74AD56FD0150}"/>
                  </a:ext>
                </a:extLst>
              </p:cNvPr>
              <p:cNvSpPr/>
              <p:nvPr/>
            </p:nvSpPr>
            <p:spPr>
              <a:xfrm>
                <a:off x="1803042" y="2137893"/>
                <a:ext cx="1747234" cy="52374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grpSp>
            <p:nvGrpSpPr>
              <p:cNvPr id="21" name="Группа 20">
                <a:extLst>
                  <a:ext uri="{FF2B5EF4-FFF2-40B4-BE49-F238E27FC236}">
                    <a16:creationId xmlns:a16="http://schemas.microsoft.com/office/drawing/2014/main" id="{C636989D-06AD-F942-B2BB-A8A1D903EBE8}"/>
                  </a:ext>
                </a:extLst>
              </p:cNvPr>
              <p:cNvGrpSpPr/>
              <p:nvPr/>
            </p:nvGrpSpPr>
            <p:grpSpPr>
              <a:xfrm>
                <a:off x="1970467" y="2137890"/>
                <a:ext cx="1419940" cy="277001"/>
                <a:chOff x="2082085" y="1725766"/>
                <a:chExt cx="1419940" cy="277001"/>
              </a:xfrm>
            </p:grpSpPr>
            <p:sp>
              <p:nvSpPr>
                <p:cNvPr id="22" name="TextBox 21">
                  <a:extLst>
                    <a:ext uri="{FF2B5EF4-FFF2-40B4-BE49-F238E27FC236}">
                      <a16:creationId xmlns:a16="http://schemas.microsoft.com/office/drawing/2014/main" id="{1F4516EA-FA85-85B2-B2EE-FEE8FDFA2EAC}"/>
                    </a:ext>
                  </a:extLst>
                </p:cNvPr>
                <p:cNvSpPr txBox="1"/>
                <p:nvPr/>
              </p:nvSpPr>
              <p:spPr>
                <a:xfrm>
                  <a:off x="2082085" y="1725768"/>
                  <a:ext cx="744114" cy="276999"/>
                </a:xfrm>
                <a:prstGeom prst="rect">
                  <a:avLst/>
                </a:prstGeom>
                <a:noFill/>
              </p:spPr>
              <p:txBody>
                <a:bodyPr wrap="none" rtlCol="0">
                  <a:spAutoFit/>
                </a:bodyPr>
                <a:lstStyle/>
                <a:p>
                  <a:r>
                    <a:rPr lang="ru-RU" sz="1200" dirty="0"/>
                    <a:t>староста</a:t>
                  </a:r>
                </a:p>
              </p:txBody>
            </p:sp>
            <p:sp>
              <p:nvSpPr>
                <p:cNvPr id="23" name="TextBox 22">
                  <a:extLst>
                    <a:ext uri="{FF2B5EF4-FFF2-40B4-BE49-F238E27FC236}">
                      <a16:creationId xmlns:a16="http://schemas.microsoft.com/office/drawing/2014/main" id="{0DA4B50A-D21E-2E08-FF9A-5E0CB298073A}"/>
                    </a:ext>
                  </a:extLst>
                </p:cNvPr>
                <p:cNvSpPr txBox="1"/>
                <p:nvPr/>
              </p:nvSpPr>
              <p:spPr>
                <a:xfrm>
                  <a:off x="2826199" y="1725766"/>
                  <a:ext cx="675826" cy="277000"/>
                </a:xfrm>
                <a:prstGeom prst="rect">
                  <a:avLst/>
                </a:prstGeom>
                <a:noFill/>
              </p:spPr>
              <p:txBody>
                <a:bodyPr wrap="none" rtlCol="0">
                  <a:spAutoFit/>
                </a:bodyPr>
                <a:lstStyle/>
                <a:p>
                  <a:r>
                    <a:rPr lang="ru-RU" sz="1200" dirty="0"/>
                    <a:t>студент</a:t>
                  </a:r>
                </a:p>
              </p:txBody>
            </p:sp>
          </p:grpSp>
        </p:grpSp>
        <p:grpSp>
          <p:nvGrpSpPr>
            <p:cNvPr id="8" name="Группа 7">
              <a:extLst>
                <a:ext uri="{FF2B5EF4-FFF2-40B4-BE49-F238E27FC236}">
                  <a16:creationId xmlns:a16="http://schemas.microsoft.com/office/drawing/2014/main" id="{5DA4BE59-8130-67BF-5FBA-74249D592A40}"/>
                </a:ext>
              </a:extLst>
            </p:cNvPr>
            <p:cNvGrpSpPr/>
            <p:nvPr/>
          </p:nvGrpSpPr>
          <p:grpSpPr>
            <a:xfrm>
              <a:off x="4928315" y="598868"/>
              <a:ext cx="5786147" cy="184666"/>
              <a:chOff x="2659614" y="2814035"/>
              <a:chExt cx="5786147" cy="184666"/>
            </a:xfrm>
          </p:grpSpPr>
          <p:sp>
            <p:nvSpPr>
              <p:cNvPr id="14" name="TextBox 13">
                <a:extLst>
                  <a:ext uri="{FF2B5EF4-FFF2-40B4-BE49-F238E27FC236}">
                    <a16:creationId xmlns:a16="http://schemas.microsoft.com/office/drawing/2014/main" id="{7E46A34D-97C2-868C-1712-165BA187CFDB}"/>
                  </a:ext>
                </a:extLst>
              </p:cNvPr>
              <p:cNvSpPr txBox="1"/>
              <p:nvPr/>
            </p:nvSpPr>
            <p:spPr>
              <a:xfrm>
                <a:off x="2659614" y="2814035"/>
                <a:ext cx="502061" cy="184666"/>
              </a:xfrm>
              <a:prstGeom prst="rect">
                <a:avLst/>
              </a:prstGeom>
              <a:noFill/>
            </p:spPr>
            <p:txBody>
              <a:bodyPr wrap="none" lIns="0" tIns="0" rIns="0" bIns="0" rtlCol="0">
                <a:spAutoFit/>
              </a:bodyPr>
              <a:lstStyle/>
              <a:p>
                <a:r>
                  <a:rPr lang="ru-RU" sz="1200" dirty="0"/>
                  <a:t>главная</a:t>
                </a:r>
              </a:p>
            </p:txBody>
          </p:sp>
          <p:sp>
            <p:nvSpPr>
              <p:cNvPr id="15" name="TextBox 14">
                <a:extLst>
                  <a:ext uri="{FF2B5EF4-FFF2-40B4-BE49-F238E27FC236}">
                    <a16:creationId xmlns:a16="http://schemas.microsoft.com/office/drawing/2014/main" id="{B8996871-B9C9-D975-A679-5749DA645BE9}"/>
                  </a:ext>
                </a:extLst>
              </p:cNvPr>
              <p:cNvSpPr txBox="1"/>
              <p:nvPr/>
            </p:nvSpPr>
            <p:spPr>
              <a:xfrm>
                <a:off x="3353373" y="2814035"/>
                <a:ext cx="952890" cy="184666"/>
              </a:xfrm>
              <a:prstGeom prst="rect">
                <a:avLst/>
              </a:prstGeom>
              <a:noFill/>
            </p:spPr>
            <p:txBody>
              <a:bodyPr wrap="none" lIns="0" tIns="0" rIns="0" bIns="0" rtlCol="0">
                <a:spAutoFit/>
              </a:bodyPr>
              <a:lstStyle/>
              <a:p>
                <a:r>
                  <a:rPr lang="ru-RU" sz="1200" dirty="0"/>
                  <a:t>посещаемость</a:t>
                </a:r>
              </a:p>
            </p:txBody>
          </p:sp>
          <p:sp>
            <p:nvSpPr>
              <p:cNvPr id="16" name="TextBox 15">
                <a:extLst>
                  <a:ext uri="{FF2B5EF4-FFF2-40B4-BE49-F238E27FC236}">
                    <a16:creationId xmlns:a16="http://schemas.microsoft.com/office/drawing/2014/main" id="{6A820994-0EC6-3654-61D4-7006C16EA839}"/>
                  </a:ext>
                </a:extLst>
              </p:cNvPr>
              <p:cNvSpPr txBox="1"/>
              <p:nvPr/>
            </p:nvSpPr>
            <p:spPr>
              <a:xfrm>
                <a:off x="4497961" y="2814035"/>
                <a:ext cx="693010" cy="184666"/>
              </a:xfrm>
              <a:prstGeom prst="rect">
                <a:avLst/>
              </a:prstGeom>
              <a:noFill/>
            </p:spPr>
            <p:txBody>
              <a:bodyPr wrap="none" lIns="0" tIns="0" rIns="0" bIns="0" rtlCol="0">
                <a:spAutoFit/>
              </a:bodyPr>
              <a:lstStyle/>
              <a:p>
                <a:r>
                  <a:rPr lang="ru-RU" sz="1200" dirty="0"/>
                  <a:t>статистика</a:t>
                </a:r>
              </a:p>
            </p:txBody>
          </p:sp>
          <p:sp>
            <p:nvSpPr>
              <p:cNvPr id="17" name="TextBox 16">
                <a:extLst>
                  <a:ext uri="{FF2B5EF4-FFF2-40B4-BE49-F238E27FC236}">
                    <a16:creationId xmlns:a16="http://schemas.microsoft.com/office/drawing/2014/main" id="{04DD472D-6328-F69E-F664-5753252C5B5B}"/>
                  </a:ext>
                </a:extLst>
              </p:cNvPr>
              <p:cNvSpPr txBox="1"/>
              <p:nvPr/>
            </p:nvSpPr>
            <p:spPr>
              <a:xfrm>
                <a:off x="5382668" y="2814035"/>
                <a:ext cx="1269707" cy="184666"/>
              </a:xfrm>
              <a:prstGeom prst="rect">
                <a:avLst/>
              </a:prstGeom>
              <a:noFill/>
            </p:spPr>
            <p:txBody>
              <a:bodyPr wrap="none" lIns="0" tIns="0" rIns="0" bIns="0" rtlCol="0">
                <a:spAutoFit/>
              </a:bodyPr>
              <a:lstStyle/>
              <a:p>
                <a:r>
                  <a:rPr lang="ru-RU" sz="1200" dirty="0"/>
                  <a:t>домашнее задание</a:t>
                </a:r>
              </a:p>
            </p:txBody>
          </p:sp>
          <p:sp>
            <p:nvSpPr>
              <p:cNvPr id="18" name="TextBox 17">
                <a:extLst>
                  <a:ext uri="{FF2B5EF4-FFF2-40B4-BE49-F238E27FC236}">
                    <a16:creationId xmlns:a16="http://schemas.microsoft.com/office/drawing/2014/main" id="{187AB113-12E0-E638-D528-F93E5988C611}"/>
                  </a:ext>
                </a:extLst>
              </p:cNvPr>
              <p:cNvSpPr txBox="1"/>
              <p:nvPr/>
            </p:nvSpPr>
            <p:spPr>
              <a:xfrm>
                <a:off x="6844072" y="2814035"/>
                <a:ext cx="356829" cy="184666"/>
              </a:xfrm>
              <a:prstGeom prst="rect">
                <a:avLst/>
              </a:prstGeom>
              <a:noFill/>
            </p:spPr>
            <p:txBody>
              <a:bodyPr wrap="none" lIns="0" tIns="0" rIns="0" bIns="0" rtlCol="0">
                <a:spAutoFit/>
              </a:bodyPr>
              <a:lstStyle/>
              <a:p>
                <a:r>
                  <a:rPr lang="ru-RU" sz="1200" dirty="0"/>
                  <a:t>карта</a:t>
                </a:r>
              </a:p>
            </p:txBody>
          </p:sp>
          <p:sp>
            <p:nvSpPr>
              <p:cNvPr id="19" name="TextBox 18">
                <a:extLst>
                  <a:ext uri="{FF2B5EF4-FFF2-40B4-BE49-F238E27FC236}">
                    <a16:creationId xmlns:a16="http://schemas.microsoft.com/office/drawing/2014/main" id="{BFA67A99-9CBF-C1E2-E6E1-D0E3F0EAF5BC}"/>
                  </a:ext>
                </a:extLst>
              </p:cNvPr>
              <p:cNvSpPr txBox="1"/>
              <p:nvPr/>
            </p:nvSpPr>
            <p:spPr>
              <a:xfrm>
                <a:off x="7398167" y="2814035"/>
                <a:ext cx="1047594" cy="184666"/>
              </a:xfrm>
              <a:prstGeom prst="rect">
                <a:avLst/>
              </a:prstGeom>
              <a:noFill/>
            </p:spPr>
            <p:txBody>
              <a:bodyPr wrap="none" lIns="0" tIns="0" rIns="0" bIns="0" rtlCol="0">
                <a:spAutoFit/>
              </a:bodyPr>
              <a:lstStyle/>
              <a:p>
                <a:r>
                  <a:rPr lang="ru-RU" sz="1200" dirty="0"/>
                  <a:t>заявки и тикеты</a:t>
                </a:r>
              </a:p>
            </p:txBody>
          </p:sp>
        </p:grpSp>
        <p:sp>
          <p:nvSpPr>
            <p:cNvPr id="9" name="Овал 8">
              <a:extLst>
                <a:ext uri="{FF2B5EF4-FFF2-40B4-BE49-F238E27FC236}">
                  <a16:creationId xmlns:a16="http://schemas.microsoft.com/office/drawing/2014/main" id="{00E8D302-C5ED-B1A0-2E46-7CD6E07EBE29}"/>
                </a:ext>
              </a:extLst>
            </p:cNvPr>
            <p:cNvSpPr/>
            <p:nvPr/>
          </p:nvSpPr>
          <p:spPr>
            <a:xfrm>
              <a:off x="11638209" y="96316"/>
              <a:ext cx="369194" cy="36919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5C23D8D2-ACE2-AFCF-B920-2BB7CCA4434F}"/>
                </a:ext>
              </a:extLst>
            </p:cNvPr>
            <p:cNvSpPr txBox="1"/>
            <p:nvPr/>
          </p:nvSpPr>
          <p:spPr>
            <a:xfrm>
              <a:off x="11536669" y="188580"/>
              <a:ext cx="572273" cy="184666"/>
            </a:xfrm>
            <a:prstGeom prst="rect">
              <a:avLst/>
            </a:prstGeom>
            <a:noFill/>
          </p:spPr>
          <p:txBody>
            <a:bodyPr wrap="none" lIns="0" tIns="0" rIns="0" bIns="0" rtlCol="0">
              <a:spAutoFit/>
            </a:bodyPr>
            <a:lstStyle/>
            <a:p>
              <a:r>
                <a:rPr lang="ru-RU" sz="1200" dirty="0"/>
                <a:t>профиль</a:t>
              </a:r>
            </a:p>
          </p:txBody>
        </p:sp>
        <p:grpSp>
          <p:nvGrpSpPr>
            <p:cNvPr id="11" name="Группа 10">
              <a:extLst>
                <a:ext uri="{FF2B5EF4-FFF2-40B4-BE49-F238E27FC236}">
                  <a16:creationId xmlns:a16="http://schemas.microsoft.com/office/drawing/2014/main" id="{02C0E8E9-53A9-B0EC-C380-C9C21BA10EBC}"/>
                </a:ext>
              </a:extLst>
            </p:cNvPr>
            <p:cNvGrpSpPr/>
            <p:nvPr/>
          </p:nvGrpSpPr>
          <p:grpSpPr>
            <a:xfrm>
              <a:off x="10908405" y="513981"/>
              <a:ext cx="1167685" cy="596721"/>
              <a:chOff x="10908405" y="513981"/>
              <a:chExt cx="1167685" cy="596721"/>
            </a:xfrm>
          </p:grpSpPr>
          <p:sp>
            <p:nvSpPr>
              <p:cNvPr id="12" name="Прямоугольник 11">
                <a:extLst>
                  <a:ext uri="{FF2B5EF4-FFF2-40B4-BE49-F238E27FC236}">
                    <a16:creationId xmlns:a16="http://schemas.microsoft.com/office/drawing/2014/main" id="{188C4585-9728-4EF3-C275-1FE31CBA95F0}"/>
                  </a:ext>
                </a:extLst>
              </p:cNvPr>
              <p:cNvSpPr/>
              <p:nvPr/>
            </p:nvSpPr>
            <p:spPr>
              <a:xfrm>
                <a:off x="10908405" y="513981"/>
                <a:ext cx="1167685" cy="59672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a:extLst>
                  <a:ext uri="{FF2B5EF4-FFF2-40B4-BE49-F238E27FC236}">
                    <a16:creationId xmlns:a16="http://schemas.microsoft.com/office/drawing/2014/main" id="{A0D884A6-D9E7-7E72-F17D-14942C1B2436}"/>
                  </a:ext>
                </a:extLst>
              </p:cNvPr>
              <p:cNvSpPr txBox="1"/>
              <p:nvPr/>
            </p:nvSpPr>
            <p:spPr>
              <a:xfrm>
                <a:off x="11032536" y="603721"/>
                <a:ext cx="695703" cy="369332"/>
              </a:xfrm>
              <a:prstGeom prst="rect">
                <a:avLst/>
              </a:prstGeom>
              <a:noFill/>
            </p:spPr>
            <p:txBody>
              <a:bodyPr wrap="none" lIns="0" tIns="0" rIns="0" bIns="0" rtlCol="0">
                <a:spAutoFit/>
              </a:bodyPr>
              <a:lstStyle/>
              <a:p>
                <a:r>
                  <a:rPr lang="ru-RU" sz="1200" dirty="0"/>
                  <a:t>Настройки</a:t>
                </a:r>
                <a:br>
                  <a:rPr lang="ru-RU" sz="1200" dirty="0"/>
                </a:br>
                <a:r>
                  <a:rPr lang="ru-RU" sz="1200" dirty="0"/>
                  <a:t>Выход</a:t>
                </a:r>
              </a:p>
            </p:txBody>
          </p:sp>
        </p:grpSp>
      </p:grpSp>
      <p:sp>
        <p:nvSpPr>
          <p:cNvPr id="42" name="Прямоугольник 41">
            <a:extLst>
              <a:ext uri="{FF2B5EF4-FFF2-40B4-BE49-F238E27FC236}">
                <a16:creationId xmlns:a16="http://schemas.microsoft.com/office/drawing/2014/main" id="{4D6412BE-8A73-0016-6133-0A7D62A26898}"/>
              </a:ext>
            </a:extLst>
          </p:cNvPr>
          <p:cNvSpPr/>
          <p:nvPr/>
        </p:nvSpPr>
        <p:spPr>
          <a:xfrm>
            <a:off x="4928315" y="131910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3" name="Прямоугольник 42">
            <a:extLst>
              <a:ext uri="{FF2B5EF4-FFF2-40B4-BE49-F238E27FC236}">
                <a16:creationId xmlns:a16="http://schemas.microsoft.com/office/drawing/2014/main" id="{950BD1AF-67A3-DF0F-8F8D-EAA6EB290305}"/>
              </a:ext>
            </a:extLst>
          </p:cNvPr>
          <p:cNvSpPr/>
          <p:nvPr/>
        </p:nvSpPr>
        <p:spPr>
          <a:xfrm>
            <a:off x="6757853" y="131910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4" name="Прямоугольник 43">
            <a:extLst>
              <a:ext uri="{FF2B5EF4-FFF2-40B4-BE49-F238E27FC236}">
                <a16:creationId xmlns:a16="http://schemas.microsoft.com/office/drawing/2014/main" id="{A401C8D2-32D4-0996-7CA4-F70DCBA05850}"/>
              </a:ext>
            </a:extLst>
          </p:cNvPr>
          <p:cNvSpPr/>
          <p:nvPr/>
        </p:nvSpPr>
        <p:spPr>
          <a:xfrm>
            <a:off x="8612345" y="131910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5" name="TextBox 44">
            <a:extLst>
              <a:ext uri="{FF2B5EF4-FFF2-40B4-BE49-F238E27FC236}">
                <a16:creationId xmlns:a16="http://schemas.microsoft.com/office/drawing/2014/main" id="{00721A8B-63BE-861A-ED99-06A34327AA5C}"/>
              </a:ext>
            </a:extLst>
          </p:cNvPr>
          <p:cNvSpPr txBox="1"/>
          <p:nvPr/>
        </p:nvSpPr>
        <p:spPr>
          <a:xfrm>
            <a:off x="6942460" y="1370583"/>
            <a:ext cx="1313758" cy="184666"/>
          </a:xfrm>
          <a:prstGeom prst="rect">
            <a:avLst/>
          </a:prstGeom>
          <a:noFill/>
        </p:spPr>
        <p:txBody>
          <a:bodyPr wrap="none" lIns="0" tIns="0" rIns="0" bIns="0" rtlCol="0">
            <a:spAutoFit/>
          </a:bodyPr>
          <a:lstStyle/>
          <a:p>
            <a:r>
              <a:rPr lang="ru-RU" sz="1200" dirty="0"/>
              <a:t>Подать тикет на «н»</a:t>
            </a:r>
          </a:p>
        </p:txBody>
      </p:sp>
      <p:sp>
        <p:nvSpPr>
          <p:cNvPr id="46" name="TextBox 45">
            <a:extLst>
              <a:ext uri="{FF2B5EF4-FFF2-40B4-BE49-F238E27FC236}">
                <a16:creationId xmlns:a16="http://schemas.microsoft.com/office/drawing/2014/main" id="{5810975A-FCCC-F324-6848-1F490A7AA7DF}"/>
              </a:ext>
            </a:extLst>
          </p:cNvPr>
          <p:cNvSpPr txBox="1"/>
          <p:nvPr/>
        </p:nvSpPr>
        <p:spPr>
          <a:xfrm>
            <a:off x="5093841" y="1370583"/>
            <a:ext cx="1300934" cy="184666"/>
          </a:xfrm>
          <a:prstGeom prst="rect">
            <a:avLst/>
          </a:prstGeom>
          <a:noFill/>
        </p:spPr>
        <p:txBody>
          <a:bodyPr wrap="none" lIns="0" tIns="0" rIns="0" bIns="0" rtlCol="0">
            <a:spAutoFit/>
          </a:bodyPr>
          <a:lstStyle/>
          <a:p>
            <a:r>
              <a:rPr lang="ru-RU" sz="1200" dirty="0"/>
              <a:t>Подать тикет на «у»</a:t>
            </a:r>
          </a:p>
        </p:txBody>
      </p:sp>
      <p:sp>
        <p:nvSpPr>
          <p:cNvPr id="47" name="TextBox 46">
            <a:extLst>
              <a:ext uri="{FF2B5EF4-FFF2-40B4-BE49-F238E27FC236}">
                <a16:creationId xmlns:a16="http://schemas.microsoft.com/office/drawing/2014/main" id="{A934D3B5-040C-14C8-FAEC-96B9CE49089E}"/>
              </a:ext>
            </a:extLst>
          </p:cNvPr>
          <p:cNvSpPr txBox="1"/>
          <p:nvPr/>
        </p:nvSpPr>
        <p:spPr>
          <a:xfrm>
            <a:off x="8826034" y="1370583"/>
            <a:ext cx="1139351" cy="184666"/>
          </a:xfrm>
          <a:prstGeom prst="rect">
            <a:avLst/>
          </a:prstGeom>
          <a:noFill/>
        </p:spPr>
        <p:txBody>
          <a:bodyPr wrap="none" lIns="0" tIns="0" rIns="0" bIns="0" rtlCol="0">
            <a:spAutoFit/>
          </a:bodyPr>
          <a:lstStyle/>
          <a:p>
            <a:r>
              <a:rPr lang="ru-RU" sz="1200" dirty="0"/>
              <a:t>На рассмотрении</a:t>
            </a:r>
          </a:p>
        </p:txBody>
      </p:sp>
      <p:sp>
        <p:nvSpPr>
          <p:cNvPr id="48" name="Прямоугольник 47">
            <a:extLst>
              <a:ext uri="{FF2B5EF4-FFF2-40B4-BE49-F238E27FC236}">
                <a16:creationId xmlns:a16="http://schemas.microsoft.com/office/drawing/2014/main" id="{8014C429-F2DB-1E4F-DEA7-7ADC43913AE1}"/>
              </a:ext>
            </a:extLst>
          </p:cNvPr>
          <p:cNvSpPr/>
          <p:nvPr/>
        </p:nvSpPr>
        <p:spPr>
          <a:xfrm>
            <a:off x="4928315" y="1784612"/>
            <a:ext cx="7147775" cy="2806438"/>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TextBox 48">
            <a:extLst>
              <a:ext uri="{FF2B5EF4-FFF2-40B4-BE49-F238E27FC236}">
                <a16:creationId xmlns:a16="http://schemas.microsoft.com/office/drawing/2014/main" id="{54472B96-7169-0892-AD13-EC8BE758C2E5}"/>
              </a:ext>
            </a:extLst>
          </p:cNvPr>
          <p:cNvSpPr txBox="1"/>
          <p:nvPr/>
        </p:nvSpPr>
        <p:spPr>
          <a:xfrm>
            <a:off x="5117128" y="1883545"/>
            <a:ext cx="7097456" cy="369332"/>
          </a:xfrm>
          <a:prstGeom prst="rect">
            <a:avLst/>
          </a:prstGeom>
          <a:noFill/>
        </p:spPr>
        <p:txBody>
          <a:bodyPr wrap="none" lIns="0" tIns="0" rIns="0" bIns="0" rtlCol="0">
            <a:spAutoFit/>
          </a:bodyPr>
          <a:lstStyle/>
          <a:p>
            <a:r>
              <a:rPr lang="ru-RU" sz="1200" dirty="0"/>
              <a:t>Причина пропуска (выбирается из выпадающего списка </a:t>
            </a:r>
            <a:br>
              <a:rPr lang="ru-RU" sz="1200" dirty="0"/>
            </a:br>
            <a:r>
              <a:rPr lang="ru-RU" sz="1200" dirty="0"/>
              <a:t>и потом отображается везде в журнале при наведении) – я думаю надо стандартизировать во всей системе</a:t>
            </a:r>
          </a:p>
        </p:txBody>
      </p:sp>
      <p:sp>
        <p:nvSpPr>
          <p:cNvPr id="50" name="TextBox 49">
            <a:extLst>
              <a:ext uri="{FF2B5EF4-FFF2-40B4-BE49-F238E27FC236}">
                <a16:creationId xmlns:a16="http://schemas.microsoft.com/office/drawing/2014/main" id="{2E96CCD6-A002-914D-AABB-44D336267096}"/>
              </a:ext>
            </a:extLst>
          </p:cNvPr>
          <p:cNvSpPr txBox="1"/>
          <p:nvPr/>
        </p:nvSpPr>
        <p:spPr>
          <a:xfrm>
            <a:off x="10446024" y="1624683"/>
            <a:ext cx="1430713" cy="184666"/>
          </a:xfrm>
          <a:prstGeom prst="rect">
            <a:avLst/>
          </a:prstGeom>
          <a:noFill/>
        </p:spPr>
        <p:txBody>
          <a:bodyPr wrap="none" lIns="0" tIns="0" rIns="0" bIns="0" rtlCol="0">
            <a:spAutoFit/>
          </a:bodyPr>
          <a:lstStyle/>
          <a:p>
            <a:r>
              <a:rPr lang="ru-RU" sz="1200" dirty="0"/>
              <a:t>Пример тикета на «у»</a:t>
            </a:r>
          </a:p>
        </p:txBody>
      </p:sp>
      <p:sp>
        <p:nvSpPr>
          <p:cNvPr id="51" name="TextBox 50">
            <a:extLst>
              <a:ext uri="{FF2B5EF4-FFF2-40B4-BE49-F238E27FC236}">
                <a16:creationId xmlns:a16="http://schemas.microsoft.com/office/drawing/2014/main" id="{A22081A3-3433-A4A2-E0CE-0F16146A281F}"/>
              </a:ext>
            </a:extLst>
          </p:cNvPr>
          <p:cNvSpPr txBox="1"/>
          <p:nvPr/>
        </p:nvSpPr>
        <p:spPr>
          <a:xfrm>
            <a:off x="5117128" y="2280640"/>
            <a:ext cx="945195" cy="184666"/>
          </a:xfrm>
          <a:prstGeom prst="rect">
            <a:avLst/>
          </a:prstGeom>
          <a:noFill/>
        </p:spPr>
        <p:txBody>
          <a:bodyPr wrap="none" lIns="0" tIns="0" rIns="0" bIns="0" rtlCol="0">
            <a:spAutoFit/>
          </a:bodyPr>
          <a:lstStyle/>
          <a:p>
            <a:r>
              <a:rPr lang="ru-RU" sz="1200" dirty="0"/>
              <a:t>Комментарий</a:t>
            </a:r>
          </a:p>
        </p:txBody>
      </p:sp>
      <p:sp>
        <p:nvSpPr>
          <p:cNvPr id="52" name="TextBox 51">
            <a:extLst>
              <a:ext uri="{FF2B5EF4-FFF2-40B4-BE49-F238E27FC236}">
                <a16:creationId xmlns:a16="http://schemas.microsoft.com/office/drawing/2014/main" id="{CB95425C-1AA7-A77C-6950-C05CE478AB6E}"/>
              </a:ext>
            </a:extLst>
          </p:cNvPr>
          <p:cNvSpPr txBox="1"/>
          <p:nvPr/>
        </p:nvSpPr>
        <p:spPr>
          <a:xfrm>
            <a:off x="5117128" y="2605232"/>
            <a:ext cx="1093248" cy="184666"/>
          </a:xfrm>
          <a:prstGeom prst="rect">
            <a:avLst/>
          </a:prstGeom>
          <a:noFill/>
        </p:spPr>
        <p:txBody>
          <a:bodyPr wrap="none" lIns="0" tIns="0" rIns="0" bIns="0" rtlCol="0">
            <a:spAutoFit/>
          </a:bodyPr>
          <a:lstStyle/>
          <a:p>
            <a:r>
              <a:rPr lang="ru-RU" sz="1200" dirty="0"/>
              <a:t>Файл или файлы</a:t>
            </a:r>
          </a:p>
        </p:txBody>
      </p:sp>
      <p:sp>
        <p:nvSpPr>
          <p:cNvPr id="53" name="TextBox 52">
            <a:extLst>
              <a:ext uri="{FF2B5EF4-FFF2-40B4-BE49-F238E27FC236}">
                <a16:creationId xmlns:a16="http://schemas.microsoft.com/office/drawing/2014/main" id="{0B16A634-C843-01BA-121A-43B67189C89C}"/>
              </a:ext>
            </a:extLst>
          </p:cNvPr>
          <p:cNvSpPr txBox="1"/>
          <p:nvPr/>
        </p:nvSpPr>
        <p:spPr>
          <a:xfrm>
            <a:off x="5117128" y="2880882"/>
            <a:ext cx="5333961" cy="369332"/>
          </a:xfrm>
          <a:prstGeom prst="rect">
            <a:avLst/>
          </a:prstGeom>
          <a:noFill/>
        </p:spPr>
        <p:txBody>
          <a:bodyPr wrap="none" lIns="0" tIns="0" rIns="0" bIns="0" rtlCol="0">
            <a:spAutoFit/>
          </a:bodyPr>
          <a:lstStyle/>
          <a:p>
            <a:r>
              <a:rPr lang="ru-RU" sz="1200" dirty="0"/>
              <a:t>Выбрать дату или диапазон – после этого появляется окно с вариантами выбора </a:t>
            </a:r>
            <a:br>
              <a:rPr lang="ru-RU" sz="1200" dirty="0"/>
            </a:br>
            <a:r>
              <a:rPr lang="ru-RU" sz="1200" dirty="0"/>
              <a:t>пар на какие можно подать (есть разделение по дням визуальное)</a:t>
            </a:r>
          </a:p>
        </p:txBody>
      </p:sp>
      <p:grpSp>
        <p:nvGrpSpPr>
          <p:cNvPr id="67" name="Группа 66">
            <a:extLst>
              <a:ext uri="{FF2B5EF4-FFF2-40B4-BE49-F238E27FC236}">
                <a16:creationId xmlns:a16="http://schemas.microsoft.com/office/drawing/2014/main" id="{65CAB528-11EE-28B2-264A-55882167E14C}"/>
              </a:ext>
            </a:extLst>
          </p:cNvPr>
          <p:cNvGrpSpPr/>
          <p:nvPr/>
        </p:nvGrpSpPr>
        <p:grpSpPr>
          <a:xfrm>
            <a:off x="5276165" y="3339861"/>
            <a:ext cx="6452074" cy="584263"/>
            <a:chOff x="5276165" y="3339861"/>
            <a:chExt cx="6452074" cy="584263"/>
          </a:xfrm>
        </p:grpSpPr>
        <p:sp>
          <p:nvSpPr>
            <p:cNvPr id="54" name="Прямоугольник 53">
              <a:extLst>
                <a:ext uri="{FF2B5EF4-FFF2-40B4-BE49-F238E27FC236}">
                  <a16:creationId xmlns:a16="http://schemas.microsoft.com/office/drawing/2014/main" id="{C81625FF-FFEA-0192-5EF1-0922C53962FE}"/>
                </a:ext>
              </a:extLst>
            </p:cNvPr>
            <p:cNvSpPr/>
            <p:nvPr/>
          </p:nvSpPr>
          <p:spPr>
            <a:xfrm>
              <a:off x="5276165" y="3339861"/>
              <a:ext cx="6452074" cy="584263"/>
            </a:xfrm>
            <a:prstGeom prst="rect">
              <a:avLst/>
            </a:prstGeom>
            <a:solidFill>
              <a:srgbClr val="D1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5" name="TextBox 54">
              <a:extLst>
                <a:ext uri="{FF2B5EF4-FFF2-40B4-BE49-F238E27FC236}">
                  <a16:creationId xmlns:a16="http://schemas.microsoft.com/office/drawing/2014/main" id="{05068EEE-1C5F-4D26-B349-5938FC317A8B}"/>
                </a:ext>
              </a:extLst>
            </p:cNvPr>
            <p:cNvSpPr txBox="1"/>
            <p:nvPr/>
          </p:nvSpPr>
          <p:spPr>
            <a:xfrm>
              <a:off x="5408874" y="3419410"/>
              <a:ext cx="1331005" cy="184666"/>
            </a:xfrm>
            <a:prstGeom prst="rect">
              <a:avLst/>
            </a:prstGeom>
            <a:noFill/>
          </p:spPr>
          <p:txBody>
            <a:bodyPr wrap="none" lIns="0" tIns="0" rIns="0" bIns="0" rtlCol="0">
              <a:spAutoFit/>
            </a:bodyPr>
            <a:lstStyle/>
            <a:p>
              <a:r>
                <a:rPr lang="ru-RU" sz="1200" dirty="0"/>
                <a:t>Название предмета</a:t>
              </a:r>
            </a:p>
          </p:txBody>
        </p:sp>
        <p:sp>
          <p:nvSpPr>
            <p:cNvPr id="56" name="TextBox 55">
              <a:extLst>
                <a:ext uri="{FF2B5EF4-FFF2-40B4-BE49-F238E27FC236}">
                  <a16:creationId xmlns:a16="http://schemas.microsoft.com/office/drawing/2014/main" id="{B186B5AD-4803-8D98-FC63-3876EBDE80C1}"/>
                </a:ext>
              </a:extLst>
            </p:cNvPr>
            <p:cNvSpPr txBox="1"/>
            <p:nvPr/>
          </p:nvSpPr>
          <p:spPr>
            <a:xfrm>
              <a:off x="6867594" y="3419410"/>
              <a:ext cx="774443" cy="184666"/>
            </a:xfrm>
            <a:prstGeom prst="rect">
              <a:avLst/>
            </a:prstGeom>
            <a:noFill/>
          </p:spPr>
          <p:txBody>
            <a:bodyPr wrap="none" lIns="0" tIns="0" rIns="0" bIns="0" rtlCol="0">
              <a:spAutoFit/>
            </a:bodyPr>
            <a:lstStyle/>
            <a:p>
              <a:r>
                <a:rPr lang="ru-RU" sz="1200" dirty="0"/>
                <a:t>Тип занятия</a:t>
              </a:r>
            </a:p>
          </p:txBody>
        </p:sp>
        <p:sp>
          <p:nvSpPr>
            <p:cNvPr id="58" name="TextBox 57">
              <a:extLst>
                <a:ext uri="{FF2B5EF4-FFF2-40B4-BE49-F238E27FC236}">
                  <a16:creationId xmlns:a16="http://schemas.microsoft.com/office/drawing/2014/main" id="{8A4D0DA3-7FAD-DE6B-E0EC-E9F0F9756AC5}"/>
                </a:ext>
              </a:extLst>
            </p:cNvPr>
            <p:cNvSpPr txBox="1"/>
            <p:nvPr/>
          </p:nvSpPr>
          <p:spPr>
            <a:xfrm>
              <a:off x="7809775" y="3419410"/>
              <a:ext cx="292901" cy="184666"/>
            </a:xfrm>
            <a:prstGeom prst="rect">
              <a:avLst/>
            </a:prstGeom>
            <a:noFill/>
          </p:spPr>
          <p:txBody>
            <a:bodyPr wrap="none" lIns="0" tIns="0" rIns="0" bIns="0" rtlCol="0">
              <a:spAutoFit/>
            </a:bodyPr>
            <a:lstStyle/>
            <a:p>
              <a:r>
                <a:rPr lang="ru-RU" sz="1200" dirty="0"/>
                <a:t>дата</a:t>
              </a:r>
            </a:p>
          </p:txBody>
        </p:sp>
        <p:sp>
          <p:nvSpPr>
            <p:cNvPr id="59" name="TextBox 58">
              <a:extLst>
                <a:ext uri="{FF2B5EF4-FFF2-40B4-BE49-F238E27FC236}">
                  <a16:creationId xmlns:a16="http://schemas.microsoft.com/office/drawing/2014/main" id="{8B93706F-F53B-2A2C-E8A4-28F360295933}"/>
                </a:ext>
              </a:extLst>
            </p:cNvPr>
            <p:cNvSpPr txBox="1"/>
            <p:nvPr/>
          </p:nvSpPr>
          <p:spPr>
            <a:xfrm>
              <a:off x="5408874" y="3607913"/>
              <a:ext cx="605935" cy="184666"/>
            </a:xfrm>
            <a:prstGeom prst="rect">
              <a:avLst/>
            </a:prstGeom>
            <a:noFill/>
          </p:spPr>
          <p:txBody>
            <a:bodyPr wrap="none" lIns="0" tIns="0" rIns="0" bIns="0" rtlCol="0">
              <a:spAutoFit/>
            </a:bodyPr>
            <a:lstStyle/>
            <a:p>
              <a:r>
                <a:rPr lang="en-US" sz="1200" dirty="0" err="1"/>
                <a:t>xxxxxxxxx</a:t>
              </a:r>
              <a:endParaRPr lang="ru-RU" sz="1200" dirty="0"/>
            </a:p>
          </p:txBody>
        </p:sp>
        <p:sp>
          <p:nvSpPr>
            <p:cNvPr id="60" name="TextBox 59">
              <a:extLst>
                <a:ext uri="{FF2B5EF4-FFF2-40B4-BE49-F238E27FC236}">
                  <a16:creationId xmlns:a16="http://schemas.microsoft.com/office/drawing/2014/main" id="{4B0D356B-3EBF-31A1-6B5F-BE433377884A}"/>
                </a:ext>
              </a:extLst>
            </p:cNvPr>
            <p:cNvSpPr txBox="1"/>
            <p:nvPr/>
          </p:nvSpPr>
          <p:spPr>
            <a:xfrm>
              <a:off x="6867594" y="3607913"/>
              <a:ext cx="471283" cy="184666"/>
            </a:xfrm>
            <a:prstGeom prst="rect">
              <a:avLst/>
            </a:prstGeom>
            <a:noFill/>
          </p:spPr>
          <p:txBody>
            <a:bodyPr wrap="none" lIns="0" tIns="0" rIns="0" bIns="0" rtlCol="0">
              <a:spAutoFit/>
            </a:bodyPr>
            <a:lstStyle/>
            <a:p>
              <a:r>
                <a:rPr lang="en-US" sz="1200" dirty="0" err="1"/>
                <a:t>xxxxxxx</a:t>
              </a:r>
              <a:endParaRPr lang="ru-RU" sz="1200" dirty="0"/>
            </a:p>
          </p:txBody>
        </p:sp>
        <p:sp>
          <p:nvSpPr>
            <p:cNvPr id="61" name="TextBox 60">
              <a:extLst>
                <a:ext uri="{FF2B5EF4-FFF2-40B4-BE49-F238E27FC236}">
                  <a16:creationId xmlns:a16="http://schemas.microsoft.com/office/drawing/2014/main" id="{1AF91581-4FF3-4C90-5526-B8820B18B834}"/>
                </a:ext>
              </a:extLst>
            </p:cNvPr>
            <p:cNvSpPr txBox="1"/>
            <p:nvPr/>
          </p:nvSpPr>
          <p:spPr>
            <a:xfrm>
              <a:off x="7809775" y="3607913"/>
              <a:ext cx="403957" cy="184666"/>
            </a:xfrm>
            <a:prstGeom prst="rect">
              <a:avLst/>
            </a:prstGeom>
            <a:noFill/>
          </p:spPr>
          <p:txBody>
            <a:bodyPr wrap="none" lIns="0" tIns="0" rIns="0" bIns="0" rtlCol="0">
              <a:spAutoFit/>
            </a:bodyPr>
            <a:lstStyle/>
            <a:p>
              <a:r>
                <a:rPr lang="en-US" sz="1200" dirty="0" err="1"/>
                <a:t>xxxxxx</a:t>
              </a:r>
              <a:endParaRPr lang="ru-RU" sz="1200" dirty="0"/>
            </a:p>
          </p:txBody>
        </p:sp>
        <p:sp>
          <p:nvSpPr>
            <p:cNvPr id="62" name="TextBox 61">
              <a:extLst>
                <a:ext uri="{FF2B5EF4-FFF2-40B4-BE49-F238E27FC236}">
                  <a16:creationId xmlns:a16="http://schemas.microsoft.com/office/drawing/2014/main" id="{611C0B2F-F41A-68B6-16D7-9AC5FD154491}"/>
                </a:ext>
              </a:extLst>
            </p:cNvPr>
            <p:cNvSpPr txBox="1"/>
            <p:nvPr/>
          </p:nvSpPr>
          <p:spPr>
            <a:xfrm>
              <a:off x="10008698" y="3631992"/>
              <a:ext cx="1600182" cy="184666"/>
            </a:xfrm>
            <a:prstGeom prst="rect">
              <a:avLst/>
            </a:prstGeom>
            <a:noFill/>
          </p:spPr>
          <p:txBody>
            <a:bodyPr wrap="none" lIns="0" tIns="0" rIns="0" bIns="0" rtlCol="0">
              <a:spAutoFit/>
            </a:bodyPr>
            <a:lstStyle/>
            <a:p>
              <a:r>
                <a:rPr lang="ru-RU" sz="1200" dirty="0"/>
                <a:t>Чекбокс галочка выбора</a:t>
              </a:r>
            </a:p>
          </p:txBody>
        </p:sp>
      </p:grpSp>
      <p:sp>
        <p:nvSpPr>
          <p:cNvPr id="63" name="Прямоугольник 62">
            <a:extLst>
              <a:ext uri="{FF2B5EF4-FFF2-40B4-BE49-F238E27FC236}">
                <a16:creationId xmlns:a16="http://schemas.microsoft.com/office/drawing/2014/main" id="{FA748277-7AA6-7DF1-7CDF-DB93147157A7}"/>
              </a:ext>
            </a:extLst>
          </p:cNvPr>
          <p:cNvSpPr/>
          <p:nvPr/>
        </p:nvSpPr>
        <p:spPr>
          <a:xfrm>
            <a:off x="10446024" y="413642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4" name="TextBox 63">
            <a:extLst>
              <a:ext uri="{FF2B5EF4-FFF2-40B4-BE49-F238E27FC236}">
                <a16:creationId xmlns:a16="http://schemas.microsoft.com/office/drawing/2014/main" id="{39DF2322-764B-3FE7-A9A7-CD23E0B12BA5}"/>
              </a:ext>
            </a:extLst>
          </p:cNvPr>
          <p:cNvSpPr txBox="1"/>
          <p:nvPr/>
        </p:nvSpPr>
        <p:spPr>
          <a:xfrm>
            <a:off x="10529117" y="4187903"/>
            <a:ext cx="1531060" cy="184666"/>
          </a:xfrm>
          <a:prstGeom prst="rect">
            <a:avLst/>
          </a:prstGeom>
          <a:noFill/>
        </p:spPr>
        <p:txBody>
          <a:bodyPr wrap="none" lIns="0" tIns="0" rIns="0" bIns="0" rtlCol="0">
            <a:spAutoFit/>
          </a:bodyPr>
          <a:lstStyle/>
          <a:p>
            <a:r>
              <a:rPr lang="ru-RU" sz="1200" dirty="0"/>
              <a:t>Сохранить и отправить</a:t>
            </a:r>
          </a:p>
        </p:txBody>
      </p:sp>
      <p:sp>
        <p:nvSpPr>
          <p:cNvPr id="65" name="Прямоугольник 64">
            <a:extLst>
              <a:ext uri="{FF2B5EF4-FFF2-40B4-BE49-F238E27FC236}">
                <a16:creationId xmlns:a16="http://schemas.microsoft.com/office/drawing/2014/main" id="{16C45F85-ACD0-E2F8-082E-6D46341EFC39}"/>
              </a:ext>
            </a:extLst>
          </p:cNvPr>
          <p:cNvSpPr/>
          <p:nvPr/>
        </p:nvSpPr>
        <p:spPr>
          <a:xfrm>
            <a:off x="10427208" y="1319102"/>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6" name="TextBox 65">
            <a:extLst>
              <a:ext uri="{FF2B5EF4-FFF2-40B4-BE49-F238E27FC236}">
                <a16:creationId xmlns:a16="http://schemas.microsoft.com/office/drawing/2014/main" id="{4E5DBE29-715F-C26F-E488-C112FE29E77B}"/>
              </a:ext>
            </a:extLst>
          </p:cNvPr>
          <p:cNvSpPr txBox="1"/>
          <p:nvPr/>
        </p:nvSpPr>
        <p:spPr>
          <a:xfrm>
            <a:off x="10981811" y="1370583"/>
            <a:ext cx="392864" cy="184666"/>
          </a:xfrm>
          <a:prstGeom prst="rect">
            <a:avLst/>
          </a:prstGeom>
          <a:noFill/>
        </p:spPr>
        <p:txBody>
          <a:bodyPr wrap="none" lIns="0" tIns="0" rIns="0" bIns="0" rtlCol="0">
            <a:spAutoFit/>
          </a:bodyPr>
          <a:lstStyle/>
          <a:p>
            <a:r>
              <a:rPr lang="ru-RU" sz="1200" dirty="0"/>
              <a:t>Архив</a:t>
            </a:r>
          </a:p>
        </p:txBody>
      </p:sp>
      <p:grpSp>
        <p:nvGrpSpPr>
          <p:cNvPr id="68" name="Группа 67">
            <a:extLst>
              <a:ext uri="{FF2B5EF4-FFF2-40B4-BE49-F238E27FC236}">
                <a16:creationId xmlns:a16="http://schemas.microsoft.com/office/drawing/2014/main" id="{B431BC52-652C-E9A0-0EA5-B4133869CF0A}"/>
              </a:ext>
            </a:extLst>
          </p:cNvPr>
          <p:cNvGrpSpPr/>
          <p:nvPr/>
        </p:nvGrpSpPr>
        <p:grpSpPr>
          <a:xfrm>
            <a:off x="4928315" y="4906212"/>
            <a:ext cx="7147774" cy="1043738"/>
            <a:chOff x="4928315" y="3339861"/>
            <a:chExt cx="7147774" cy="1043738"/>
          </a:xfrm>
        </p:grpSpPr>
        <p:sp>
          <p:nvSpPr>
            <p:cNvPr id="69" name="Прямоугольник 68">
              <a:extLst>
                <a:ext uri="{FF2B5EF4-FFF2-40B4-BE49-F238E27FC236}">
                  <a16:creationId xmlns:a16="http://schemas.microsoft.com/office/drawing/2014/main" id="{2F1E718A-945D-079E-30DC-4274BB8F0700}"/>
                </a:ext>
              </a:extLst>
            </p:cNvPr>
            <p:cNvSpPr/>
            <p:nvPr/>
          </p:nvSpPr>
          <p:spPr>
            <a:xfrm>
              <a:off x="4928315" y="3339861"/>
              <a:ext cx="7147774" cy="1043738"/>
            </a:xfrm>
            <a:prstGeom prst="rect">
              <a:avLst/>
            </a:prstGeom>
            <a:solidFill>
              <a:srgbClr val="D1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TextBox 69">
              <a:extLst>
                <a:ext uri="{FF2B5EF4-FFF2-40B4-BE49-F238E27FC236}">
                  <a16:creationId xmlns:a16="http://schemas.microsoft.com/office/drawing/2014/main" id="{61508D8E-5662-E091-947D-E43343FCDC81}"/>
                </a:ext>
              </a:extLst>
            </p:cNvPr>
            <p:cNvSpPr txBox="1"/>
            <p:nvPr/>
          </p:nvSpPr>
          <p:spPr>
            <a:xfrm>
              <a:off x="5408874" y="3419410"/>
              <a:ext cx="1331005" cy="184666"/>
            </a:xfrm>
            <a:prstGeom prst="rect">
              <a:avLst/>
            </a:prstGeom>
            <a:noFill/>
          </p:spPr>
          <p:txBody>
            <a:bodyPr wrap="none" lIns="0" tIns="0" rIns="0" bIns="0" rtlCol="0">
              <a:spAutoFit/>
            </a:bodyPr>
            <a:lstStyle/>
            <a:p>
              <a:r>
                <a:rPr lang="ru-RU" sz="1200" dirty="0"/>
                <a:t>Название предмета</a:t>
              </a:r>
            </a:p>
          </p:txBody>
        </p:sp>
        <p:sp>
          <p:nvSpPr>
            <p:cNvPr id="71" name="TextBox 70">
              <a:extLst>
                <a:ext uri="{FF2B5EF4-FFF2-40B4-BE49-F238E27FC236}">
                  <a16:creationId xmlns:a16="http://schemas.microsoft.com/office/drawing/2014/main" id="{EB2D464F-F177-3C29-EE1E-1C84179B57E2}"/>
                </a:ext>
              </a:extLst>
            </p:cNvPr>
            <p:cNvSpPr txBox="1"/>
            <p:nvPr/>
          </p:nvSpPr>
          <p:spPr>
            <a:xfrm>
              <a:off x="6867594" y="3419410"/>
              <a:ext cx="774443" cy="184666"/>
            </a:xfrm>
            <a:prstGeom prst="rect">
              <a:avLst/>
            </a:prstGeom>
            <a:noFill/>
          </p:spPr>
          <p:txBody>
            <a:bodyPr wrap="none" lIns="0" tIns="0" rIns="0" bIns="0" rtlCol="0">
              <a:spAutoFit/>
            </a:bodyPr>
            <a:lstStyle/>
            <a:p>
              <a:r>
                <a:rPr lang="ru-RU" sz="1200" dirty="0"/>
                <a:t>Тип занятия</a:t>
              </a:r>
            </a:p>
          </p:txBody>
        </p:sp>
        <p:sp>
          <p:nvSpPr>
            <p:cNvPr id="72" name="TextBox 71">
              <a:extLst>
                <a:ext uri="{FF2B5EF4-FFF2-40B4-BE49-F238E27FC236}">
                  <a16:creationId xmlns:a16="http://schemas.microsoft.com/office/drawing/2014/main" id="{AA350DDE-4693-3A31-68B0-E6CD64DE4F81}"/>
                </a:ext>
              </a:extLst>
            </p:cNvPr>
            <p:cNvSpPr txBox="1"/>
            <p:nvPr/>
          </p:nvSpPr>
          <p:spPr>
            <a:xfrm>
              <a:off x="7809775" y="3419410"/>
              <a:ext cx="292901" cy="184666"/>
            </a:xfrm>
            <a:prstGeom prst="rect">
              <a:avLst/>
            </a:prstGeom>
            <a:noFill/>
          </p:spPr>
          <p:txBody>
            <a:bodyPr wrap="none" lIns="0" tIns="0" rIns="0" bIns="0" rtlCol="0">
              <a:spAutoFit/>
            </a:bodyPr>
            <a:lstStyle/>
            <a:p>
              <a:r>
                <a:rPr lang="ru-RU" sz="1200" dirty="0"/>
                <a:t>дата</a:t>
              </a:r>
            </a:p>
          </p:txBody>
        </p:sp>
        <p:sp>
          <p:nvSpPr>
            <p:cNvPr id="73" name="TextBox 72">
              <a:extLst>
                <a:ext uri="{FF2B5EF4-FFF2-40B4-BE49-F238E27FC236}">
                  <a16:creationId xmlns:a16="http://schemas.microsoft.com/office/drawing/2014/main" id="{34AA7CB3-1BED-0968-0966-D0B40734F837}"/>
                </a:ext>
              </a:extLst>
            </p:cNvPr>
            <p:cNvSpPr txBox="1"/>
            <p:nvPr/>
          </p:nvSpPr>
          <p:spPr>
            <a:xfrm>
              <a:off x="5408874" y="3607913"/>
              <a:ext cx="605935" cy="184666"/>
            </a:xfrm>
            <a:prstGeom prst="rect">
              <a:avLst/>
            </a:prstGeom>
            <a:noFill/>
          </p:spPr>
          <p:txBody>
            <a:bodyPr wrap="none" lIns="0" tIns="0" rIns="0" bIns="0" rtlCol="0">
              <a:spAutoFit/>
            </a:bodyPr>
            <a:lstStyle/>
            <a:p>
              <a:r>
                <a:rPr lang="en-US" sz="1200" dirty="0" err="1"/>
                <a:t>xxxxxxxxx</a:t>
              </a:r>
              <a:endParaRPr lang="ru-RU" sz="1200" dirty="0"/>
            </a:p>
          </p:txBody>
        </p:sp>
        <p:sp>
          <p:nvSpPr>
            <p:cNvPr id="74" name="TextBox 73">
              <a:extLst>
                <a:ext uri="{FF2B5EF4-FFF2-40B4-BE49-F238E27FC236}">
                  <a16:creationId xmlns:a16="http://schemas.microsoft.com/office/drawing/2014/main" id="{61F975CF-F4C5-3D16-5C85-D2FF94E63EB1}"/>
                </a:ext>
              </a:extLst>
            </p:cNvPr>
            <p:cNvSpPr txBox="1"/>
            <p:nvPr/>
          </p:nvSpPr>
          <p:spPr>
            <a:xfrm>
              <a:off x="6867594" y="3607913"/>
              <a:ext cx="471283" cy="184666"/>
            </a:xfrm>
            <a:prstGeom prst="rect">
              <a:avLst/>
            </a:prstGeom>
            <a:noFill/>
          </p:spPr>
          <p:txBody>
            <a:bodyPr wrap="none" lIns="0" tIns="0" rIns="0" bIns="0" rtlCol="0">
              <a:spAutoFit/>
            </a:bodyPr>
            <a:lstStyle/>
            <a:p>
              <a:r>
                <a:rPr lang="en-US" sz="1200" dirty="0" err="1"/>
                <a:t>xxxxxxx</a:t>
              </a:r>
              <a:endParaRPr lang="ru-RU" sz="1200" dirty="0"/>
            </a:p>
          </p:txBody>
        </p:sp>
        <p:sp>
          <p:nvSpPr>
            <p:cNvPr id="75" name="TextBox 74">
              <a:extLst>
                <a:ext uri="{FF2B5EF4-FFF2-40B4-BE49-F238E27FC236}">
                  <a16:creationId xmlns:a16="http://schemas.microsoft.com/office/drawing/2014/main" id="{1AFD5557-9800-5B62-7531-5A9FE30381ED}"/>
                </a:ext>
              </a:extLst>
            </p:cNvPr>
            <p:cNvSpPr txBox="1"/>
            <p:nvPr/>
          </p:nvSpPr>
          <p:spPr>
            <a:xfrm>
              <a:off x="7809775" y="3607913"/>
              <a:ext cx="403957" cy="184666"/>
            </a:xfrm>
            <a:prstGeom prst="rect">
              <a:avLst/>
            </a:prstGeom>
            <a:noFill/>
          </p:spPr>
          <p:txBody>
            <a:bodyPr wrap="none" lIns="0" tIns="0" rIns="0" bIns="0" rtlCol="0">
              <a:spAutoFit/>
            </a:bodyPr>
            <a:lstStyle/>
            <a:p>
              <a:r>
                <a:rPr lang="en-US" sz="1200" dirty="0" err="1"/>
                <a:t>xxxxxx</a:t>
              </a:r>
              <a:endParaRPr lang="ru-RU" sz="1200" dirty="0"/>
            </a:p>
          </p:txBody>
        </p:sp>
        <p:sp>
          <p:nvSpPr>
            <p:cNvPr id="76" name="TextBox 75">
              <a:extLst>
                <a:ext uri="{FF2B5EF4-FFF2-40B4-BE49-F238E27FC236}">
                  <a16:creationId xmlns:a16="http://schemas.microsoft.com/office/drawing/2014/main" id="{E3FB17B4-B0BC-E046-4842-AECA588B58BA}"/>
                </a:ext>
              </a:extLst>
            </p:cNvPr>
            <p:cNvSpPr txBox="1"/>
            <p:nvPr/>
          </p:nvSpPr>
          <p:spPr>
            <a:xfrm>
              <a:off x="10008698" y="3631992"/>
              <a:ext cx="1600182" cy="184666"/>
            </a:xfrm>
            <a:prstGeom prst="rect">
              <a:avLst/>
            </a:prstGeom>
            <a:noFill/>
          </p:spPr>
          <p:txBody>
            <a:bodyPr wrap="none" lIns="0" tIns="0" rIns="0" bIns="0" rtlCol="0">
              <a:spAutoFit/>
            </a:bodyPr>
            <a:lstStyle/>
            <a:p>
              <a:r>
                <a:rPr lang="ru-RU" sz="1200" dirty="0"/>
                <a:t>Чекбокс галочка выбора</a:t>
              </a:r>
            </a:p>
          </p:txBody>
        </p:sp>
      </p:grpSp>
      <p:sp>
        <p:nvSpPr>
          <p:cNvPr id="77" name="TextBox 76">
            <a:extLst>
              <a:ext uri="{FF2B5EF4-FFF2-40B4-BE49-F238E27FC236}">
                <a16:creationId xmlns:a16="http://schemas.microsoft.com/office/drawing/2014/main" id="{D066D88E-1C74-255D-23D5-35001981FE0F}"/>
              </a:ext>
            </a:extLst>
          </p:cNvPr>
          <p:cNvSpPr txBox="1"/>
          <p:nvPr/>
        </p:nvSpPr>
        <p:spPr>
          <a:xfrm>
            <a:off x="10446024" y="4776217"/>
            <a:ext cx="1443537" cy="184666"/>
          </a:xfrm>
          <a:prstGeom prst="rect">
            <a:avLst/>
          </a:prstGeom>
          <a:noFill/>
        </p:spPr>
        <p:txBody>
          <a:bodyPr wrap="none" lIns="0" tIns="0" rIns="0" bIns="0" rtlCol="0">
            <a:spAutoFit/>
          </a:bodyPr>
          <a:lstStyle/>
          <a:p>
            <a:r>
              <a:rPr lang="ru-RU" sz="1200" dirty="0"/>
              <a:t>Пример тикета на «н»</a:t>
            </a:r>
          </a:p>
        </p:txBody>
      </p:sp>
      <p:sp>
        <p:nvSpPr>
          <p:cNvPr id="78" name="TextBox 77">
            <a:extLst>
              <a:ext uri="{FF2B5EF4-FFF2-40B4-BE49-F238E27FC236}">
                <a16:creationId xmlns:a16="http://schemas.microsoft.com/office/drawing/2014/main" id="{D07AA8EB-0C78-58BC-B084-11655DA1A4A8}"/>
              </a:ext>
            </a:extLst>
          </p:cNvPr>
          <p:cNvSpPr txBox="1"/>
          <p:nvPr/>
        </p:nvSpPr>
        <p:spPr>
          <a:xfrm>
            <a:off x="191164" y="1544443"/>
            <a:ext cx="4376544" cy="338554"/>
          </a:xfrm>
          <a:prstGeom prst="rect">
            <a:avLst/>
          </a:prstGeom>
          <a:noFill/>
        </p:spPr>
        <p:txBody>
          <a:bodyPr wrap="square" lIns="0" tIns="0" rIns="0" bIns="0" rtlCol="0">
            <a:spAutoFit/>
          </a:bodyPr>
          <a:lstStyle/>
          <a:p>
            <a:r>
              <a:rPr lang="ru-RU" sz="1100" dirty="0"/>
              <a:t>2 – тикет на «н» по факту это часть тикета на «у» те использовать как раз </a:t>
            </a:r>
            <a:r>
              <a:rPr lang="en-US" sz="1100" dirty="0"/>
              <a:t>templates </a:t>
            </a:r>
            <a:r>
              <a:rPr lang="ru-RU" sz="1100" dirty="0"/>
              <a:t>в коде потом</a:t>
            </a:r>
          </a:p>
        </p:txBody>
      </p:sp>
      <p:sp>
        <p:nvSpPr>
          <p:cNvPr id="79" name="Прямоугольник 78">
            <a:extLst>
              <a:ext uri="{FF2B5EF4-FFF2-40B4-BE49-F238E27FC236}">
                <a16:creationId xmlns:a16="http://schemas.microsoft.com/office/drawing/2014/main" id="{3BFDBA46-6817-17FA-88F6-3754D97C4DF7}"/>
              </a:ext>
            </a:extLst>
          </p:cNvPr>
          <p:cNvSpPr/>
          <p:nvPr/>
        </p:nvSpPr>
        <p:spPr>
          <a:xfrm>
            <a:off x="9994728" y="5520343"/>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0" name="TextBox 79">
            <a:extLst>
              <a:ext uri="{FF2B5EF4-FFF2-40B4-BE49-F238E27FC236}">
                <a16:creationId xmlns:a16="http://schemas.microsoft.com/office/drawing/2014/main" id="{8934CCBC-3A22-54DB-9021-1069FD1958AD}"/>
              </a:ext>
            </a:extLst>
          </p:cNvPr>
          <p:cNvSpPr txBox="1"/>
          <p:nvPr/>
        </p:nvSpPr>
        <p:spPr>
          <a:xfrm>
            <a:off x="10077821" y="5571824"/>
            <a:ext cx="1531060" cy="184666"/>
          </a:xfrm>
          <a:prstGeom prst="rect">
            <a:avLst/>
          </a:prstGeom>
          <a:noFill/>
        </p:spPr>
        <p:txBody>
          <a:bodyPr wrap="none" lIns="0" tIns="0" rIns="0" bIns="0" rtlCol="0">
            <a:spAutoFit/>
          </a:bodyPr>
          <a:lstStyle/>
          <a:p>
            <a:r>
              <a:rPr lang="ru-RU" sz="1200" dirty="0"/>
              <a:t>Сохранить и отправить</a:t>
            </a:r>
          </a:p>
        </p:txBody>
      </p:sp>
      <p:sp>
        <p:nvSpPr>
          <p:cNvPr id="81" name="TextBox 80">
            <a:extLst>
              <a:ext uri="{FF2B5EF4-FFF2-40B4-BE49-F238E27FC236}">
                <a16:creationId xmlns:a16="http://schemas.microsoft.com/office/drawing/2014/main" id="{CB6DC203-094B-76C8-C8B6-1C939E67F11E}"/>
              </a:ext>
            </a:extLst>
          </p:cNvPr>
          <p:cNvSpPr txBox="1"/>
          <p:nvPr/>
        </p:nvSpPr>
        <p:spPr>
          <a:xfrm>
            <a:off x="191164" y="1978184"/>
            <a:ext cx="4376544" cy="507831"/>
          </a:xfrm>
          <a:prstGeom prst="rect">
            <a:avLst/>
          </a:prstGeom>
          <a:noFill/>
        </p:spPr>
        <p:txBody>
          <a:bodyPr wrap="square" lIns="0" tIns="0" rIns="0" bIns="0" rtlCol="0">
            <a:spAutoFit/>
          </a:bodyPr>
          <a:lstStyle/>
          <a:p>
            <a:r>
              <a:rPr lang="ru-RU" sz="1100" dirty="0"/>
              <a:t>3 – после того как тикет подан – то нельзя подать второй тикет, при этом во всей системе у студента отображается, что на эти пары что-то подано и на рассмотрении (серое, неактивное, подсказка какая-то)</a:t>
            </a:r>
          </a:p>
        </p:txBody>
      </p:sp>
      <p:sp>
        <p:nvSpPr>
          <p:cNvPr id="82" name="TextBox 81">
            <a:extLst>
              <a:ext uri="{FF2B5EF4-FFF2-40B4-BE49-F238E27FC236}">
                <a16:creationId xmlns:a16="http://schemas.microsoft.com/office/drawing/2014/main" id="{F8DFD69B-26B0-E97F-3EE6-556BB51DF963}"/>
              </a:ext>
            </a:extLst>
          </p:cNvPr>
          <p:cNvSpPr txBox="1"/>
          <p:nvPr/>
        </p:nvSpPr>
        <p:spPr>
          <a:xfrm>
            <a:off x="191164" y="2626966"/>
            <a:ext cx="4376544" cy="507831"/>
          </a:xfrm>
          <a:prstGeom prst="rect">
            <a:avLst/>
          </a:prstGeom>
          <a:noFill/>
        </p:spPr>
        <p:txBody>
          <a:bodyPr wrap="square" lIns="0" tIns="0" rIns="0" bIns="0" rtlCol="0">
            <a:spAutoFit/>
          </a:bodyPr>
          <a:lstStyle/>
          <a:p>
            <a:r>
              <a:rPr lang="ru-RU" sz="1100" dirty="0"/>
              <a:t>4 – в архив переносятся все и там он объединён разница только будет в названии и в цветовом оформлении тикетов с решениями тоже с цветовой гамме)</a:t>
            </a:r>
          </a:p>
        </p:txBody>
      </p:sp>
    </p:spTree>
    <p:extLst>
      <p:ext uri="{BB962C8B-B14F-4D97-AF65-F5344CB8AC3E}">
        <p14:creationId xmlns:p14="http://schemas.microsoft.com/office/powerpoint/2010/main" val="2301833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Прямоугольник 23">
            <a:extLst>
              <a:ext uri="{FF2B5EF4-FFF2-40B4-BE49-F238E27FC236}">
                <a16:creationId xmlns:a16="http://schemas.microsoft.com/office/drawing/2014/main" id="{6ED476B1-2FC8-905A-B609-18C55E6D2C6F}"/>
              </a:ext>
            </a:extLst>
          </p:cNvPr>
          <p:cNvSpPr>
            <a:spLocks/>
          </p:cNvSpPr>
          <p:nvPr/>
        </p:nvSpPr>
        <p:spPr>
          <a:xfrm>
            <a:off x="4800600" y="914400"/>
            <a:ext cx="7391399" cy="5943600"/>
          </a:xfrm>
          <a:prstGeom prst="rect">
            <a:avLst/>
          </a:prstGeom>
          <a:solidFill>
            <a:schemeClr val="bg1">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 name="Прямоугольник 1">
            <a:extLst>
              <a:ext uri="{FF2B5EF4-FFF2-40B4-BE49-F238E27FC236}">
                <a16:creationId xmlns:a16="http://schemas.microsoft.com/office/drawing/2014/main" id="{4BBF1D13-CE06-C806-8463-F69A90EE5805}"/>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107 – СТРАНИЦА СТУДЕНТ – ЗАЯВКИ И ТИКЕТЫ</a:t>
            </a:r>
          </a:p>
        </p:txBody>
      </p:sp>
      <p:sp>
        <p:nvSpPr>
          <p:cNvPr id="3" name="Прямоугольник 2">
            <a:extLst>
              <a:ext uri="{FF2B5EF4-FFF2-40B4-BE49-F238E27FC236}">
                <a16:creationId xmlns:a16="http://schemas.microsoft.com/office/drawing/2014/main" id="{2437AA22-DE2F-A879-84F5-0810F36EAB2D}"/>
              </a:ext>
            </a:extLst>
          </p:cNvPr>
          <p:cNvSpPr/>
          <p:nvPr/>
        </p:nvSpPr>
        <p:spPr>
          <a:xfrm>
            <a:off x="4800601" y="0"/>
            <a:ext cx="7391398"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Job </a:t>
            </a:r>
            <a:r>
              <a:rPr lang="ru-RU" dirty="0"/>
              <a:t>и</a:t>
            </a:r>
            <a:r>
              <a:rPr lang="en-US" dirty="0"/>
              <a:t> User Story</a:t>
            </a:r>
            <a:r>
              <a:rPr lang="ru-RU" dirty="0"/>
              <a:t> + дизайн который не влез</a:t>
            </a:r>
          </a:p>
        </p:txBody>
      </p:sp>
      <p:sp>
        <p:nvSpPr>
          <p:cNvPr id="5" name="TextBox 4">
            <a:extLst>
              <a:ext uri="{FF2B5EF4-FFF2-40B4-BE49-F238E27FC236}">
                <a16:creationId xmlns:a16="http://schemas.microsoft.com/office/drawing/2014/main" id="{E336B0A3-EADC-13E1-99CB-6B2A5EA9B5BD}"/>
              </a:ext>
            </a:extLst>
          </p:cNvPr>
          <p:cNvSpPr txBox="1"/>
          <p:nvPr/>
        </p:nvSpPr>
        <p:spPr>
          <a:xfrm>
            <a:off x="191164" y="1247804"/>
            <a:ext cx="4376544" cy="1354217"/>
          </a:xfrm>
          <a:prstGeom prst="rect">
            <a:avLst/>
          </a:prstGeom>
          <a:noFill/>
        </p:spPr>
        <p:txBody>
          <a:bodyPr wrap="square" lIns="0" tIns="0" rIns="0" bIns="0" rtlCol="0">
            <a:spAutoFit/>
          </a:bodyPr>
          <a:lstStyle/>
          <a:p>
            <a:r>
              <a:rPr lang="ru-RU" sz="1100" dirty="0"/>
              <a:t>Вначале студент выбирает даты по которым он хочет подать уважительную причину пропуска (при этом старосте надо придумать механизм который староста может иногда использовать чтобы отметить конкретного отсутствующего человека в какой-то день, если эти пары захватываются студентом, то там вылезает предупреждение студенту что нельзя подать и после 3-х попыток захвата таких пар пропадает возможность убирать «н» студентом) такая защита от спама и обуза системы</a:t>
            </a:r>
          </a:p>
        </p:txBody>
      </p:sp>
      <p:sp>
        <p:nvSpPr>
          <p:cNvPr id="4" name="TextBox 3">
            <a:extLst>
              <a:ext uri="{FF2B5EF4-FFF2-40B4-BE49-F238E27FC236}">
                <a16:creationId xmlns:a16="http://schemas.microsoft.com/office/drawing/2014/main" id="{B634B977-E4FA-61C9-C2C8-3F8DB6A0E1CC}"/>
              </a:ext>
            </a:extLst>
          </p:cNvPr>
          <p:cNvSpPr txBox="1"/>
          <p:nvPr/>
        </p:nvSpPr>
        <p:spPr>
          <a:xfrm>
            <a:off x="10446024" y="2296090"/>
            <a:ext cx="1681166" cy="184666"/>
          </a:xfrm>
          <a:prstGeom prst="rect">
            <a:avLst/>
          </a:prstGeom>
          <a:noFill/>
        </p:spPr>
        <p:txBody>
          <a:bodyPr wrap="none" lIns="0" tIns="0" rIns="0" bIns="0" rtlCol="0">
            <a:spAutoFit/>
          </a:bodyPr>
          <a:lstStyle/>
          <a:p>
            <a:r>
              <a:rPr lang="ru-RU" sz="1200" dirty="0"/>
              <a:t>Пример на рассмотрении</a:t>
            </a:r>
          </a:p>
        </p:txBody>
      </p:sp>
      <p:grpSp>
        <p:nvGrpSpPr>
          <p:cNvPr id="6" name="Группа 5">
            <a:extLst>
              <a:ext uri="{FF2B5EF4-FFF2-40B4-BE49-F238E27FC236}">
                <a16:creationId xmlns:a16="http://schemas.microsoft.com/office/drawing/2014/main" id="{4E67745D-4685-1994-9527-0AF0AC03CA09}"/>
              </a:ext>
            </a:extLst>
          </p:cNvPr>
          <p:cNvGrpSpPr/>
          <p:nvPr/>
        </p:nvGrpSpPr>
        <p:grpSpPr>
          <a:xfrm>
            <a:off x="4928315" y="1094546"/>
            <a:ext cx="7180627" cy="1014386"/>
            <a:chOff x="4928315" y="96316"/>
            <a:chExt cx="7180627" cy="1014386"/>
          </a:xfrm>
        </p:grpSpPr>
        <p:grpSp>
          <p:nvGrpSpPr>
            <p:cNvPr id="7" name="Группа 6">
              <a:extLst>
                <a:ext uri="{FF2B5EF4-FFF2-40B4-BE49-F238E27FC236}">
                  <a16:creationId xmlns:a16="http://schemas.microsoft.com/office/drawing/2014/main" id="{5DFDAD23-E349-F8F3-B9CB-C4328F874B94}"/>
                </a:ext>
              </a:extLst>
            </p:cNvPr>
            <p:cNvGrpSpPr/>
            <p:nvPr/>
          </p:nvGrpSpPr>
          <p:grpSpPr>
            <a:xfrm>
              <a:off x="4928315" y="128790"/>
              <a:ext cx="1614152" cy="287630"/>
              <a:chOff x="1803042" y="2137890"/>
              <a:chExt cx="1747234" cy="523744"/>
            </a:xfrm>
          </p:grpSpPr>
          <p:sp>
            <p:nvSpPr>
              <p:cNvPr id="20" name="Прямоугольник 19">
                <a:extLst>
                  <a:ext uri="{FF2B5EF4-FFF2-40B4-BE49-F238E27FC236}">
                    <a16:creationId xmlns:a16="http://schemas.microsoft.com/office/drawing/2014/main" id="{D435CC1C-95E0-DA1A-DD81-0500534D424F}"/>
                  </a:ext>
                </a:extLst>
              </p:cNvPr>
              <p:cNvSpPr/>
              <p:nvPr/>
            </p:nvSpPr>
            <p:spPr>
              <a:xfrm>
                <a:off x="1803042" y="2137893"/>
                <a:ext cx="1747234" cy="52374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grpSp>
            <p:nvGrpSpPr>
              <p:cNvPr id="21" name="Группа 20">
                <a:extLst>
                  <a:ext uri="{FF2B5EF4-FFF2-40B4-BE49-F238E27FC236}">
                    <a16:creationId xmlns:a16="http://schemas.microsoft.com/office/drawing/2014/main" id="{7CC648F6-E1F7-DDA1-3AAA-960F757C20E7}"/>
                  </a:ext>
                </a:extLst>
              </p:cNvPr>
              <p:cNvGrpSpPr/>
              <p:nvPr/>
            </p:nvGrpSpPr>
            <p:grpSpPr>
              <a:xfrm>
                <a:off x="1970467" y="2137890"/>
                <a:ext cx="1419940" cy="277001"/>
                <a:chOff x="2082085" y="1725766"/>
                <a:chExt cx="1419940" cy="277001"/>
              </a:xfrm>
            </p:grpSpPr>
            <p:sp>
              <p:nvSpPr>
                <p:cNvPr id="22" name="TextBox 21">
                  <a:extLst>
                    <a:ext uri="{FF2B5EF4-FFF2-40B4-BE49-F238E27FC236}">
                      <a16:creationId xmlns:a16="http://schemas.microsoft.com/office/drawing/2014/main" id="{00176AD0-5B53-D4C3-DFB9-5AC0FBB79E6E}"/>
                    </a:ext>
                  </a:extLst>
                </p:cNvPr>
                <p:cNvSpPr txBox="1"/>
                <p:nvPr/>
              </p:nvSpPr>
              <p:spPr>
                <a:xfrm>
                  <a:off x="2082085" y="1725768"/>
                  <a:ext cx="744114" cy="276999"/>
                </a:xfrm>
                <a:prstGeom prst="rect">
                  <a:avLst/>
                </a:prstGeom>
                <a:noFill/>
              </p:spPr>
              <p:txBody>
                <a:bodyPr wrap="none" rtlCol="0">
                  <a:spAutoFit/>
                </a:bodyPr>
                <a:lstStyle/>
                <a:p>
                  <a:r>
                    <a:rPr lang="ru-RU" sz="1200" dirty="0"/>
                    <a:t>староста</a:t>
                  </a:r>
                </a:p>
              </p:txBody>
            </p:sp>
            <p:sp>
              <p:nvSpPr>
                <p:cNvPr id="23" name="TextBox 22">
                  <a:extLst>
                    <a:ext uri="{FF2B5EF4-FFF2-40B4-BE49-F238E27FC236}">
                      <a16:creationId xmlns:a16="http://schemas.microsoft.com/office/drawing/2014/main" id="{50867D31-5888-E72F-4CDC-15A51F6B8FFA}"/>
                    </a:ext>
                  </a:extLst>
                </p:cNvPr>
                <p:cNvSpPr txBox="1"/>
                <p:nvPr/>
              </p:nvSpPr>
              <p:spPr>
                <a:xfrm>
                  <a:off x="2826199" y="1725766"/>
                  <a:ext cx="675826" cy="277000"/>
                </a:xfrm>
                <a:prstGeom prst="rect">
                  <a:avLst/>
                </a:prstGeom>
                <a:noFill/>
              </p:spPr>
              <p:txBody>
                <a:bodyPr wrap="none" rtlCol="0">
                  <a:spAutoFit/>
                </a:bodyPr>
                <a:lstStyle/>
                <a:p>
                  <a:r>
                    <a:rPr lang="ru-RU" sz="1200" dirty="0"/>
                    <a:t>студент</a:t>
                  </a:r>
                </a:p>
              </p:txBody>
            </p:sp>
          </p:grpSp>
        </p:grpSp>
        <p:grpSp>
          <p:nvGrpSpPr>
            <p:cNvPr id="8" name="Группа 7">
              <a:extLst>
                <a:ext uri="{FF2B5EF4-FFF2-40B4-BE49-F238E27FC236}">
                  <a16:creationId xmlns:a16="http://schemas.microsoft.com/office/drawing/2014/main" id="{E9D97851-8DA2-0519-1ECA-446768702291}"/>
                </a:ext>
              </a:extLst>
            </p:cNvPr>
            <p:cNvGrpSpPr/>
            <p:nvPr/>
          </p:nvGrpSpPr>
          <p:grpSpPr>
            <a:xfrm>
              <a:off x="4928315" y="598868"/>
              <a:ext cx="5786147" cy="184666"/>
              <a:chOff x="2659614" y="2814035"/>
              <a:chExt cx="5786147" cy="184666"/>
            </a:xfrm>
          </p:grpSpPr>
          <p:sp>
            <p:nvSpPr>
              <p:cNvPr id="14" name="TextBox 13">
                <a:extLst>
                  <a:ext uri="{FF2B5EF4-FFF2-40B4-BE49-F238E27FC236}">
                    <a16:creationId xmlns:a16="http://schemas.microsoft.com/office/drawing/2014/main" id="{25BC83F2-730C-EEC5-A482-0B1E74B4E992}"/>
                  </a:ext>
                </a:extLst>
              </p:cNvPr>
              <p:cNvSpPr txBox="1"/>
              <p:nvPr/>
            </p:nvSpPr>
            <p:spPr>
              <a:xfrm>
                <a:off x="2659614" y="2814035"/>
                <a:ext cx="502061" cy="184666"/>
              </a:xfrm>
              <a:prstGeom prst="rect">
                <a:avLst/>
              </a:prstGeom>
              <a:noFill/>
            </p:spPr>
            <p:txBody>
              <a:bodyPr wrap="none" lIns="0" tIns="0" rIns="0" bIns="0" rtlCol="0">
                <a:spAutoFit/>
              </a:bodyPr>
              <a:lstStyle/>
              <a:p>
                <a:r>
                  <a:rPr lang="ru-RU" sz="1200" dirty="0"/>
                  <a:t>главная</a:t>
                </a:r>
              </a:p>
            </p:txBody>
          </p:sp>
          <p:sp>
            <p:nvSpPr>
              <p:cNvPr id="15" name="TextBox 14">
                <a:extLst>
                  <a:ext uri="{FF2B5EF4-FFF2-40B4-BE49-F238E27FC236}">
                    <a16:creationId xmlns:a16="http://schemas.microsoft.com/office/drawing/2014/main" id="{B1BBBD7B-C167-2A4C-50F1-8D51AEB03C04}"/>
                  </a:ext>
                </a:extLst>
              </p:cNvPr>
              <p:cNvSpPr txBox="1"/>
              <p:nvPr/>
            </p:nvSpPr>
            <p:spPr>
              <a:xfrm>
                <a:off x="3353373" y="2814035"/>
                <a:ext cx="952890" cy="184666"/>
              </a:xfrm>
              <a:prstGeom prst="rect">
                <a:avLst/>
              </a:prstGeom>
              <a:noFill/>
            </p:spPr>
            <p:txBody>
              <a:bodyPr wrap="none" lIns="0" tIns="0" rIns="0" bIns="0" rtlCol="0">
                <a:spAutoFit/>
              </a:bodyPr>
              <a:lstStyle/>
              <a:p>
                <a:r>
                  <a:rPr lang="ru-RU" sz="1200" dirty="0"/>
                  <a:t>посещаемость</a:t>
                </a:r>
              </a:p>
            </p:txBody>
          </p:sp>
          <p:sp>
            <p:nvSpPr>
              <p:cNvPr id="16" name="TextBox 15">
                <a:extLst>
                  <a:ext uri="{FF2B5EF4-FFF2-40B4-BE49-F238E27FC236}">
                    <a16:creationId xmlns:a16="http://schemas.microsoft.com/office/drawing/2014/main" id="{08B29F01-2CA5-9CFE-5BEB-17614D49629D}"/>
                  </a:ext>
                </a:extLst>
              </p:cNvPr>
              <p:cNvSpPr txBox="1"/>
              <p:nvPr/>
            </p:nvSpPr>
            <p:spPr>
              <a:xfrm>
                <a:off x="4497961" y="2814035"/>
                <a:ext cx="693010" cy="184666"/>
              </a:xfrm>
              <a:prstGeom prst="rect">
                <a:avLst/>
              </a:prstGeom>
              <a:noFill/>
            </p:spPr>
            <p:txBody>
              <a:bodyPr wrap="none" lIns="0" tIns="0" rIns="0" bIns="0" rtlCol="0">
                <a:spAutoFit/>
              </a:bodyPr>
              <a:lstStyle/>
              <a:p>
                <a:r>
                  <a:rPr lang="ru-RU" sz="1200" dirty="0"/>
                  <a:t>статистика</a:t>
                </a:r>
              </a:p>
            </p:txBody>
          </p:sp>
          <p:sp>
            <p:nvSpPr>
              <p:cNvPr id="17" name="TextBox 16">
                <a:extLst>
                  <a:ext uri="{FF2B5EF4-FFF2-40B4-BE49-F238E27FC236}">
                    <a16:creationId xmlns:a16="http://schemas.microsoft.com/office/drawing/2014/main" id="{2D93104A-98C2-9298-A77E-4E2A62413D85}"/>
                  </a:ext>
                </a:extLst>
              </p:cNvPr>
              <p:cNvSpPr txBox="1"/>
              <p:nvPr/>
            </p:nvSpPr>
            <p:spPr>
              <a:xfrm>
                <a:off x="5382668" y="2814035"/>
                <a:ext cx="1269707" cy="184666"/>
              </a:xfrm>
              <a:prstGeom prst="rect">
                <a:avLst/>
              </a:prstGeom>
              <a:noFill/>
            </p:spPr>
            <p:txBody>
              <a:bodyPr wrap="none" lIns="0" tIns="0" rIns="0" bIns="0" rtlCol="0">
                <a:spAutoFit/>
              </a:bodyPr>
              <a:lstStyle/>
              <a:p>
                <a:r>
                  <a:rPr lang="ru-RU" sz="1200" dirty="0"/>
                  <a:t>домашнее задание</a:t>
                </a:r>
              </a:p>
            </p:txBody>
          </p:sp>
          <p:sp>
            <p:nvSpPr>
              <p:cNvPr id="18" name="TextBox 17">
                <a:extLst>
                  <a:ext uri="{FF2B5EF4-FFF2-40B4-BE49-F238E27FC236}">
                    <a16:creationId xmlns:a16="http://schemas.microsoft.com/office/drawing/2014/main" id="{998EDDA6-5E10-85A9-83C5-A42B877A7531}"/>
                  </a:ext>
                </a:extLst>
              </p:cNvPr>
              <p:cNvSpPr txBox="1"/>
              <p:nvPr/>
            </p:nvSpPr>
            <p:spPr>
              <a:xfrm>
                <a:off x="6844072" y="2814035"/>
                <a:ext cx="356829" cy="184666"/>
              </a:xfrm>
              <a:prstGeom prst="rect">
                <a:avLst/>
              </a:prstGeom>
              <a:noFill/>
            </p:spPr>
            <p:txBody>
              <a:bodyPr wrap="none" lIns="0" tIns="0" rIns="0" bIns="0" rtlCol="0">
                <a:spAutoFit/>
              </a:bodyPr>
              <a:lstStyle/>
              <a:p>
                <a:r>
                  <a:rPr lang="ru-RU" sz="1200" dirty="0"/>
                  <a:t>карта</a:t>
                </a:r>
              </a:p>
            </p:txBody>
          </p:sp>
          <p:sp>
            <p:nvSpPr>
              <p:cNvPr id="19" name="TextBox 18">
                <a:extLst>
                  <a:ext uri="{FF2B5EF4-FFF2-40B4-BE49-F238E27FC236}">
                    <a16:creationId xmlns:a16="http://schemas.microsoft.com/office/drawing/2014/main" id="{706D4551-197C-527A-BE20-180610DC26BE}"/>
                  </a:ext>
                </a:extLst>
              </p:cNvPr>
              <p:cNvSpPr txBox="1"/>
              <p:nvPr/>
            </p:nvSpPr>
            <p:spPr>
              <a:xfrm>
                <a:off x="7398167" y="2814035"/>
                <a:ext cx="1047594" cy="184666"/>
              </a:xfrm>
              <a:prstGeom prst="rect">
                <a:avLst/>
              </a:prstGeom>
              <a:noFill/>
            </p:spPr>
            <p:txBody>
              <a:bodyPr wrap="none" lIns="0" tIns="0" rIns="0" bIns="0" rtlCol="0">
                <a:spAutoFit/>
              </a:bodyPr>
              <a:lstStyle/>
              <a:p>
                <a:r>
                  <a:rPr lang="ru-RU" sz="1200" dirty="0"/>
                  <a:t>заявки и тикеты</a:t>
                </a:r>
              </a:p>
            </p:txBody>
          </p:sp>
        </p:grpSp>
        <p:sp>
          <p:nvSpPr>
            <p:cNvPr id="9" name="Овал 8">
              <a:extLst>
                <a:ext uri="{FF2B5EF4-FFF2-40B4-BE49-F238E27FC236}">
                  <a16:creationId xmlns:a16="http://schemas.microsoft.com/office/drawing/2014/main" id="{E2B8B398-6F74-E522-820C-F9500EC9244A}"/>
                </a:ext>
              </a:extLst>
            </p:cNvPr>
            <p:cNvSpPr/>
            <p:nvPr/>
          </p:nvSpPr>
          <p:spPr>
            <a:xfrm>
              <a:off x="11638209" y="96316"/>
              <a:ext cx="369194" cy="36919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80879AF2-B8B7-BB5B-BF66-3ECEA958EFA8}"/>
                </a:ext>
              </a:extLst>
            </p:cNvPr>
            <p:cNvSpPr txBox="1"/>
            <p:nvPr/>
          </p:nvSpPr>
          <p:spPr>
            <a:xfrm>
              <a:off x="11536669" y="188580"/>
              <a:ext cx="572273" cy="184666"/>
            </a:xfrm>
            <a:prstGeom prst="rect">
              <a:avLst/>
            </a:prstGeom>
            <a:noFill/>
          </p:spPr>
          <p:txBody>
            <a:bodyPr wrap="none" lIns="0" tIns="0" rIns="0" bIns="0" rtlCol="0">
              <a:spAutoFit/>
            </a:bodyPr>
            <a:lstStyle/>
            <a:p>
              <a:r>
                <a:rPr lang="ru-RU" sz="1200" dirty="0"/>
                <a:t>профиль</a:t>
              </a:r>
            </a:p>
          </p:txBody>
        </p:sp>
        <p:grpSp>
          <p:nvGrpSpPr>
            <p:cNvPr id="11" name="Группа 10">
              <a:extLst>
                <a:ext uri="{FF2B5EF4-FFF2-40B4-BE49-F238E27FC236}">
                  <a16:creationId xmlns:a16="http://schemas.microsoft.com/office/drawing/2014/main" id="{1B0B7A03-1896-9FAF-944C-D1387BD9317A}"/>
                </a:ext>
              </a:extLst>
            </p:cNvPr>
            <p:cNvGrpSpPr/>
            <p:nvPr/>
          </p:nvGrpSpPr>
          <p:grpSpPr>
            <a:xfrm>
              <a:off x="10908405" y="513981"/>
              <a:ext cx="1167685" cy="596721"/>
              <a:chOff x="10908405" y="513981"/>
              <a:chExt cx="1167685" cy="596721"/>
            </a:xfrm>
          </p:grpSpPr>
          <p:sp>
            <p:nvSpPr>
              <p:cNvPr id="12" name="Прямоугольник 11">
                <a:extLst>
                  <a:ext uri="{FF2B5EF4-FFF2-40B4-BE49-F238E27FC236}">
                    <a16:creationId xmlns:a16="http://schemas.microsoft.com/office/drawing/2014/main" id="{A95F0A0E-3F22-7DB5-BCD5-99A14C062A11}"/>
                  </a:ext>
                </a:extLst>
              </p:cNvPr>
              <p:cNvSpPr/>
              <p:nvPr/>
            </p:nvSpPr>
            <p:spPr>
              <a:xfrm>
                <a:off x="10908405" y="513981"/>
                <a:ext cx="1167685" cy="59672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a:extLst>
                  <a:ext uri="{FF2B5EF4-FFF2-40B4-BE49-F238E27FC236}">
                    <a16:creationId xmlns:a16="http://schemas.microsoft.com/office/drawing/2014/main" id="{AE7CF724-EE90-813E-91A1-9F37C55CFA28}"/>
                  </a:ext>
                </a:extLst>
              </p:cNvPr>
              <p:cNvSpPr txBox="1"/>
              <p:nvPr/>
            </p:nvSpPr>
            <p:spPr>
              <a:xfrm>
                <a:off x="11032536" y="603721"/>
                <a:ext cx="695703" cy="369332"/>
              </a:xfrm>
              <a:prstGeom prst="rect">
                <a:avLst/>
              </a:prstGeom>
              <a:noFill/>
            </p:spPr>
            <p:txBody>
              <a:bodyPr wrap="none" lIns="0" tIns="0" rIns="0" bIns="0" rtlCol="0">
                <a:spAutoFit/>
              </a:bodyPr>
              <a:lstStyle/>
              <a:p>
                <a:r>
                  <a:rPr lang="ru-RU" sz="1200" dirty="0"/>
                  <a:t>Настройки</a:t>
                </a:r>
                <a:br>
                  <a:rPr lang="ru-RU" sz="1200" dirty="0"/>
                </a:br>
                <a:r>
                  <a:rPr lang="ru-RU" sz="1200" dirty="0"/>
                  <a:t>Выход</a:t>
                </a:r>
              </a:p>
            </p:txBody>
          </p:sp>
        </p:grpSp>
      </p:grpSp>
      <p:sp>
        <p:nvSpPr>
          <p:cNvPr id="28" name="TextBox 27">
            <a:extLst>
              <a:ext uri="{FF2B5EF4-FFF2-40B4-BE49-F238E27FC236}">
                <a16:creationId xmlns:a16="http://schemas.microsoft.com/office/drawing/2014/main" id="{EBBEA887-1986-54C3-2BA6-BD8268F4E931}"/>
              </a:ext>
            </a:extLst>
          </p:cNvPr>
          <p:cNvSpPr txBox="1"/>
          <p:nvPr/>
        </p:nvSpPr>
        <p:spPr>
          <a:xfrm>
            <a:off x="10868052" y="2876242"/>
            <a:ext cx="1139351" cy="184666"/>
          </a:xfrm>
          <a:prstGeom prst="rect">
            <a:avLst/>
          </a:prstGeom>
          <a:noFill/>
        </p:spPr>
        <p:txBody>
          <a:bodyPr wrap="none" lIns="0" tIns="0" rIns="0" bIns="0" rtlCol="0">
            <a:spAutoFit/>
          </a:bodyPr>
          <a:lstStyle/>
          <a:p>
            <a:r>
              <a:rPr lang="ru-RU" sz="1200" dirty="0"/>
              <a:t>На рассмотрении</a:t>
            </a:r>
          </a:p>
        </p:txBody>
      </p:sp>
      <p:grpSp>
        <p:nvGrpSpPr>
          <p:cNvPr id="48" name="Группа 47">
            <a:extLst>
              <a:ext uri="{FF2B5EF4-FFF2-40B4-BE49-F238E27FC236}">
                <a16:creationId xmlns:a16="http://schemas.microsoft.com/office/drawing/2014/main" id="{A85F3495-4C2E-2992-7AE1-B7713C4B185E}"/>
              </a:ext>
            </a:extLst>
          </p:cNvPr>
          <p:cNvGrpSpPr/>
          <p:nvPr/>
        </p:nvGrpSpPr>
        <p:grpSpPr>
          <a:xfrm>
            <a:off x="4928315" y="2696164"/>
            <a:ext cx="7147775" cy="2148886"/>
            <a:chOff x="4928315" y="2696164"/>
            <a:chExt cx="7147775" cy="2148886"/>
          </a:xfrm>
        </p:grpSpPr>
        <p:sp>
          <p:nvSpPr>
            <p:cNvPr id="25" name="Прямоугольник 24">
              <a:extLst>
                <a:ext uri="{FF2B5EF4-FFF2-40B4-BE49-F238E27FC236}">
                  <a16:creationId xmlns:a16="http://schemas.microsoft.com/office/drawing/2014/main" id="{860E72AF-F170-C4BB-6DF2-BB0780C923D8}"/>
                </a:ext>
              </a:extLst>
            </p:cNvPr>
            <p:cNvSpPr/>
            <p:nvPr/>
          </p:nvSpPr>
          <p:spPr>
            <a:xfrm>
              <a:off x="4928315" y="2696164"/>
              <a:ext cx="7147775" cy="214888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TextBox 25">
              <a:extLst>
                <a:ext uri="{FF2B5EF4-FFF2-40B4-BE49-F238E27FC236}">
                  <a16:creationId xmlns:a16="http://schemas.microsoft.com/office/drawing/2014/main" id="{A44A8DD2-A912-0943-2E19-DA5D7692CC4C}"/>
                </a:ext>
              </a:extLst>
            </p:cNvPr>
            <p:cNvSpPr txBox="1"/>
            <p:nvPr/>
          </p:nvSpPr>
          <p:spPr>
            <a:xfrm>
              <a:off x="5082988" y="2876242"/>
              <a:ext cx="614784" cy="184666"/>
            </a:xfrm>
            <a:prstGeom prst="rect">
              <a:avLst/>
            </a:prstGeom>
            <a:noFill/>
          </p:spPr>
          <p:txBody>
            <a:bodyPr wrap="none" lIns="0" tIns="0" rIns="0" bIns="0" rtlCol="0">
              <a:spAutoFit/>
            </a:bodyPr>
            <a:lstStyle/>
            <a:p>
              <a:r>
                <a:rPr lang="ru-RU" sz="1200" dirty="0"/>
                <a:t>№ тикета</a:t>
              </a:r>
            </a:p>
          </p:txBody>
        </p:sp>
        <p:sp>
          <p:nvSpPr>
            <p:cNvPr id="27" name="TextBox 26">
              <a:extLst>
                <a:ext uri="{FF2B5EF4-FFF2-40B4-BE49-F238E27FC236}">
                  <a16:creationId xmlns:a16="http://schemas.microsoft.com/office/drawing/2014/main" id="{3B256486-BF87-1707-62FB-D726AE9E1E3D}"/>
                </a:ext>
              </a:extLst>
            </p:cNvPr>
            <p:cNvSpPr txBox="1"/>
            <p:nvPr/>
          </p:nvSpPr>
          <p:spPr>
            <a:xfrm>
              <a:off x="5879446" y="2876242"/>
              <a:ext cx="814390" cy="184666"/>
            </a:xfrm>
            <a:prstGeom prst="rect">
              <a:avLst/>
            </a:prstGeom>
            <a:noFill/>
          </p:spPr>
          <p:txBody>
            <a:bodyPr wrap="none" lIns="0" tIns="0" rIns="0" bIns="0" rtlCol="0">
              <a:spAutoFit/>
            </a:bodyPr>
            <a:lstStyle/>
            <a:p>
              <a:r>
                <a:rPr lang="ru-RU" sz="1200" dirty="0"/>
                <a:t>Дата подачи</a:t>
              </a:r>
            </a:p>
          </p:txBody>
        </p:sp>
        <p:grpSp>
          <p:nvGrpSpPr>
            <p:cNvPr id="29" name="Группа 28">
              <a:extLst>
                <a:ext uri="{FF2B5EF4-FFF2-40B4-BE49-F238E27FC236}">
                  <a16:creationId xmlns:a16="http://schemas.microsoft.com/office/drawing/2014/main" id="{05D4FBC5-A079-CEDF-60D7-78164F4B24E1}"/>
                </a:ext>
              </a:extLst>
            </p:cNvPr>
            <p:cNvGrpSpPr/>
            <p:nvPr/>
          </p:nvGrpSpPr>
          <p:grpSpPr>
            <a:xfrm>
              <a:off x="5060185" y="3713290"/>
              <a:ext cx="6452074" cy="584263"/>
              <a:chOff x="5276165" y="3339861"/>
              <a:chExt cx="6452074" cy="584263"/>
            </a:xfrm>
          </p:grpSpPr>
          <p:sp>
            <p:nvSpPr>
              <p:cNvPr id="30" name="Прямоугольник 29">
                <a:extLst>
                  <a:ext uri="{FF2B5EF4-FFF2-40B4-BE49-F238E27FC236}">
                    <a16:creationId xmlns:a16="http://schemas.microsoft.com/office/drawing/2014/main" id="{E27E885B-AA7A-14E7-177A-27F93E01D323}"/>
                  </a:ext>
                </a:extLst>
              </p:cNvPr>
              <p:cNvSpPr/>
              <p:nvPr/>
            </p:nvSpPr>
            <p:spPr>
              <a:xfrm>
                <a:off x="5276165" y="3339861"/>
                <a:ext cx="6452074" cy="584263"/>
              </a:xfrm>
              <a:prstGeom prst="rect">
                <a:avLst/>
              </a:prstGeom>
              <a:solidFill>
                <a:srgbClr val="D1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a:extLst>
                  <a:ext uri="{FF2B5EF4-FFF2-40B4-BE49-F238E27FC236}">
                    <a16:creationId xmlns:a16="http://schemas.microsoft.com/office/drawing/2014/main" id="{0BE8A5D0-0F94-C973-67F6-379FEAA64EE6}"/>
                  </a:ext>
                </a:extLst>
              </p:cNvPr>
              <p:cNvSpPr txBox="1"/>
              <p:nvPr/>
            </p:nvSpPr>
            <p:spPr>
              <a:xfrm>
                <a:off x="5408874" y="3419410"/>
                <a:ext cx="1331005" cy="184666"/>
              </a:xfrm>
              <a:prstGeom prst="rect">
                <a:avLst/>
              </a:prstGeom>
              <a:noFill/>
            </p:spPr>
            <p:txBody>
              <a:bodyPr wrap="none" lIns="0" tIns="0" rIns="0" bIns="0" rtlCol="0">
                <a:spAutoFit/>
              </a:bodyPr>
              <a:lstStyle/>
              <a:p>
                <a:r>
                  <a:rPr lang="ru-RU" sz="1200" dirty="0"/>
                  <a:t>Название предмета</a:t>
                </a:r>
              </a:p>
            </p:txBody>
          </p:sp>
          <p:sp>
            <p:nvSpPr>
              <p:cNvPr id="32" name="TextBox 31">
                <a:extLst>
                  <a:ext uri="{FF2B5EF4-FFF2-40B4-BE49-F238E27FC236}">
                    <a16:creationId xmlns:a16="http://schemas.microsoft.com/office/drawing/2014/main" id="{7194E6ED-8F90-8E3F-66E6-3D671E202CDA}"/>
                  </a:ext>
                </a:extLst>
              </p:cNvPr>
              <p:cNvSpPr txBox="1"/>
              <p:nvPr/>
            </p:nvSpPr>
            <p:spPr>
              <a:xfrm>
                <a:off x="6867594" y="3419410"/>
                <a:ext cx="774443" cy="184666"/>
              </a:xfrm>
              <a:prstGeom prst="rect">
                <a:avLst/>
              </a:prstGeom>
              <a:noFill/>
            </p:spPr>
            <p:txBody>
              <a:bodyPr wrap="none" lIns="0" tIns="0" rIns="0" bIns="0" rtlCol="0">
                <a:spAutoFit/>
              </a:bodyPr>
              <a:lstStyle/>
              <a:p>
                <a:r>
                  <a:rPr lang="ru-RU" sz="1200" dirty="0"/>
                  <a:t>Тип занятия</a:t>
                </a:r>
              </a:p>
            </p:txBody>
          </p:sp>
          <p:sp>
            <p:nvSpPr>
              <p:cNvPr id="33" name="TextBox 32">
                <a:extLst>
                  <a:ext uri="{FF2B5EF4-FFF2-40B4-BE49-F238E27FC236}">
                    <a16:creationId xmlns:a16="http://schemas.microsoft.com/office/drawing/2014/main" id="{80BA60D4-0294-DDF3-7786-072368EEAFDD}"/>
                  </a:ext>
                </a:extLst>
              </p:cNvPr>
              <p:cNvSpPr txBox="1"/>
              <p:nvPr/>
            </p:nvSpPr>
            <p:spPr>
              <a:xfrm>
                <a:off x="7809775" y="3419410"/>
                <a:ext cx="292901" cy="184666"/>
              </a:xfrm>
              <a:prstGeom prst="rect">
                <a:avLst/>
              </a:prstGeom>
              <a:noFill/>
            </p:spPr>
            <p:txBody>
              <a:bodyPr wrap="none" lIns="0" tIns="0" rIns="0" bIns="0" rtlCol="0">
                <a:spAutoFit/>
              </a:bodyPr>
              <a:lstStyle/>
              <a:p>
                <a:r>
                  <a:rPr lang="ru-RU" sz="1200" dirty="0"/>
                  <a:t>дата</a:t>
                </a:r>
              </a:p>
            </p:txBody>
          </p:sp>
          <p:sp>
            <p:nvSpPr>
              <p:cNvPr id="34" name="TextBox 33">
                <a:extLst>
                  <a:ext uri="{FF2B5EF4-FFF2-40B4-BE49-F238E27FC236}">
                    <a16:creationId xmlns:a16="http://schemas.microsoft.com/office/drawing/2014/main" id="{C311B738-54C8-8D62-E94D-7A9F4B02E43C}"/>
                  </a:ext>
                </a:extLst>
              </p:cNvPr>
              <p:cNvSpPr txBox="1"/>
              <p:nvPr/>
            </p:nvSpPr>
            <p:spPr>
              <a:xfrm>
                <a:off x="5408874" y="3607913"/>
                <a:ext cx="605935" cy="184666"/>
              </a:xfrm>
              <a:prstGeom prst="rect">
                <a:avLst/>
              </a:prstGeom>
              <a:noFill/>
            </p:spPr>
            <p:txBody>
              <a:bodyPr wrap="none" lIns="0" tIns="0" rIns="0" bIns="0" rtlCol="0">
                <a:spAutoFit/>
              </a:bodyPr>
              <a:lstStyle/>
              <a:p>
                <a:r>
                  <a:rPr lang="en-US" sz="1200" dirty="0" err="1"/>
                  <a:t>xxxxxxxxx</a:t>
                </a:r>
                <a:endParaRPr lang="ru-RU" sz="1200" dirty="0"/>
              </a:p>
            </p:txBody>
          </p:sp>
          <p:sp>
            <p:nvSpPr>
              <p:cNvPr id="35" name="TextBox 34">
                <a:extLst>
                  <a:ext uri="{FF2B5EF4-FFF2-40B4-BE49-F238E27FC236}">
                    <a16:creationId xmlns:a16="http://schemas.microsoft.com/office/drawing/2014/main" id="{8DD26E8D-B751-AE6D-EDE4-3AEC2697BAB9}"/>
                  </a:ext>
                </a:extLst>
              </p:cNvPr>
              <p:cNvSpPr txBox="1"/>
              <p:nvPr/>
            </p:nvSpPr>
            <p:spPr>
              <a:xfrm>
                <a:off x="6867594" y="3607913"/>
                <a:ext cx="471283" cy="184666"/>
              </a:xfrm>
              <a:prstGeom prst="rect">
                <a:avLst/>
              </a:prstGeom>
              <a:noFill/>
            </p:spPr>
            <p:txBody>
              <a:bodyPr wrap="none" lIns="0" tIns="0" rIns="0" bIns="0" rtlCol="0">
                <a:spAutoFit/>
              </a:bodyPr>
              <a:lstStyle/>
              <a:p>
                <a:r>
                  <a:rPr lang="en-US" sz="1200" dirty="0" err="1"/>
                  <a:t>xxxxxxx</a:t>
                </a:r>
                <a:endParaRPr lang="ru-RU" sz="1200" dirty="0"/>
              </a:p>
            </p:txBody>
          </p:sp>
          <p:sp>
            <p:nvSpPr>
              <p:cNvPr id="36" name="TextBox 35">
                <a:extLst>
                  <a:ext uri="{FF2B5EF4-FFF2-40B4-BE49-F238E27FC236}">
                    <a16:creationId xmlns:a16="http://schemas.microsoft.com/office/drawing/2014/main" id="{3FF2D37F-4236-2A83-C22B-00C906B0404B}"/>
                  </a:ext>
                </a:extLst>
              </p:cNvPr>
              <p:cNvSpPr txBox="1"/>
              <p:nvPr/>
            </p:nvSpPr>
            <p:spPr>
              <a:xfrm>
                <a:off x="7809775" y="3607913"/>
                <a:ext cx="403957" cy="184666"/>
              </a:xfrm>
              <a:prstGeom prst="rect">
                <a:avLst/>
              </a:prstGeom>
              <a:noFill/>
            </p:spPr>
            <p:txBody>
              <a:bodyPr wrap="none" lIns="0" tIns="0" rIns="0" bIns="0" rtlCol="0">
                <a:spAutoFit/>
              </a:bodyPr>
              <a:lstStyle/>
              <a:p>
                <a:r>
                  <a:rPr lang="en-US" sz="1200" dirty="0" err="1"/>
                  <a:t>xxxxxx</a:t>
                </a:r>
                <a:endParaRPr lang="ru-RU" sz="1200" dirty="0"/>
              </a:p>
            </p:txBody>
          </p:sp>
          <p:sp>
            <p:nvSpPr>
              <p:cNvPr id="37" name="TextBox 36">
                <a:extLst>
                  <a:ext uri="{FF2B5EF4-FFF2-40B4-BE49-F238E27FC236}">
                    <a16:creationId xmlns:a16="http://schemas.microsoft.com/office/drawing/2014/main" id="{443CB3EB-6FE1-3E4F-10AE-0A145389340D}"/>
                  </a:ext>
                </a:extLst>
              </p:cNvPr>
              <p:cNvSpPr txBox="1"/>
              <p:nvPr/>
            </p:nvSpPr>
            <p:spPr>
              <a:xfrm>
                <a:off x="10008698" y="3631992"/>
                <a:ext cx="1600182" cy="184666"/>
              </a:xfrm>
              <a:prstGeom prst="rect">
                <a:avLst/>
              </a:prstGeom>
              <a:noFill/>
            </p:spPr>
            <p:txBody>
              <a:bodyPr wrap="none" lIns="0" tIns="0" rIns="0" bIns="0" rtlCol="0">
                <a:spAutoFit/>
              </a:bodyPr>
              <a:lstStyle/>
              <a:p>
                <a:r>
                  <a:rPr lang="ru-RU" sz="1200" dirty="0"/>
                  <a:t>Чекбокс галочка выбора</a:t>
                </a:r>
              </a:p>
            </p:txBody>
          </p:sp>
        </p:grpSp>
        <p:sp>
          <p:nvSpPr>
            <p:cNvPr id="40" name="TextBox 39">
              <a:extLst>
                <a:ext uri="{FF2B5EF4-FFF2-40B4-BE49-F238E27FC236}">
                  <a16:creationId xmlns:a16="http://schemas.microsoft.com/office/drawing/2014/main" id="{8B9A0539-686C-C713-645D-51835A140770}"/>
                </a:ext>
              </a:extLst>
            </p:cNvPr>
            <p:cNvSpPr txBox="1"/>
            <p:nvPr/>
          </p:nvSpPr>
          <p:spPr>
            <a:xfrm>
              <a:off x="5060185" y="3155919"/>
              <a:ext cx="3076676" cy="184666"/>
            </a:xfrm>
            <a:prstGeom prst="rect">
              <a:avLst/>
            </a:prstGeom>
            <a:noFill/>
          </p:spPr>
          <p:txBody>
            <a:bodyPr wrap="none" lIns="0" tIns="0" rIns="0" bIns="0" rtlCol="0">
              <a:spAutoFit/>
            </a:bodyPr>
            <a:lstStyle/>
            <a:p>
              <a:r>
                <a:rPr lang="ru-RU" sz="1200" dirty="0"/>
                <a:t>Причина пропуска (только если подан по «у»)  </a:t>
              </a:r>
            </a:p>
          </p:txBody>
        </p:sp>
        <p:sp>
          <p:nvSpPr>
            <p:cNvPr id="42" name="TextBox 41">
              <a:extLst>
                <a:ext uri="{FF2B5EF4-FFF2-40B4-BE49-F238E27FC236}">
                  <a16:creationId xmlns:a16="http://schemas.microsoft.com/office/drawing/2014/main" id="{2D9E632A-BDF8-C499-0F88-6C0D81983B6A}"/>
                </a:ext>
              </a:extLst>
            </p:cNvPr>
            <p:cNvSpPr txBox="1"/>
            <p:nvPr/>
          </p:nvSpPr>
          <p:spPr>
            <a:xfrm>
              <a:off x="5060185" y="3393242"/>
              <a:ext cx="3712619" cy="184666"/>
            </a:xfrm>
            <a:prstGeom prst="rect">
              <a:avLst/>
            </a:prstGeom>
            <a:noFill/>
          </p:spPr>
          <p:txBody>
            <a:bodyPr wrap="none" lIns="0" tIns="0" rIns="0" bIns="0" rtlCol="0">
              <a:spAutoFit/>
            </a:bodyPr>
            <a:lstStyle/>
            <a:p>
              <a:r>
                <a:rPr lang="ru-RU" sz="1200" dirty="0"/>
                <a:t>Даты от начала и до конца какие затронуты диапазоном</a:t>
              </a:r>
            </a:p>
          </p:txBody>
        </p:sp>
        <p:sp>
          <p:nvSpPr>
            <p:cNvPr id="65" name="TextBox 64">
              <a:extLst>
                <a:ext uri="{FF2B5EF4-FFF2-40B4-BE49-F238E27FC236}">
                  <a16:creationId xmlns:a16="http://schemas.microsoft.com/office/drawing/2014/main" id="{073CACF5-0756-B04B-6D04-C6EB7EC90D03}"/>
                </a:ext>
              </a:extLst>
            </p:cNvPr>
            <p:cNvSpPr txBox="1"/>
            <p:nvPr/>
          </p:nvSpPr>
          <p:spPr>
            <a:xfrm>
              <a:off x="6955785" y="2876242"/>
              <a:ext cx="2230034" cy="184666"/>
            </a:xfrm>
            <a:prstGeom prst="rect">
              <a:avLst/>
            </a:prstGeom>
            <a:noFill/>
          </p:spPr>
          <p:txBody>
            <a:bodyPr wrap="none" lIns="0" tIns="0" rIns="0" bIns="0" rtlCol="0">
              <a:spAutoFit/>
            </a:bodyPr>
            <a:lstStyle/>
            <a:p>
              <a:r>
                <a:rPr lang="ru-RU" sz="1200" dirty="0"/>
                <a:t>Тип: тикет по «у» или тикет по «н»</a:t>
              </a:r>
            </a:p>
          </p:txBody>
        </p:sp>
      </p:grpSp>
      <p:sp>
        <p:nvSpPr>
          <p:cNvPr id="43" name="Прямоугольник 42">
            <a:extLst>
              <a:ext uri="{FF2B5EF4-FFF2-40B4-BE49-F238E27FC236}">
                <a16:creationId xmlns:a16="http://schemas.microsoft.com/office/drawing/2014/main" id="{034D3745-0E3E-2BAE-5E16-19A9DD30960A}"/>
              </a:ext>
            </a:extLst>
          </p:cNvPr>
          <p:cNvSpPr/>
          <p:nvPr/>
        </p:nvSpPr>
        <p:spPr>
          <a:xfrm>
            <a:off x="10268224" y="4450588"/>
            <a:ext cx="1614152"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4" name="TextBox 43">
            <a:extLst>
              <a:ext uri="{FF2B5EF4-FFF2-40B4-BE49-F238E27FC236}">
                <a16:creationId xmlns:a16="http://schemas.microsoft.com/office/drawing/2014/main" id="{0FEB7255-8EAF-B97B-384D-58A3A4863F91}"/>
              </a:ext>
            </a:extLst>
          </p:cNvPr>
          <p:cNvSpPr txBox="1"/>
          <p:nvPr/>
        </p:nvSpPr>
        <p:spPr>
          <a:xfrm>
            <a:off x="10351317" y="4502069"/>
            <a:ext cx="638765" cy="184666"/>
          </a:xfrm>
          <a:prstGeom prst="rect">
            <a:avLst/>
          </a:prstGeom>
          <a:noFill/>
        </p:spPr>
        <p:txBody>
          <a:bodyPr wrap="none" lIns="0" tIns="0" rIns="0" bIns="0" rtlCol="0">
            <a:spAutoFit/>
          </a:bodyPr>
          <a:lstStyle/>
          <a:p>
            <a:r>
              <a:rPr lang="ru-RU" sz="1200" dirty="0"/>
              <a:t>Отменить</a:t>
            </a:r>
          </a:p>
        </p:txBody>
      </p:sp>
      <p:sp>
        <p:nvSpPr>
          <p:cNvPr id="47" name="TextBox 46">
            <a:extLst>
              <a:ext uri="{FF2B5EF4-FFF2-40B4-BE49-F238E27FC236}">
                <a16:creationId xmlns:a16="http://schemas.microsoft.com/office/drawing/2014/main" id="{A431D2BB-28A9-FDEC-E732-34AF813B5649}"/>
              </a:ext>
            </a:extLst>
          </p:cNvPr>
          <p:cNvSpPr txBox="1"/>
          <p:nvPr/>
        </p:nvSpPr>
        <p:spPr>
          <a:xfrm>
            <a:off x="10446024" y="4998085"/>
            <a:ext cx="933076" cy="184666"/>
          </a:xfrm>
          <a:prstGeom prst="rect">
            <a:avLst/>
          </a:prstGeom>
          <a:noFill/>
        </p:spPr>
        <p:txBody>
          <a:bodyPr wrap="none" lIns="0" tIns="0" rIns="0" bIns="0" rtlCol="0">
            <a:spAutoFit/>
          </a:bodyPr>
          <a:lstStyle/>
          <a:p>
            <a:r>
              <a:rPr lang="ru-RU" sz="1200" dirty="0"/>
              <a:t>Пример архив</a:t>
            </a:r>
          </a:p>
        </p:txBody>
      </p:sp>
      <p:sp>
        <p:nvSpPr>
          <p:cNvPr id="50" name="Прямоугольник 49">
            <a:extLst>
              <a:ext uri="{FF2B5EF4-FFF2-40B4-BE49-F238E27FC236}">
                <a16:creationId xmlns:a16="http://schemas.microsoft.com/office/drawing/2014/main" id="{1750F948-6641-B66A-EEB3-FDF507054DE3}"/>
              </a:ext>
            </a:extLst>
          </p:cNvPr>
          <p:cNvSpPr/>
          <p:nvPr/>
        </p:nvSpPr>
        <p:spPr>
          <a:xfrm>
            <a:off x="4928315" y="5306925"/>
            <a:ext cx="7147775" cy="1481225"/>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TextBox 50">
            <a:extLst>
              <a:ext uri="{FF2B5EF4-FFF2-40B4-BE49-F238E27FC236}">
                <a16:creationId xmlns:a16="http://schemas.microsoft.com/office/drawing/2014/main" id="{E732345D-D5C2-6F96-90C9-29B65996ACD2}"/>
              </a:ext>
            </a:extLst>
          </p:cNvPr>
          <p:cNvSpPr txBox="1"/>
          <p:nvPr/>
        </p:nvSpPr>
        <p:spPr>
          <a:xfrm>
            <a:off x="5082988" y="5404613"/>
            <a:ext cx="614784" cy="184666"/>
          </a:xfrm>
          <a:prstGeom prst="rect">
            <a:avLst/>
          </a:prstGeom>
          <a:noFill/>
        </p:spPr>
        <p:txBody>
          <a:bodyPr wrap="none" lIns="0" tIns="0" rIns="0" bIns="0" rtlCol="0">
            <a:spAutoFit/>
          </a:bodyPr>
          <a:lstStyle/>
          <a:p>
            <a:r>
              <a:rPr lang="ru-RU" sz="1200" dirty="0"/>
              <a:t>№ тикета</a:t>
            </a:r>
          </a:p>
        </p:txBody>
      </p:sp>
      <p:sp>
        <p:nvSpPr>
          <p:cNvPr id="52" name="TextBox 51">
            <a:extLst>
              <a:ext uri="{FF2B5EF4-FFF2-40B4-BE49-F238E27FC236}">
                <a16:creationId xmlns:a16="http://schemas.microsoft.com/office/drawing/2014/main" id="{138E865E-A67A-62F3-1B91-2CA444E8F3DE}"/>
              </a:ext>
            </a:extLst>
          </p:cNvPr>
          <p:cNvSpPr txBox="1"/>
          <p:nvPr/>
        </p:nvSpPr>
        <p:spPr>
          <a:xfrm>
            <a:off x="5879446" y="5404613"/>
            <a:ext cx="814390" cy="184666"/>
          </a:xfrm>
          <a:prstGeom prst="rect">
            <a:avLst/>
          </a:prstGeom>
          <a:noFill/>
        </p:spPr>
        <p:txBody>
          <a:bodyPr wrap="none" lIns="0" tIns="0" rIns="0" bIns="0" rtlCol="0">
            <a:spAutoFit/>
          </a:bodyPr>
          <a:lstStyle/>
          <a:p>
            <a:r>
              <a:rPr lang="ru-RU" sz="1200" dirty="0"/>
              <a:t>Дата подачи</a:t>
            </a:r>
          </a:p>
        </p:txBody>
      </p:sp>
      <p:grpSp>
        <p:nvGrpSpPr>
          <p:cNvPr id="53" name="Группа 52">
            <a:extLst>
              <a:ext uri="{FF2B5EF4-FFF2-40B4-BE49-F238E27FC236}">
                <a16:creationId xmlns:a16="http://schemas.microsoft.com/office/drawing/2014/main" id="{2E961500-78EC-23C0-5EF9-52C1F05A45D6}"/>
              </a:ext>
            </a:extLst>
          </p:cNvPr>
          <p:cNvGrpSpPr/>
          <p:nvPr/>
        </p:nvGrpSpPr>
        <p:grpSpPr>
          <a:xfrm>
            <a:off x="5060185" y="6115918"/>
            <a:ext cx="6452074" cy="584263"/>
            <a:chOff x="5276165" y="3339861"/>
            <a:chExt cx="6452074" cy="584263"/>
          </a:xfrm>
        </p:grpSpPr>
        <p:sp>
          <p:nvSpPr>
            <p:cNvPr id="56" name="Прямоугольник 55">
              <a:extLst>
                <a:ext uri="{FF2B5EF4-FFF2-40B4-BE49-F238E27FC236}">
                  <a16:creationId xmlns:a16="http://schemas.microsoft.com/office/drawing/2014/main" id="{5E282F72-E3C1-A71F-648F-4D32226B07D6}"/>
                </a:ext>
              </a:extLst>
            </p:cNvPr>
            <p:cNvSpPr/>
            <p:nvPr/>
          </p:nvSpPr>
          <p:spPr>
            <a:xfrm>
              <a:off x="5276165" y="3339861"/>
              <a:ext cx="6452074" cy="584263"/>
            </a:xfrm>
            <a:prstGeom prst="rect">
              <a:avLst/>
            </a:prstGeom>
            <a:solidFill>
              <a:srgbClr val="D1C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7" name="TextBox 56">
              <a:extLst>
                <a:ext uri="{FF2B5EF4-FFF2-40B4-BE49-F238E27FC236}">
                  <a16:creationId xmlns:a16="http://schemas.microsoft.com/office/drawing/2014/main" id="{B71AE9C4-6392-60C9-7B69-927DF977E5A3}"/>
                </a:ext>
              </a:extLst>
            </p:cNvPr>
            <p:cNvSpPr txBox="1"/>
            <p:nvPr/>
          </p:nvSpPr>
          <p:spPr>
            <a:xfrm>
              <a:off x="5408874" y="3419410"/>
              <a:ext cx="1331005" cy="184666"/>
            </a:xfrm>
            <a:prstGeom prst="rect">
              <a:avLst/>
            </a:prstGeom>
            <a:noFill/>
          </p:spPr>
          <p:txBody>
            <a:bodyPr wrap="none" lIns="0" tIns="0" rIns="0" bIns="0" rtlCol="0">
              <a:spAutoFit/>
            </a:bodyPr>
            <a:lstStyle/>
            <a:p>
              <a:r>
                <a:rPr lang="ru-RU" sz="1200" dirty="0"/>
                <a:t>Название предмета</a:t>
              </a:r>
            </a:p>
          </p:txBody>
        </p:sp>
        <p:sp>
          <p:nvSpPr>
            <p:cNvPr id="58" name="TextBox 57">
              <a:extLst>
                <a:ext uri="{FF2B5EF4-FFF2-40B4-BE49-F238E27FC236}">
                  <a16:creationId xmlns:a16="http://schemas.microsoft.com/office/drawing/2014/main" id="{C0520919-459E-9E4A-499A-E9ED79E06330}"/>
                </a:ext>
              </a:extLst>
            </p:cNvPr>
            <p:cNvSpPr txBox="1"/>
            <p:nvPr/>
          </p:nvSpPr>
          <p:spPr>
            <a:xfrm>
              <a:off x="6867594" y="3419410"/>
              <a:ext cx="774443" cy="184666"/>
            </a:xfrm>
            <a:prstGeom prst="rect">
              <a:avLst/>
            </a:prstGeom>
            <a:noFill/>
          </p:spPr>
          <p:txBody>
            <a:bodyPr wrap="none" lIns="0" tIns="0" rIns="0" bIns="0" rtlCol="0">
              <a:spAutoFit/>
            </a:bodyPr>
            <a:lstStyle/>
            <a:p>
              <a:r>
                <a:rPr lang="ru-RU" sz="1200" dirty="0"/>
                <a:t>Тип занятия</a:t>
              </a:r>
            </a:p>
          </p:txBody>
        </p:sp>
        <p:sp>
          <p:nvSpPr>
            <p:cNvPr id="59" name="TextBox 58">
              <a:extLst>
                <a:ext uri="{FF2B5EF4-FFF2-40B4-BE49-F238E27FC236}">
                  <a16:creationId xmlns:a16="http://schemas.microsoft.com/office/drawing/2014/main" id="{8864E28F-8399-FA80-653F-747B54006F21}"/>
                </a:ext>
              </a:extLst>
            </p:cNvPr>
            <p:cNvSpPr txBox="1"/>
            <p:nvPr/>
          </p:nvSpPr>
          <p:spPr>
            <a:xfrm>
              <a:off x="7809775" y="3419410"/>
              <a:ext cx="292901" cy="184666"/>
            </a:xfrm>
            <a:prstGeom prst="rect">
              <a:avLst/>
            </a:prstGeom>
            <a:noFill/>
          </p:spPr>
          <p:txBody>
            <a:bodyPr wrap="none" lIns="0" tIns="0" rIns="0" bIns="0" rtlCol="0">
              <a:spAutoFit/>
            </a:bodyPr>
            <a:lstStyle/>
            <a:p>
              <a:r>
                <a:rPr lang="ru-RU" sz="1200" dirty="0"/>
                <a:t>дата</a:t>
              </a:r>
            </a:p>
          </p:txBody>
        </p:sp>
        <p:sp>
          <p:nvSpPr>
            <p:cNvPr id="60" name="TextBox 59">
              <a:extLst>
                <a:ext uri="{FF2B5EF4-FFF2-40B4-BE49-F238E27FC236}">
                  <a16:creationId xmlns:a16="http://schemas.microsoft.com/office/drawing/2014/main" id="{66DB3FFB-023F-95C5-BD58-C18EB3B5DD6E}"/>
                </a:ext>
              </a:extLst>
            </p:cNvPr>
            <p:cNvSpPr txBox="1"/>
            <p:nvPr/>
          </p:nvSpPr>
          <p:spPr>
            <a:xfrm>
              <a:off x="5408874" y="3607913"/>
              <a:ext cx="605935" cy="184666"/>
            </a:xfrm>
            <a:prstGeom prst="rect">
              <a:avLst/>
            </a:prstGeom>
            <a:noFill/>
          </p:spPr>
          <p:txBody>
            <a:bodyPr wrap="none" lIns="0" tIns="0" rIns="0" bIns="0" rtlCol="0">
              <a:spAutoFit/>
            </a:bodyPr>
            <a:lstStyle/>
            <a:p>
              <a:r>
                <a:rPr lang="en-US" sz="1200" dirty="0" err="1"/>
                <a:t>xxxxxxxxx</a:t>
              </a:r>
              <a:endParaRPr lang="ru-RU" sz="1200" dirty="0"/>
            </a:p>
          </p:txBody>
        </p:sp>
        <p:sp>
          <p:nvSpPr>
            <p:cNvPr id="61" name="TextBox 60">
              <a:extLst>
                <a:ext uri="{FF2B5EF4-FFF2-40B4-BE49-F238E27FC236}">
                  <a16:creationId xmlns:a16="http://schemas.microsoft.com/office/drawing/2014/main" id="{43553392-6B20-DB61-F52B-67EB4405BA45}"/>
                </a:ext>
              </a:extLst>
            </p:cNvPr>
            <p:cNvSpPr txBox="1"/>
            <p:nvPr/>
          </p:nvSpPr>
          <p:spPr>
            <a:xfrm>
              <a:off x="6867594" y="3607913"/>
              <a:ext cx="471283" cy="184666"/>
            </a:xfrm>
            <a:prstGeom prst="rect">
              <a:avLst/>
            </a:prstGeom>
            <a:noFill/>
          </p:spPr>
          <p:txBody>
            <a:bodyPr wrap="none" lIns="0" tIns="0" rIns="0" bIns="0" rtlCol="0">
              <a:spAutoFit/>
            </a:bodyPr>
            <a:lstStyle/>
            <a:p>
              <a:r>
                <a:rPr lang="en-US" sz="1200" dirty="0" err="1"/>
                <a:t>xxxxxxx</a:t>
              </a:r>
              <a:endParaRPr lang="ru-RU" sz="1200" dirty="0"/>
            </a:p>
          </p:txBody>
        </p:sp>
        <p:sp>
          <p:nvSpPr>
            <p:cNvPr id="62" name="TextBox 61">
              <a:extLst>
                <a:ext uri="{FF2B5EF4-FFF2-40B4-BE49-F238E27FC236}">
                  <a16:creationId xmlns:a16="http://schemas.microsoft.com/office/drawing/2014/main" id="{3120F871-AF99-4C8A-A878-DF1042E2E3E1}"/>
                </a:ext>
              </a:extLst>
            </p:cNvPr>
            <p:cNvSpPr txBox="1"/>
            <p:nvPr/>
          </p:nvSpPr>
          <p:spPr>
            <a:xfrm>
              <a:off x="7809775" y="3607913"/>
              <a:ext cx="403957" cy="184666"/>
            </a:xfrm>
            <a:prstGeom prst="rect">
              <a:avLst/>
            </a:prstGeom>
            <a:noFill/>
          </p:spPr>
          <p:txBody>
            <a:bodyPr wrap="none" lIns="0" tIns="0" rIns="0" bIns="0" rtlCol="0">
              <a:spAutoFit/>
            </a:bodyPr>
            <a:lstStyle/>
            <a:p>
              <a:r>
                <a:rPr lang="en-US" sz="1200" dirty="0" err="1"/>
                <a:t>xxxxxx</a:t>
              </a:r>
              <a:endParaRPr lang="ru-RU" sz="1200" dirty="0"/>
            </a:p>
          </p:txBody>
        </p:sp>
        <p:sp>
          <p:nvSpPr>
            <p:cNvPr id="63" name="TextBox 62">
              <a:extLst>
                <a:ext uri="{FF2B5EF4-FFF2-40B4-BE49-F238E27FC236}">
                  <a16:creationId xmlns:a16="http://schemas.microsoft.com/office/drawing/2014/main" id="{649D0F24-CEB7-56BD-FAC4-17793EFDF290}"/>
                </a:ext>
              </a:extLst>
            </p:cNvPr>
            <p:cNvSpPr txBox="1"/>
            <p:nvPr/>
          </p:nvSpPr>
          <p:spPr>
            <a:xfrm>
              <a:off x="10008698" y="3631992"/>
              <a:ext cx="1600182" cy="184666"/>
            </a:xfrm>
            <a:prstGeom prst="rect">
              <a:avLst/>
            </a:prstGeom>
            <a:noFill/>
          </p:spPr>
          <p:txBody>
            <a:bodyPr wrap="none" lIns="0" tIns="0" rIns="0" bIns="0" rtlCol="0">
              <a:spAutoFit/>
            </a:bodyPr>
            <a:lstStyle/>
            <a:p>
              <a:r>
                <a:rPr lang="ru-RU" sz="1200" dirty="0"/>
                <a:t>Чекбокс галочка выбора</a:t>
              </a:r>
            </a:p>
          </p:txBody>
        </p:sp>
      </p:grpSp>
      <p:sp>
        <p:nvSpPr>
          <p:cNvPr id="54" name="TextBox 53">
            <a:extLst>
              <a:ext uri="{FF2B5EF4-FFF2-40B4-BE49-F238E27FC236}">
                <a16:creationId xmlns:a16="http://schemas.microsoft.com/office/drawing/2014/main" id="{5AC84D54-BB36-AB72-07E6-81A714FC834A}"/>
              </a:ext>
            </a:extLst>
          </p:cNvPr>
          <p:cNvSpPr txBox="1"/>
          <p:nvPr/>
        </p:nvSpPr>
        <p:spPr>
          <a:xfrm>
            <a:off x="5060185" y="5638645"/>
            <a:ext cx="3134384" cy="184666"/>
          </a:xfrm>
          <a:prstGeom prst="rect">
            <a:avLst/>
          </a:prstGeom>
          <a:noFill/>
        </p:spPr>
        <p:txBody>
          <a:bodyPr wrap="none" lIns="0" tIns="0" rIns="0" bIns="0" rtlCol="0">
            <a:spAutoFit/>
          </a:bodyPr>
          <a:lstStyle/>
          <a:p>
            <a:r>
              <a:rPr lang="ru-RU" sz="1200" dirty="0"/>
              <a:t>Причина пропуска (только если подан по «у») </a:t>
            </a:r>
          </a:p>
        </p:txBody>
      </p:sp>
      <p:sp>
        <p:nvSpPr>
          <p:cNvPr id="55" name="TextBox 54">
            <a:extLst>
              <a:ext uri="{FF2B5EF4-FFF2-40B4-BE49-F238E27FC236}">
                <a16:creationId xmlns:a16="http://schemas.microsoft.com/office/drawing/2014/main" id="{95F33255-3A02-7CB0-1BC6-5771447F9423}"/>
              </a:ext>
            </a:extLst>
          </p:cNvPr>
          <p:cNvSpPr txBox="1"/>
          <p:nvPr/>
        </p:nvSpPr>
        <p:spPr>
          <a:xfrm>
            <a:off x="5060185" y="5857904"/>
            <a:ext cx="3712619" cy="184666"/>
          </a:xfrm>
          <a:prstGeom prst="rect">
            <a:avLst/>
          </a:prstGeom>
          <a:noFill/>
        </p:spPr>
        <p:txBody>
          <a:bodyPr wrap="none" lIns="0" tIns="0" rIns="0" bIns="0" rtlCol="0">
            <a:spAutoFit/>
          </a:bodyPr>
          <a:lstStyle/>
          <a:p>
            <a:r>
              <a:rPr lang="ru-RU" sz="1200" dirty="0"/>
              <a:t>Даты от начала и до конца какие затронуты диапазоном</a:t>
            </a:r>
          </a:p>
        </p:txBody>
      </p:sp>
      <p:sp>
        <p:nvSpPr>
          <p:cNvPr id="64" name="TextBox 63">
            <a:extLst>
              <a:ext uri="{FF2B5EF4-FFF2-40B4-BE49-F238E27FC236}">
                <a16:creationId xmlns:a16="http://schemas.microsoft.com/office/drawing/2014/main" id="{129B8C19-AC98-CA5D-9165-C075A5F189F9}"/>
              </a:ext>
            </a:extLst>
          </p:cNvPr>
          <p:cNvSpPr txBox="1"/>
          <p:nvPr/>
        </p:nvSpPr>
        <p:spPr>
          <a:xfrm>
            <a:off x="10578828" y="5404613"/>
            <a:ext cx="1367554" cy="184666"/>
          </a:xfrm>
          <a:prstGeom prst="rect">
            <a:avLst/>
          </a:prstGeom>
          <a:noFill/>
        </p:spPr>
        <p:txBody>
          <a:bodyPr wrap="none" lIns="0" tIns="0" rIns="0" bIns="0" rtlCol="0">
            <a:spAutoFit/>
          </a:bodyPr>
          <a:lstStyle/>
          <a:p>
            <a:r>
              <a:rPr lang="ru-RU" sz="1200" dirty="0"/>
              <a:t>Статус рассмотрения</a:t>
            </a:r>
          </a:p>
        </p:txBody>
      </p:sp>
      <p:sp>
        <p:nvSpPr>
          <p:cNvPr id="66" name="TextBox 65">
            <a:extLst>
              <a:ext uri="{FF2B5EF4-FFF2-40B4-BE49-F238E27FC236}">
                <a16:creationId xmlns:a16="http://schemas.microsoft.com/office/drawing/2014/main" id="{6C118A4B-5E01-3E8A-604A-E0AB98C38EB0}"/>
              </a:ext>
            </a:extLst>
          </p:cNvPr>
          <p:cNvSpPr txBox="1"/>
          <p:nvPr/>
        </p:nvSpPr>
        <p:spPr>
          <a:xfrm>
            <a:off x="6821551" y="5411334"/>
            <a:ext cx="2230034" cy="184666"/>
          </a:xfrm>
          <a:prstGeom prst="rect">
            <a:avLst/>
          </a:prstGeom>
          <a:noFill/>
        </p:spPr>
        <p:txBody>
          <a:bodyPr wrap="none" lIns="0" tIns="0" rIns="0" bIns="0" rtlCol="0">
            <a:spAutoFit/>
          </a:bodyPr>
          <a:lstStyle/>
          <a:p>
            <a:r>
              <a:rPr lang="ru-RU" sz="1200" dirty="0"/>
              <a:t>Тип: тикет по «у» или тикет по «н»</a:t>
            </a:r>
          </a:p>
        </p:txBody>
      </p:sp>
    </p:spTree>
    <p:extLst>
      <p:ext uri="{BB962C8B-B14F-4D97-AF65-F5344CB8AC3E}">
        <p14:creationId xmlns:p14="http://schemas.microsoft.com/office/powerpoint/2010/main" val="3033544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755DE34E-1F52-2BE9-468C-A5BC762F6445}"/>
              </a:ext>
            </a:extLst>
          </p:cNvPr>
          <p:cNvSpPr>
            <a:spLocks/>
          </p:cNvSpPr>
          <p:nvPr/>
        </p:nvSpPr>
        <p:spPr>
          <a:xfrm>
            <a:off x="4800600" y="0"/>
            <a:ext cx="7391399" cy="6858000"/>
          </a:xfrm>
          <a:prstGeom prst="rect">
            <a:avLst/>
          </a:prstGeom>
          <a:solidFill>
            <a:schemeClr val="bg1">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Прямоугольник 4">
            <a:extLst>
              <a:ext uri="{FF2B5EF4-FFF2-40B4-BE49-F238E27FC236}">
                <a16:creationId xmlns:a16="http://schemas.microsoft.com/office/drawing/2014/main" id="{6B8CB585-D000-9D9E-13D0-F9ED93B0ED70}"/>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108 – СТРАНИЦА СТУДЕНТ – НАСТРОЙКИ</a:t>
            </a:r>
          </a:p>
        </p:txBody>
      </p:sp>
      <p:sp>
        <p:nvSpPr>
          <p:cNvPr id="7" name="TextBox 6">
            <a:extLst>
              <a:ext uri="{FF2B5EF4-FFF2-40B4-BE49-F238E27FC236}">
                <a16:creationId xmlns:a16="http://schemas.microsoft.com/office/drawing/2014/main" id="{F4A6BACE-FADE-7E5D-4C20-821ABD1C29EE}"/>
              </a:ext>
            </a:extLst>
          </p:cNvPr>
          <p:cNvSpPr txBox="1"/>
          <p:nvPr/>
        </p:nvSpPr>
        <p:spPr>
          <a:xfrm>
            <a:off x="191164" y="1110702"/>
            <a:ext cx="4376544" cy="677108"/>
          </a:xfrm>
          <a:prstGeom prst="rect">
            <a:avLst/>
          </a:prstGeom>
          <a:noFill/>
        </p:spPr>
        <p:txBody>
          <a:bodyPr wrap="square" lIns="0" tIns="0" rIns="0" bIns="0" rtlCol="0">
            <a:spAutoFit/>
          </a:bodyPr>
          <a:lstStyle/>
          <a:p>
            <a:r>
              <a:rPr lang="ru-RU" sz="1100" dirty="0"/>
              <a:t>1 – новый пароль при повторе нельзя вставить только напечатать и при этом закрывается первое введение в первое поле нового пароля чтоб нельзя было переписать, потом в телегу приходит уведомление что смена пароля</a:t>
            </a:r>
          </a:p>
        </p:txBody>
      </p:sp>
      <p:grpSp>
        <p:nvGrpSpPr>
          <p:cNvPr id="2" name="Группа 1">
            <a:extLst>
              <a:ext uri="{FF2B5EF4-FFF2-40B4-BE49-F238E27FC236}">
                <a16:creationId xmlns:a16="http://schemas.microsoft.com/office/drawing/2014/main" id="{79E13AB1-D74A-891D-4214-8F2987E5DCFB}"/>
              </a:ext>
            </a:extLst>
          </p:cNvPr>
          <p:cNvGrpSpPr/>
          <p:nvPr/>
        </p:nvGrpSpPr>
        <p:grpSpPr>
          <a:xfrm>
            <a:off x="4928315" y="96316"/>
            <a:ext cx="7180627" cy="1014386"/>
            <a:chOff x="4928315" y="96316"/>
            <a:chExt cx="7180627" cy="1014386"/>
          </a:xfrm>
        </p:grpSpPr>
        <p:grpSp>
          <p:nvGrpSpPr>
            <p:cNvPr id="3" name="Группа 2">
              <a:extLst>
                <a:ext uri="{FF2B5EF4-FFF2-40B4-BE49-F238E27FC236}">
                  <a16:creationId xmlns:a16="http://schemas.microsoft.com/office/drawing/2014/main" id="{A48BDFB7-C086-D76C-C390-95913E207F9A}"/>
                </a:ext>
              </a:extLst>
            </p:cNvPr>
            <p:cNvGrpSpPr/>
            <p:nvPr/>
          </p:nvGrpSpPr>
          <p:grpSpPr>
            <a:xfrm>
              <a:off x="4928315" y="128790"/>
              <a:ext cx="1614152" cy="287630"/>
              <a:chOff x="1803042" y="2137890"/>
              <a:chExt cx="1747234" cy="523744"/>
            </a:xfrm>
          </p:grpSpPr>
          <p:sp>
            <p:nvSpPr>
              <p:cNvPr id="20" name="Прямоугольник 19">
                <a:extLst>
                  <a:ext uri="{FF2B5EF4-FFF2-40B4-BE49-F238E27FC236}">
                    <a16:creationId xmlns:a16="http://schemas.microsoft.com/office/drawing/2014/main" id="{C529B34B-FA23-9943-2E7C-AB897F00B0B0}"/>
                  </a:ext>
                </a:extLst>
              </p:cNvPr>
              <p:cNvSpPr/>
              <p:nvPr/>
            </p:nvSpPr>
            <p:spPr>
              <a:xfrm>
                <a:off x="1803042" y="2137893"/>
                <a:ext cx="1747234" cy="52374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grpSp>
            <p:nvGrpSpPr>
              <p:cNvPr id="21" name="Группа 20">
                <a:extLst>
                  <a:ext uri="{FF2B5EF4-FFF2-40B4-BE49-F238E27FC236}">
                    <a16:creationId xmlns:a16="http://schemas.microsoft.com/office/drawing/2014/main" id="{A275AE7A-DB01-ED3E-0838-B819868EFA28}"/>
                  </a:ext>
                </a:extLst>
              </p:cNvPr>
              <p:cNvGrpSpPr/>
              <p:nvPr/>
            </p:nvGrpSpPr>
            <p:grpSpPr>
              <a:xfrm>
                <a:off x="1970467" y="2137890"/>
                <a:ext cx="1419940" cy="277001"/>
                <a:chOff x="2082085" y="1725766"/>
                <a:chExt cx="1419940" cy="277001"/>
              </a:xfrm>
            </p:grpSpPr>
            <p:sp>
              <p:nvSpPr>
                <p:cNvPr id="22" name="TextBox 21">
                  <a:extLst>
                    <a:ext uri="{FF2B5EF4-FFF2-40B4-BE49-F238E27FC236}">
                      <a16:creationId xmlns:a16="http://schemas.microsoft.com/office/drawing/2014/main" id="{EE128DBD-AA91-AF19-B999-6D7116370F67}"/>
                    </a:ext>
                  </a:extLst>
                </p:cNvPr>
                <p:cNvSpPr txBox="1"/>
                <p:nvPr/>
              </p:nvSpPr>
              <p:spPr>
                <a:xfrm>
                  <a:off x="2082085" y="1725768"/>
                  <a:ext cx="744114" cy="276999"/>
                </a:xfrm>
                <a:prstGeom prst="rect">
                  <a:avLst/>
                </a:prstGeom>
                <a:noFill/>
              </p:spPr>
              <p:txBody>
                <a:bodyPr wrap="none" rtlCol="0">
                  <a:spAutoFit/>
                </a:bodyPr>
                <a:lstStyle/>
                <a:p>
                  <a:r>
                    <a:rPr lang="ru-RU" sz="1200" dirty="0"/>
                    <a:t>староста</a:t>
                  </a:r>
                </a:p>
              </p:txBody>
            </p:sp>
            <p:sp>
              <p:nvSpPr>
                <p:cNvPr id="23" name="TextBox 22">
                  <a:extLst>
                    <a:ext uri="{FF2B5EF4-FFF2-40B4-BE49-F238E27FC236}">
                      <a16:creationId xmlns:a16="http://schemas.microsoft.com/office/drawing/2014/main" id="{FB8F961A-54D6-5629-105B-EDB88D134C7B}"/>
                    </a:ext>
                  </a:extLst>
                </p:cNvPr>
                <p:cNvSpPr txBox="1"/>
                <p:nvPr/>
              </p:nvSpPr>
              <p:spPr>
                <a:xfrm>
                  <a:off x="2826199" y="1725766"/>
                  <a:ext cx="675826" cy="277000"/>
                </a:xfrm>
                <a:prstGeom prst="rect">
                  <a:avLst/>
                </a:prstGeom>
                <a:noFill/>
              </p:spPr>
              <p:txBody>
                <a:bodyPr wrap="none" rtlCol="0">
                  <a:spAutoFit/>
                </a:bodyPr>
                <a:lstStyle/>
                <a:p>
                  <a:r>
                    <a:rPr lang="ru-RU" sz="1200" dirty="0"/>
                    <a:t>студент</a:t>
                  </a:r>
                </a:p>
              </p:txBody>
            </p:sp>
          </p:grpSp>
        </p:grpSp>
        <p:grpSp>
          <p:nvGrpSpPr>
            <p:cNvPr id="8" name="Группа 7">
              <a:extLst>
                <a:ext uri="{FF2B5EF4-FFF2-40B4-BE49-F238E27FC236}">
                  <a16:creationId xmlns:a16="http://schemas.microsoft.com/office/drawing/2014/main" id="{38268779-DCD3-F376-9A07-0BEE8FF2BDAF}"/>
                </a:ext>
              </a:extLst>
            </p:cNvPr>
            <p:cNvGrpSpPr/>
            <p:nvPr/>
          </p:nvGrpSpPr>
          <p:grpSpPr>
            <a:xfrm>
              <a:off x="4928315" y="598868"/>
              <a:ext cx="5786147" cy="184666"/>
              <a:chOff x="2659614" y="2814035"/>
              <a:chExt cx="5786147" cy="184666"/>
            </a:xfrm>
          </p:grpSpPr>
          <p:sp>
            <p:nvSpPr>
              <p:cNvPr id="14" name="TextBox 13">
                <a:extLst>
                  <a:ext uri="{FF2B5EF4-FFF2-40B4-BE49-F238E27FC236}">
                    <a16:creationId xmlns:a16="http://schemas.microsoft.com/office/drawing/2014/main" id="{1C145049-0808-9DCD-4437-669DC743A733}"/>
                  </a:ext>
                </a:extLst>
              </p:cNvPr>
              <p:cNvSpPr txBox="1"/>
              <p:nvPr/>
            </p:nvSpPr>
            <p:spPr>
              <a:xfrm>
                <a:off x="2659614" y="2814035"/>
                <a:ext cx="502061" cy="184666"/>
              </a:xfrm>
              <a:prstGeom prst="rect">
                <a:avLst/>
              </a:prstGeom>
              <a:noFill/>
            </p:spPr>
            <p:txBody>
              <a:bodyPr wrap="none" lIns="0" tIns="0" rIns="0" bIns="0" rtlCol="0">
                <a:spAutoFit/>
              </a:bodyPr>
              <a:lstStyle/>
              <a:p>
                <a:r>
                  <a:rPr lang="ru-RU" sz="1200" dirty="0"/>
                  <a:t>главная</a:t>
                </a:r>
              </a:p>
            </p:txBody>
          </p:sp>
          <p:sp>
            <p:nvSpPr>
              <p:cNvPr id="15" name="TextBox 14">
                <a:extLst>
                  <a:ext uri="{FF2B5EF4-FFF2-40B4-BE49-F238E27FC236}">
                    <a16:creationId xmlns:a16="http://schemas.microsoft.com/office/drawing/2014/main" id="{BFD99453-8946-78AA-51D4-2DCA348C144D}"/>
                  </a:ext>
                </a:extLst>
              </p:cNvPr>
              <p:cNvSpPr txBox="1"/>
              <p:nvPr/>
            </p:nvSpPr>
            <p:spPr>
              <a:xfrm>
                <a:off x="3353373" y="2814035"/>
                <a:ext cx="952890" cy="184666"/>
              </a:xfrm>
              <a:prstGeom prst="rect">
                <a:avLst/>
              </a:prstGeom>
              <a:noFill/>
            </p:spPr>
            <p:txBody>
              <a:bodyPr wrap="none" lIns="0" tIns="0" rIns="0" bIns="0" rtlCol="0">
                <a:spAutoFit/>
              </a:bodyPr>
              <a:lstStyle/>
              <a:p>
                <a:r>
                  <a:rPr lang="ru-RU" sz="1200" dirty="0"/>
                  <a:t>посещаемость</a:t>
                </a:r>
              </a:p>
            </p:txBody>
          </p:sp>
          <p:sp>
            <p:nvSpPr>
              <p:cNvPr id="16" name="TextBox 15">
                <a:extLst>
                  <a:ext uri="{FF2B5EF4-FFF2-40B4-BE49-F238E27FC236}">
                    <a16:creationId xmlns:a16="http://schemas.microsoft.com/office/drawing/2014/main" id="{96F4316A-AB1D-2D19-74F6-13DA89A0D614}"/>
                  </a:ext>
                </a:extLst>
              </p:cNvPr>
              <p:cNvSpPr txBox="1"/>
              <p:nvPr/>
            </p:nvSpPr>
            <p:spPr>
              <a:xfrm>
                <a:off x="4497961" y="2814035"/>
                <a:ext cx="693010" cy="184666"/>
              </a:xfrm>
              <a:prstGeom prst="rect">
                <a:avLst/>
              </a:prstGeom>
              <a:noFill/>
            </p:spPr>
            <p:txBody>
              <a:bodyPr wrap="none" lIns="0" tIns="0" rIns="0" bIns="0" rtlCol="0">
                <a:spAutoFit/>
              </a:bodyPr>
              <a:lstStyle/>
              <a:p>
                <a:r>
                  <a:rPr lang="ru-RU" sz="1200" dirty="0"/>
                  <a:t>статистика</a:t>
                </a:r>
              </a:p>
            </p:txBody>
          </p:sp>
          <p:sp>
            <p:nvSpPr>
              <p:cNvPr id="17" name="TextBox 16">
                <a:extLst>
                  <a:ext uri="{FF2B5EF4-FFF2-40B4-BE49-F238E27FC236}">
                    <a16:creationId xmlns:a16="http://schemas.microsoft.com/office/drawing/2014/main" id="{07B2D11E-7711-FDC4-A236-DF9F5D00957A}"/>
                  </a:ext>
                </a:extLst>
              </p:cNvPr>
              <p:cNvSpPr txBox="1"/>
              <p:nvPr/>
            </p:nvSpPr>
            <p:spPr>
              <a:xfrm>
                <a:off x="5382668" y="2814035"/>
                <a:ext cx="1269707" cy="184666"/>
              </a:xfrm>
              <a:prstGeom prst="rect">
                <a:avLst/>
              </a:prstGeom>
              <a:noFill/>
            </p:spPr>
            <p:txBody>
              <a:bodyPr wrap="none" lIns="0" tIns="0" rIns="0" bIns="0" rtlCol="0">
                <a:spAutoFit/>
              </a:bodyPr>
              <a:lstStyle/>
              <a:p>
                <a:r>
                  <a:rPr lang="ru-RU" sz="1200" dirty="0"/>
                  <a:t>домашнее задание</a:t>
                </a:r>
              </a:p>
            </p:txBody>
          </p:sp>
          <p:sp>
            <p:nvSpPr>
              <p:cNvPr id="18" name="TextBox 17">
                <a:extLst>
                  <a:ext uri="{FF2B5EF4-FFF2-40B4-BE49-F238E27FC236}">
                    <a16:creationId xmlns:a16="http://schemas.microsoft.com/office/drawing/2014/main" id="{BF9B553A-EF95-5D59-D680-B89FC99BADC2}"/>
                  </a:ext>
                </a:extLst>
              </p:cNvPr>
              <p:cNvSpPr txBox="1"/>
              <p:nvPr/>
            </p:nvSpPr>
            <p:spPr>
              <a:xfrm>
                <a:off x="6844072" y="2814035"/>
                <a:ext cx="356829" cy="184666"/>
              </a:xfrm>
              <a:prstGeom prst="rect">
                <a:avLst/>
              </a:prstGeom>
              <a:noFill/>
            </p:spPr>
            <p:txBody>
              <a:bodyPr wrap="none" lIns="0" tIns="0" rIns="0" bIns="0" rtlCol="0">
                <a:spAutoFit/>
              </a:bodyPr>
              <a:lstStyle/>
              <a:p>
                <a:r>
                  <a:rPr lang="ru-RU" sz="1200" dirty="0"/>
                  <a:t>карта</a:t>
                </a:r>
              </a:p>
            </p:txBody>
          </p:sp>
          <p:sp>
            <p:nvSpPr>
              <p:cNvPr id="19" name="TextBox 18">
                <a:extLst>
                  <a:ext uri="{FF2B5EF4-FFF2-40B4-BE49-F238E27FC236}">
                    <a16:creationId xmlns:a16="http://schemas.microsoft.com/office/drawing/2014/main" id="{D0F7883C-431D-996A-6EE7-ADB126F0137D}"/>
                  </a:ext>
                </a:extLst>
              </p:cNvPr>
              <p:cNvSpPr txBox="1"/>
              <p:nvPr/>
            </p:nvSpPr>
            <p:spPr>
              <a:xfrm>
                <a:off x="7398167" y="2814035"/>
                <a:ext cx="1047594" cy="184666"/>
              </a:xfrm>
              <a:prstGeom prst="rect">
                <a:avLst/>
              </a:prstGeom>
              <a:noFill/>
            </p:spPr>
            <p:txBody>
              <a:bodyPr wrap="none" lIns="0" tIns="0" rIns="0" bIns="0" rtlCol="0">
                <a:spAutoFit/>
              </a:bodyPr>
              <a:lstStyle/>
              <a:p>
                <a:r>
                  <a:rPr lang="ru-RU" sz="1200" dirty="0"/>
                  <a:t>заявки и тикеты</a:t>
                </a:r>
              </a:p>
            </p:txBody>
          </p:sp>
        </p:grpSp>
        <p:sp>
          <p:nvSpPr>
            <p:cNvPr id="9" name="Овал 8">
              <a:extLst>
                <a:ext uri="{FF2B5EF4-FFF2-40B4-BE49-F238E27FC236}">
                  <a16:creationId xmlns:a16="http://schemas.microsoft.com/office/drawing/2014/main" id="{4EAC9E37-2E04-5EC3-D01A-5ED5BF0F5C22}"/>
                </a:ext>
              </a:extLst>
            </p:cNvPr>
            <p:cNvSpPr/>
            <p:nvPr/>
          </p:nvSpPr>
          <p:spPr>
            <a:xfrm>
              <a:off x="11638209" y="96316"/>
              <a:ext cx="369194" cy="36919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F873D889-B918-DE77-678C-219FEAB2FE2D}"/>
                </a:ext>
              </a:extLst>
            </p:cNvPr>
            <p:cNvSpPr txBox="1"/>
            <p:nvPr/>
          </p:nvSpPr>
          <p:spPr>
            <a:xfrm>
              <a:off x="11536669" y="188580"/>
              <a:ext cx="572273" cy="184666"/>
            </a:xfrm>
            <a:prstGeom prst="rect">
              <a:avLst/>
            </a:prstGeom>
            <a:noFill/>
          </p:spPr>
          <p:txBody>
            <a:bodyPr wrap="none" lIns="0" tIns="0" rIns="0" bIns="0" rtlCol="0">
              <a:spAutoFit/>
            </a:bodyPr>
            <a:lstStyle/>
            <a:p>
              <a:r>
                <a:rPr lang="ru-RU" sz="1200" dirty="0"/>
                <a:t>профиль</a:t>
              </a:r>
            </a:p>
          </p:txBody>
        </p:sp>
        <p:grpSp>
          <p:nvGrpSpPr>
            <p:cNvPr id="11" name="Группа 10">
              <a:extLst>
                <a:ext uri="{FF2B5EF4-FFF2-40B4-BE49-F238E27FC236}">
                  <a16:creationId xmlns:a16="http://schemas.microsoft.com/office/drawing/2014/main" id="{A218B4EB-77F3-81C7-4971-5B05D85AD20D}"/>
                </a:ext>
              </a:extLst>
            </p:cNvPr>
            <p:cNvGrpSpPr/>
            <p:nvPr/>
          </p:nvGrpSpPr>
          <p:grpSpPr>
            <a:xfrm>
              <a:off x="10908405" y="513981"/>
              <a:ext cx="1167685" cy="596721"/>
              <a:chOff x="10908405" y="513981"/>
              <a:chExt cx="1167685" cy="596721"/>
            </a:xfrm>
          </p:grpSpPr>
          <p:sp>
            <p:nvSpPr>
              <p:cNvPr id="12" name="Прямоугольник 11">
                <a:extLst>
                  <a:ext uri="{FF2B5EF4-FFF2-40B4-BE49-F238E27FC236}">
                    <a16:creationId xmlns:a16="http://schemas.microsoft.com/office/drawing/2014/main" id="{4AFD19A2-22CA-64E1-049E-13FBF5429653}"/>
                  </a:ext>
                </a:extLst>
              </p:cNvPr>
              <p:cNvSpPr/>
              <p:nvPr/>
            </p:nvSpPr>
            <p:spPr>
              <a:xfrm>
                <a:off x="10908405" y="513981"/>
                <a:ext cx="1167685" cy="59672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TextBox 12">
                <a:extLst>
                  <a:ext uri="{FF2B5EF4-FFF2-40B4-BE49-F238E27FC236}">
                    <a16:creationId xmlns:a16="http://schemas.microsoft.com/office/drawing/2014/main" id="{C9F44F89-A73B-60B6-56C2-5B633BDF3739}"/>
                  </a:ext>
                </a:extLst>
              </p:cNvPr>
              <p:cNvSpPr txBox="1"/>
              <p:nvPr/>
            </p:nvSpPr>
            <p:spPr>
              <a:xfrm>
                <a:off x="11032536" y="603721"/>
                <a:ext cx="695703" cy="369332"/>
              </a:xfrm>
              <a:prstGeom prst="rect">
                <a:avLst/>
              </a:prstGeom>
              <a:noFill/>
            </p:spPr>
            <p:txBody>
              <a:bodyPr wrap="none" lIns="0" tIns="0" rIns="0" bIns="0" rtlCol="0">
                <a:spAutoFit/>
              </a:bodyPr>
              <a:lstStyle/>
              <a:p>
                <a:r>
                  <a:rPr lang="ru-RU" sz="1200" dirty="0"/>
                  <a:t>Настройки</a:t>
                </a:r>
                <a:br>
                  <a:rPr lang="ru-RU" sz="1200" dirty="0"/>
                </a:br>
                <a:r>
                  <a:rPr lang="ru-RU" sz="1200" dirty="0"/>
                  <a:t>Выход</a:t>
                </a:r>
              </a:p>
            </p:txBody>
          </p:sp>
        </p:grpSp>
      </p:grpSp>
      <p:sp>
        <p:nvSpPr>
          <p:cNvPr id="24" name="Прямоугольник 23">
            <a:extLst>
              <a:ext uri="{FF2B5EF4-FFF2-40B4-BE49-F238E27FC236}">
                <a16:creationId xmlns:a16="http://schemas.microsoft.com/office/drawing/2014/main" id="{0C0352FD-78D7-683B-22B7-2597F1432DAC}"/>
              </a:ext>
            </a:extLst>
          </p:cNvPr>
          <p:cNvSpPr/>
          <p:nvPr/>
        </p:nvSpPr>
        <p:spPr>
          <a:xfrm>
            <a:off x="5087465" y="1181531"/>
            <a:ext cx="3833611" cy="33611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TextBox 24">
            <a:extLst>
              <a:ext uri="{FF2B5EF4-FFF2-40B4-BE49-F238E27FC236}">
                <a16:creationId xmlns:a16="http://schemas.microsoft.com/office/drawing/2014/main" id="{1481AC67-0A01-8662-BB60-C1719E7B1C65}"/>
              </a:ext>
            </a:extLst>
          </p:cNvPr>
          <p:cNvSpPr txBox="1"/>
          <p:nvPr/>
        </p:nvSpPr>
        <p:spPr>
          <a:xfrm>
            <a:off x="5230445" y="1257257"/>
            <a:ext cx="277320" cy="184666"/>
          </a:xfrm>
          <a:prstGeom prst="rect">
            <a:avLst/>
          </a:prstGeom>
          <a:noFill/>
        </p:spPr>
        <p:txBody>
          <a:bodyPr wrap="none" lIns="0" tIns="0" rIns="0" bIns="0" rtlCol="0">
            <a:spAutoFit/>
          </a:bodyPr>
          <a:lstStyle/>
          <a:p>
            <a:r>
              <a:rPr lang="ru-RU" sz="1200" dirty="0"/>
              <a:t>Имя</a:t>
            </a:r>
          </a:p>
        </p:txBody>
      </p:sp>
      <p:sp>
        <p:nvSpPr>
          <p:cNvPr id="26" name="Прямоугольник 25">
            <a:extLst>
              <a:ext uri="{FF2B5EF4-FFF2-40B4-BE49-F238E27FC236}">
                <a16:creationId xmlns:a16="http://schemas.microsoft.com/office/drawing/2014/main" id="{4E8AA311-D333-EAF4-AB68-0B676E3A6085}"/>
              </a:ext>
            </a:extLst>
          </p:cNvPr>
          <p:cNvSpPr/>
          <p:nvPr/>
        </p:nvSpPr>
        <p:spPr>
          <a:xfrm>
            <a:off x="5087465" y="1628946"/>
            <a:ext cx="3833611" cy="33611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TextBox 26">
            <a:extLst>
              <a:ext uri="{FF2B5EF4-FFF2-40B4-BE49-F238E27FC236}">
                <a16:creationId xmlns:a16="http://schemas.microsoft.com/office/drawing/2014/main" id="{D0C6CC9B-35C9-54F9-BDBC-754E3DEB4432}"/>
              </a:ext>
            </a:extLst>
          </p:cNvPr>
          <p:cNvSpPr txBox="1"/>
          <p:nvPr/>
        </p:nvSpPr>
        <p:spPr>
          <a:xfrm>
            <a:off x="5230445" y="1704672"/>
            <a:ext cx="604333" cy="184666"/>
          </a:xfrm>
          <a:prstGeom prst="rect">
            <a:avLst/>
          </a:prstGeom>
          <a:noFill/>
        </p:spPr>
        <p:txBody>
          <a:bodyPr wrap="none" lIns="0" tIns="0" rIns="0" bIns="0" rtlCol="0">
            <a:spAutoFit/>
          </a:bodyPr>
          <a:lstStyle/>
          <a:p>
            <a:r>
              <a:rPr lang="ru-RU" sz="1200" dirty="0"/>
              <a:t>Фамилия</a:t>
            </a:r>
          </a:p>
        </p:txBody>
      </p:sp>
      <p:sp>
        <p:nvSpPr>
          <p:cNvPr id="28" name="Прямоугольник 27">
            <a:extLst>
              <a:ext uri="{FF2B5EF4-FFF2-40B4-BE49-F238E27FC236}">
                <a16:creationId xmlns:a16="http://schemas.microsoft.com/office/drawing/2014/main" id="{7499317B-A808-20AC-FC6F-51132443203E}"/>
              </a:ext>
            </a:extLst>
          </p:cNvPr>
          <p:cNvSpPr/>
          <p:nvPr/>
        </p:nvSpPr>
        <p:spPr>
          <a:xfrm>
            <a:off x="5087465" y="1987218"/>
            <a:ext cx="3833611" cy="33611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TextBox 28">
            <a:extLst>
              <a:ext uri="{FF2B5EF4-FFF2-40B4-BE49-F238E27FC236}">
                <a16:creationId xmlns:a16="http://schemas.microsoft.com/office/drawing/2014/main" id="{65C775B5-2BD0-0730-EE14-BA097BF0C0FB}"/>
              </a:ext>
            </a:extLst>
          </p:cNvPr>
          <p:cNvSpPr txBox="1"/>
          <p:nvPr/>
        </p:nvSpPr>
        <p:spPr>
          <a:xfrm>
            <a:off x="5230445" y="2062944"/>
            <a:ext cx="591509" cy="184666"/>
          </a:xfrm>
          <a:prstGeom prst="rect">
            <a:avLst/>
          </a:prstGeom>
          <a:noFill/>
        </p:spPr>
        <p:txBody>
          <a:bodyPr wrap="none" lIns="0" tIns="0" rIns="0" bIns="0" rtlCol="0">
            <a:spAutoFit/>
          </a:bodyPr>
          <a:lstStyle/>
          <a:p>
            <a:r>
              <a:rPr lang="ru-RU" sz="1200" dirty="0"/>
              <a:t>Отчество</a:t>
            </a:r>
          </a:p>
        </p:txBody>
      </p:sp>
      <p:sp>
        <p:nvSpPr>
          <p:cNvPr id="30" name="Прямоугольник 29">
            <a:extLst>
              <a:ext uri="{FF2B5EF4-FFF2-40B4-BE49-F238E27FC236}">
                <a16:creationId xmlns:a16="http://schemas.microsoft.com/office/drawing/2014/main" id="{423A8281-9D82-04CA-D1D2-CD763C35FDF8}"/>
              </a:ext>
            </a:extLst>
          </p:cNvPr>
          <p:cNvSpPr/>
          <p:nvPr/>
        </p:nvSpPr>
        <p:spPr>
          <a:xfrm>
            <a:off x="5087465" y="2399063"/>
            <a:ext cx="3833611" cy="33611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a:extLst>
              <a:ext uri="{FF2B5EF4-FFF2-40B4-BE49-F238E27FC236}">
                <a16:creationId xmlns:a16="http://schemas.microsoft.com/office/drawing/2014/main" id="{4648971E-98A2-0493-1BF9-0C62396AB53B}"/>
              </a:ext>
            </a:extLst>
          </p:cNvPr>
          <p:cNvSpPr txBox="1"/>
          <p:nvPr/>
        </p:nvSpPr>
        <p:spPr>
          <a:xfrm>
            <a:off x="5230445" y="2474789"/>
            <a:ext cx="436914" cy="184666"/>
          </a:xfrm>
          <a:prstGeom prst="rect">
            <a:avLst/>
          </a:prstGeom>
          <a:noFill/>
        </p:spPr>
        <p:txBody>
          <a:bodyPr wrap="none" lIns="0" tIns="0" rIns="0" bIns="0" rtlCol="0">
            <a:spAutoFit/>
          </a:bodyPr>
          <a:lstStyle/>
          <a:p>
            <a:r>
              <a:rPr lang="ru-RU" sz="1200" dirty="0"/>
              <a:t>Группа</a:t>
            </a:r>
          </a:p>
        </p:txBody>
      </p:sp>
      <p:sp>
        <p:nvSpPr>
          <p:cNvPr id="32" name="Прямоугольник 31">
            <a:extLst>
              <a:ext uri="{FF2B5EF4-FFF2-40B4-BE49-F238E27FC236}">
                <a16:creationId xmlns:a16="http://schemas.microsoft.com/office/drawing/2014/main" id="{A5B50B74-1015-08BE-6907-07960719C30C}"/>
              </a:ext>
            </a:extLst>
          </p:cNvPr>
          <p:cNvSpPr/>
          <p:nvPr/>
        </p:nvSpPr>
        <p:spPr>
          <a:xfrm>
            <a:off x="5087465" y="2813967"/>
            <a:ext cx="6806085" cy="59672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TextBox 32">
            <a:extLst>
              <a:ext uri="{FF2B5EF4-FFF2-40B4-BE49-F238E27FC236}">
                <a16:creationId xmlns:a16="http://schemas.microsoft.com/office/drawing/2014/main" id="{8348C181-576F-9DDE-A979-6A58AE81372A}"/>
              </a:ext>
            </a:extLst>
          </p:cNvPr>
          <p:cNvSpPr txBox="1"/>
          <p:nvPr/>
        </p:nvSpPr>
        <p:spPr>
          <a:xfrm>
            <a:off x="5230445" y="2889693"/>
            <a:ext cx="6602641" cy="369332"/>
          </a:xfrm>
          <a:prstGeom prst="rect">
            <a:avLst/>
          </a:prstGeom>
          <a:noFill/>
        </p:spPr>
        <p:txBody>
          <a:bodyPr wrap="none" lIns="0" tIns="0" rIns="0" bIns="0" rtlCol="0">
            <a:spAutoFit/>
          </a:bodyPr>
          <a:lstStyle/>
          <a:p>
            <a:r>
              <a:rPr lang="ru-RU" sz="1200" dirty="0"/>
              <a:t>История (бизнес логи перевод из группы перевод на следующий курс, смена данных, смена пароля,</a:t>
            </a:r>
            <a:br>
              <a:rPr lang="ru-RU" sz="1200" dirty="0"/>
            </a:br>
            <a:r>
              <a:rPr lang="ru-RU" sz="1200" dirty="0"/>
              <a:t> новые входы где и как)</a:t>
            </a:r>
          </a:p>
        </p:txBody>
      </p:sp>
      <p:sp>
        <p:nvSpPr>
          <p:cNvPr id="34" name="Прямоугольник 33">
            <a:extLst>
              <a:ext uri="{FF2B5EF4-FFF2-40B4-BE49-F238E27FC236}">
                <a16:creationId xmlns:a16="http://schemas.microsoft.com/office/drawing/2014/main" id="{B0DAEDCE-8F3B-C87A-87E3-FA10CCBB1EF0}"/>
              </a:ext>
            </a:extLst>
          </p:cNvPr>
          <p:cNvSpPr/>
          <p:nvPr/>
        </p:nvSpPr>
        <p:spPr>
          <a:xfrm>
            <a:off x="5087465" y="3473956"/>
            <a:ext cx="6806085" cy="6186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TextBox 34">
            <a:extLst>
              <a:ext uri="{FF2B5EF4-FFF2-40B4-BE49-F238E27FC236}">
                <a16:creationId xmlns:a16="http://schemas.microsoft.com/office/drawing/2014/main" id="{88821530-70C8-393A-11C2-2260642BF6EC}"/>
              </a:ext>
            </a:extLst>
          </p:cNvPr>
          <p:cNvSpPr txBox="1"/>
          <p:nvPr/>
        </p:nvSpPr>
        <p:spPr>
          <a:xfrm>
            <a:off x="5230445" y="3549683"/>
            <a:ext cx="6035435" cy="553998"/>
          </a:xfrm>
          <a:prstGeom prst="rect">
            <a:avLst/>
          </a:prstGeom>
          <a:noFill/>
        </p:spPr>
        <p:txBody>
          <a:bodyPr wrap="none" lIns="0" tIns="0" rIns="0" bIns="0" rtlCol="0">
            <a:spAutoFit/>
          </a:bodyPr>
          <a:lstStyle/>
          <a:p>
            <a:r>
              <a:rPr lang="ru-RU" sz="1200" dirty="0" err="1"/>
              <a:t>Доп</a:t>
            </a:r>
            <a:r>
              <a:rPr lang="ru-RU" sz="1200" dirty="0"/>
              <a:t> права (староста может назначить </a:t>
            </a:r>
            <a:r>
              <a:rPr lang="ru-RU" sz="1200" dirty="0" err="1"/>
              <a:t>помошников</a:t>
            </a:r>
            <a:r>
              <a:rPr lang="ru-RU" sz="1200" dirty="0"/>
              <a:t> и они могут выполнять определённые </a:t>
            </a:r>
            <a:br>
              <a:rPr lang="ru-RU" sz="1200" dirty="0"/>
            </a:br>
            <a:r>
              <a:rPr lang="ru-RU" sz="1200" dirty="0"/>
              <a:t>действия у них появляется вкладка староста и там не все станицы) + закреплено где сейчас </a:t>
            </a:r>
            <a:br>
              <a:rPr lang="ru-RU" sz="1200" dirty="0"/>
            </a:br>
            <a:r>
              <a:rPr lang="ru-RU" sz="1200" dirty="0"/>
              <a:t>вход в аккаунт выполнен</a:t>
            </a:r>
          </a:p>
        </p:txBody>
      </p:sp>
      <p:sp>
        <p:nvSpPr>
          <p:cNvPr id="36" name="Прямоугольник 35">
            <a:extLst>
              <a:ext uri="{FF2B5EF4-FFF2-40B4-BE49-F238E27FC236}">
                <a16:creationId xmlns:a16="http://schemas.microsoft.com/office/drawing/2014/main" id="{CB7A49E7-C3BA-7428-C416-22AE52FE408C}"/>
              </a:ext>
            </a:extLst>
          </p:cNvPr>
          <p:cNvSpPr/>
          <p:nvPr/>
        </p:nvSpPr>
        <p:spPr>
          <a:xfrm>
            <a:off x="5082988" y="4177928"/>
            <a:ext cx="6806085" cy="715008"/>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TextBox 36">
            <a:extLst>
              <a:ext uri="{FF2B5EF4-FFF2-40B4-BE49-F238E27FC236}">
                <a16:creationId xmlns:a16="http://schemas.microsoft.com/office/drawing/2014/main" id="{74A8D6FD-08DE-427E-DAB9-B12597F94412}"/>
              </a:ext>
            </a:extLst>
          </p:cNvPr>
          <p:cNvSpPr txBox="1"/>
          <p:nvPr/>
        </p:nvSpPr>
        <p:spPr>
          <a:xfrm>
            <a:off x="5196429" y="4259505"/>
            <a:ext cx="1093569" cy="184666"/>
          </a:xfrm>
          <a:prstGeom prst="rect">
            <a:avLst/>
          </a:prstGeom>
          <a:noFill/>
        </p:spPr>
        <p:txBody>
          <a:bodyPr wrap="none" lIns="0" tIns="0" rIns="0" bIns="0" rtlCol="0">
            <a:spAutoFit/>
          </a:bodyPr>
          <a:lstStyle/>
          <a:p>
            <a:r>
              <a:rPr lang="ru-RU" sz="1200" dirty="0"/>
              <a:t>Сменить пароль</a:t>
            </a:r>
          </a:p>
        </p:txBody>
      </p:sp>
      <p:sp>
        <p:nvSpPr>
          <p:cNvPr id="38" name="TextBox 37">
            <a:extLst>
              <a:ext uri="{FF2B5EF4-FFF2-40B4-BE49-F238E27FC236}">
                <a16:creationId xmlns:a16="http://schemas.microsoft.com/office/drawing/2014/main" id="{58C0F5D0-A4BC-5233-E893-5DC52C5BFC10}"/>
              </a:ext>
            </a:extLst>
          </p:cNvPr>
          <p:cNvSpPr txBox="1"/>
          <p:nvPr/>
        </p:nvSpPr>
        <p:spPr>
          <a:xfrm>
            <a:off x="5369601" y="4552362"/>
            <a:ext cx="971741" cy="184666"/>
          </a:xfrm>
          <a:prstGeom prst="rect">
            <a:avLst/>
          </a:prstGeom>
          <a:noFill/>
        </p:spPr>
        <p:txBody>
          <a:bodyPr wrap="none" lIns="0" tIns="0" rIns="0" bIns="0" rtlCol="0">
            <a:spAutoFit/>
          </a:bodyPr>
          <a:lstStyle/>
          <a:p>
            <a:r>
              <a:rPr lang="ru-RU" sz="1200" dirty="0"/>
              <a:t>Новый пароль</a:t>
            </a:r>
          </a:p>
        </p:txBody>
      </p:sp>
      <p:sp>
        <p:nvSpPr>
          <p:cNvPr id="39" name="TextBox 38">
            <a:extLst>
              <a:ext uri="{FF2B5EF4-FFF2-40B4-BE49-F238E27FC236}">
                <a16:creationId xmlns:a16="http://schemas.microsoft.com/office/drawing/2014/main" id="{099B523C-DB89-92C7-8168-03A27EB4E3EA}"/>
              </a:ext>
            </a:extLst>
          </p:cNvPr>
          <p:cNvSpPr txBox="1"/>
          <p:nvPr/>
        </p:nvSpPr>
        <p:spPr>
          <a:xfrm>
            <a:off x="6823751" y="4552362"/>
            <a:ext cx="1678536" cy="184666"/>
          </a:xfrm>
          <a:prstGeom prst="rect">
            <a:avLst/>
          </a:prstGeom>
          <a:noFill/>
        </p:spPr>
        <p:txBody>
          <a:bodyPr wrap="none" lIns="0" tIns="0" rIns="0" bIns="0" rtlCol="0">
            <a:spAutoFit/>
          </a:bodyPr>
          <a:lstStyle/>
          <a:p>
            <a:r>
              <a:rPr lang="ru-RU" sz="1200" dirty="0"/>
              <a:t>Повторить новый пароль</a:t>
            </a:r>
          </a:p>
        </p:txBody>
      </p:sp>
      <p:sp>
        <p:nvSpPr>
          <p:cNvPr id="40" name="Прямоугольник 39">
            <a:extLst>
              <a:ext uri="{FF2B5EF4-FFF2-40B4-BE49-F238E27FC236}">
                <a16:creationId xmlns:a16="http://schemas.microsoft.com/office/drawing/2014/main" id="{8F0857EA-1C6C-3227-0922-54FC000A741D}"/>
              </a:ext>
            </a:extLst>
          </p:cNvPr>
          <p:cNvSpPr/>
          <p:nvPr/>
        </p:nvSpPr>
        <p:spPr>
          <a:xfrm>
            <a:off x="5091036" y="5057107"/>
            <a:ext cx="1938413" cy="287628"/>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1" name="TextBox 40">
            <a:extLst>
              <a:ext uri="{FF2B5EF4-FFF2-40B4-BE49-F238E27FC236}">
                <a16:creationId xmlns:a16="http://schemas.microsoft.com/office/drawing/2014/main" id="{E04F75F9-57C0-159B-8E52-5FC3B3215DD8}"/>
              </a:ext>
            </a:extLst>
          </p:cNvPr>
          <p:cNvSpPr txBox="1"/>
          <p:nvPr/>
        </p:nvSpPr>
        <p:spPr>
          <a:xfrm>
            <a:off x="5179345" y="5110346"/>
            <a:ext cx="1734193" cy="184666"/>
          </a:xfrm>
          <a:prstGeom prst="rect">
            <a:avLst/>
          </a:prstGeom>
          <a:noFill/>
        </p:spPr>
        <p:txBody>
          <a:bodyPr wrap="none" lIns="0" tIns="0" rIns="0" bIns="0" rtlCol="0">
            <a:spAutoFit/>
          </a:bodyPr>
          <a:lstStyle/>
          <a:p>
            <a:r>
              <a:rPr lang="ru-RU" sz="1200" dirty="0"/>
              <a:t>Выйти на всех устройствах</a:t>
            </a:r>
          </a:p>
        </p:txBody>
      </p:sp>
      <p:sp>
        <p:nvSpPr>
          <p:cNvPr id="42" name="Прямоугольник 41">
            <a:extLst>
              <a:ext uri="{FF2B5EF4-FFF2-40B4-BE49-F238E27FC236}">
                <a16:creationId xmlns:a16="http://schemas.microsoft.com/office/drawing/2014/main" id="{10439C41-9E34-394E-AE20-F3F1B2227748}"/>
              </a:ext>
            </a:extLst>
          </p:cNvPr>
          <p:cNvSpPr/>
          <p:nvPr/>
        </p:nvSpPr>
        <p:spPr>
          <a:xfrm>
            <a:off x="9064056" y="1181531"/>
            <a:ext cx="2825017" cy="33611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3" name="TextBox 42">
            <a:extLst>
              <a:ext uri="{FF2B5EF4-FFF2-40B4-BE49-F238E27FC236}">
                <a16:creationId xmlns:a16="http://schemas.microsoft.com/office/drawing/2014/main" id="{F712BCC4-1DDE-5F5D-F857-D5E863EC45CA}"/>
              </a:ext>
            </a:extLst>
          </p:cNvPr>
          <p:cNvSpPr txBox="1"/>
          <p:nvPr/>
        </p:nvSpPr>
        <p:spPr>
          <a:xfrm>
            <a:off x="9207941" y="1257257"/>
            <a:ext cx="267894" cy="184666"/>
          </a:xfrm>
          <a:prstGeom prst="rect">
            <a:avLst/>
          </a:prstGeom>
          <a:noFill/>
        </p:spPr>
        <p:txBody>
          <a:bodyPr wrap="none" lIns="0" tIns="0" rIns="0" bIns="0" rtlCol="0">
            <a:spAutoFit/>
          </a:bodyPr>
          <a:lstStyle/>
          <a:p>
            <a:r>
              <a:rPr lang="ru-RU" sz="1200" dirty="0" err="1"/>
              <a:t>Тг</a:t>
            </a:r>
            <a:r>
              <a:rPr lang="ru-RU" sz="1200" dirty="0"/>
              <a:t> </a:t>
            </a:r>
            <a:r>
              <a:rPr lang="en-US" sz="1200" dirty="0"/>
              <a:t>id</a:t>
            </a:r>
            <a:endParaRPr lang="ru-RU" sz="1200" dirty="0"/>
          </a:p>
        </p:txBody>
      </p:sp>
      <p:sp>
        <p:nvSpPr>
          <p:cNvPr id="44" name="Прямоугольник 43">
            <a:extLst>
              <a:ext uri="{FF2B5EF4-FFF2-40B4-BE49-F238E27FC236}">
                <a16:creationId xmlns:a16="http://schemas.microsoft.com/office/drawing/2014/main" id="{D40356C9-3DD8-DD9D-06F0-DDA6043DE733}"/>
              </a:ext>
            </a:extLst>
          </p:cNvPr>
          <p:cNvSpPr/>
          <p:nvPr/>
        </p:nvSpPr>
        <p:spPr>
          <a:xfrm>
            <a:off x="9064056" y="1642176"/>
            <a:ext cx="2825017" cy="105700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TextBox 44">
            <a:extLst>
              <a:ext uri="{FF2B5EF4-FFF2-40B4-BE49-F238E27FC236}">
                <a16:creationId xmlns:a16="http://schemas.microsoft.com/office/drawing/2014/main" id="{B10DDF44-C75C-383E-E7C5-5D3AE0A78BF5}"/>
              </a:ext>
            </a:extLst>
          </p:cNvPr>
          <p:cNvSpPr txBox="1"/>
          <p:nvPr/>
        </p:nvSpPr>
        <p:spPr>
          <a:xfrm>
            <a:off x="9207941" y="1802552"/>
            <a:ext cx="1882631" cy="369332"/>
          </a:xfrm>
          <a:prstGeom prst="rect">
            <a:avLst/>
          </a:prstGeom>
          <a:noFill/>
        </p:spPr>
        <p:txBody>
          <a:bodyPr wrap="none" lIns="0" tIns="0" rIns="0" bIns="0" rtlCol="0">
            <a:spAutoFit/>
          </a:bodyPr>
          <a:lstStyle/>
          <a:p>
            <a:r>
              <a:rPr lang="en-US" sz="1200" dirty="0" err="1"/>
              <a:t>Qr</a:t>
            </a:r>
            <a:r>
              <a:rPr lang="en-US" sz="1200" dirty="0"/>
              <a:t> </a:t>
            </a:r>
            <a:r>
              <a:rPr lang="ru-RU" sz="1200" dirty="0"/>
              <a:t>код который сканируется </a:t>
            </a:r>
            <a:endParaRPr lang="en-US" sz="1200" dirty="0"/>
          </a:p>
          <a:p>
            <a:r>
              <a:rPr lang="ru-RU" sz="1200" dirty="0"/>
              <a:t>и входит в </a:t>
            </a:r>
            <a:r>
              <a:rPr lang="ru-RU" sz="1200" dirty="0" err="1"/>
              <a:t>лк</a:t>
            </a:r>
            <a:r>
              <a:rPr lang="ru-RU" sz="1200" dirty="0"/>
              <a:t> в </a:t>
            </a:r>
            <a:r>
              <a:rPr lang="en-US" sz="1200" dirty="0" err="1"/>
              <a:t>pwa</a:t>
            </a:r>
            <a:endParaRPr lang="ru-RU" sz="1200" dirty="0"/>
          </a:p>
        </p:txBody>
      </p:sp>
      <p:sp>
        <p:nvSpPr>
          <p:cNvPr id="46" name="TextBox 45">
            <a:extLst>
              <a:ext uri="{FF2B5EF4-FFF2-40B4-BE49-F238E27FC236}">
                <a16:creationId xmlns:a16="http://schemas.microsoft.com/office/drawing/2014/main" id="{0852DF65-8359-E86F-43F4-C619529DDD28}"/>
              </a:ext>
            </a:extLst>
          </p:cNvPr>
          <p:cNvSpPr txBox="1"/>
          <p:nvPr/>
        </p:nvSpPr>
        <p:spPr>
          <a:xfrm>
            <a:off x="191164" y="1909056"/>
            <a:ext cx="4376544" cy="169277"/>
          </a:xfrm>
          <a:prstGeom prst="rect">
            <a:avLst/>
          </a:prstGeom>
          <a:noFill/>
        </p:spPr>
        <p:txBody>
          <a:bodyPr wrap="square" lIns="0" tIns="0" rIns="0" bIns="0" rtlCol="0">
            <a:spAutoFit/>
          </a:bodyPr>
          <a:lstStyle/>
          <a:p>
            <a:r>
              <a:rPr lang="ru-RU" sz="1100" dirty="0"/>
              <a:t>2 – при смене пароля выходит автоматом из всех устройств</a:t>
            </a:r>
          </a:p>
        </p:txBody>
      </p:sp>
      <p:sp>
        <p:nvSpPr>
          <p:cNvPr id="47" name="TextBox 46">
            <a:extLst>
              <a:ext uri="{FF2B5EF4-FFF2-40B4-BE49-F238E27FC236}">
                <a16:creationId xmlns:a16="http://schemas.microsoft.com/office/drawing/2014/main" id="{851D9E44-48B9-1383-7C51-4B91CDBBDE75}"/>
              </a:ext>
            </a:extLst>
          </p:cNvPr>
          <p:cNvSpPr txBox="1"/>
          <p:nvPr/>
        </p:nvSpPr>
        <p:spPr>
          <a:xfrm>
            <a:off x="191164" y="2390150"/>
            <a:ext cx="4376544" cy="507831"/>
          </a:xfrm>
          <a:prstGeom prst="rect">
            <a:avLst/>
          </a:prstGeom>
          <a:noFill/>
        </p:spPr>
        <p:txBody>
          <a:bodyPr wrap="square" lIns="0" tIns="0" rIns="0" bIns="0" rtlCol="0">
            <a:spAutoFit/>
          </a:bodyPr>
          <a:lstStyle/>
          <a:p>
            <a:r>
              <a:rPr lang="en-US" sz="1100" dirty="0"/>
              <a:t>3 – </a:t>
            </a:r>
            <a:r>
              <a:rPr lang="ru-RU" sz="1100" dirty="0"/>
              <a:t>Имя, фамилию, отчество, группу</a:t>
            </a:r>
            <a:r>
              <a:rPr lang="en-US" sz="1100" dirty="0"/>
              <a:t>, id </a:t>
            </a:r>
            <a:r>
              <a:rPr lang="ru-RU" sz="1100" dirty="0" err="1"/>
              <a:t>доп</a:t>
            </a:r>
            <a:r>
              <a:rPr lang="ru-RU" sz="1100" dirty="0"/>
              <a:t> правила нельзя изменять студенту самому эти поля заблокированы и только староста может менять</a:t>
            </a:r>
          </a:p>
        </p:txBody>
      </p:sp>
    </p:spTree>
    <p:extLst>
      <p:ext uri="{BB962C8B-B14F-4D97-AF65-F5344CB8AC3E}">
        <p14:creationId xmlns:p14="http://schemas.microsoft.com/office/powerpoint/2010/main" val="2195630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BBF1D13-CE06-C806-8463-F69A90EE5805}"/>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108 – СТРАНИЦА СТУДЕНТ – НАСТРОЙКИ</a:t>
            </a:r>
          </a:p>
        </p:txBody>
      </p:sp>
      <p:sp>
        <p:nvSpPr>
          <p:cNvPr id="3" name="Прямоугольник 2">
            <a:extLst>
              <a:ext uri="{FF2B5EF4-FFF2-40B4-BE49-F238E27FC236}">
                <a16:creationId xmlns:a16="http://schemas.microsoft.com/office/drawing/2014/main" id="{2437AA22-DE2F-A879-84F5-0810F36EAB2D}"/>
              </a:ext>
            </a:extLst>
          </p:cNvPr>
          <p:cNvSpPr/>
          <p:nvPr/>
        </p:nvSpPr>
        <p:spPr>
          <a:xfrm>
            <a:off x="4800601" y="0"/>
            <a:ext cx="7391398"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Job </a:t>
            </a:r>
            <a:r>
              <a:rPr lang="ru-RU" dirty="0"/>
              <a:t>и</a:t>
            </a:r>
            <a:r>
              <a:rPr lang="en-US" dirty="0"/>
              <a:t> User Story</a:t>
            </a:r>
            <a:endParaRPr lang="ru-RU" dirty="0"/>
          </a:p>
        </p:txBody>
      </p:sp>
      <p:sp>
        <p:nvSpPr>
          <p:cNvPr id="5" name="TextBox 4">
            <a:extLst>
              <a:ext uri="{FF2B5EF4-FFF2-40B4-BE49-F238E27FC236}">
                <a16:creationId xmlns:a16="http://schemas.microsoft.com/office/drawing/2014/main" id="{E336B0A3-EADC-13E1-99CB-6B2A5EA9B5BD}"/>
              </a:ext>
            </a:extLst>
          </p:cNvPr>
          <p:cNvSpPr txBox="1"/>
          <p:nvPr/>
        </p:nvSpPr>
        <p:spPr>
          <a:xfrm>
            <a:off x="191164" y="1247804"/>
            <a:ext cx="4376544" cy="677108"/>
          </a:xfrm>
          <a:prstGeom prst="rect">
            <a:avLst/>
          </a:prstGeom>
          <a:noFill/>
        </p:spPr>
        <p:txBody>
          <a:bodyPr wrap="square" lIns="0" tIns="0" rIns="0" bIns="0" rtlCol="0">
            <a:spAutoFit/>
          </a:bodyPr>
          <a:lstStyle/>
          <a:p>
            <a:r>
              <a:rPr lang="ru-RU" sz="1100" dirty="0"/>
              <a:t>Студент должен иметь возможность задать новый пароль пока он в системе без ввода старого тк мог забыть но при этом если аккаунт перехватят то на странице входа есть всегда кнопка забыли пароль которая выкидывает всех из аккаунта когда пароль забыт</a:t>
            </a:r>
          </a:p>
        </p:txBody>
      </p:sp>
    </p:spTree>
    <p:extLst>
      <p:ext uri="{BB962C8B-B14F-4D97-AF65-F5344CB8AC3E}">
        <p14:creationId xmlns:p14="http://schemas.microsoft.com/office/powerpoint/2010/main" val="3981115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755DE34E-1F52-2BE9-468C-A5BC762F6445}"/>
              </a:ext>
            </a:extLst>
          </p:cNvPr>
          <p:cNvSpPr>
            <a:spLocks/>
          </p:cNvSpPr>
          <p:nvPr/>
        </p:nvSpPr>
        <p:spPr>
          <a:xfrm>
            <a:off x="4800600" y="0"/>
            <a:ext cx="7391399" cy="6858000"/>
          </a:xfrm>
          <a:prstGeom prst="rect">
            <a:avLst/>
          </a:prstGeom>
          <a:solidFill>
            <a:schemeClr val="bg1">
              <a:lumMod val="75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 name="Прямоугольник 4">
            <a:extLst>
              <a:ext uri="{FF2B5EF4-FFF2-40B4-BE49-F238E27FC236}">
                <a16:creationId xmlns:a16="http://schemas.microsoft.com/office/drawing/2014/main" id="{6B8CB585-D000-9D9E-13D0-F9ED93B0ED70}"/>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a:t>
            </a:r>
            <a:r>
              <a:rPr lang="en-US" dirty="0"/>
              <a:t>XXX</a:t>
            </a:r>
            <a:r>
              <a:rPr lang="ru-RU" dirty="0"/>
              <a:t> – СТРАНИЦА СТУДЕНТ – </a:t>
            </a:r>
            <a:r>
              <a:rPr lang="en-US" dirty="0"/>
              <a:t>XXX</a:t>
            </a:r>
            <a:endParaRPr lang="ru-RU" dirty="0"/>
          </a:p>
        </p:txBody>
      </p:sp>
      <p:sp>
        <p:nvSpPr>
          <p:cNvPr id="6" name="TextBox 5">
            <a:extLst>
              <a:ext uri="{FF2B5EF4-FFF2-40B4-BE49-F238E27FC236}">
                <a16:creationId xmlns:a16="http://schemas.microsoft.com/office/drawing/2014/main" id="{E79ED41E-EFB2-66F6-86F6-569FBF6A3540}"/>
              </a:ext>
            </a:extLst>
          </p:cNvPr>
          <p:cNvSpPr txBox="1"/>
          <p:nvPr/>
        </p:nvSpPr>
        <p:spPr>
          <a:xfrm>
            <a:off x="6119088" y="4708553"/>
            <a:ext cx="504946" cy="184666"/>
          </a:xfrm>
          <a:prstGeom prst="rect">
            <a:avLst/>
          </a:prstGeom>
          <a:noFill/>
        </p:spPr>
        <p:txBody>
          <a:bodyPr wrap="none" lIns="0" tIns="0" rIns="0" bIns="0" rtlCol="0">
            <a:spAutoFit/>
          </a:bodyPr>
          <a:lstStyle/>
          <a:p>
            <a:r>
              <a:rPr lang="ru-RU" sz="1200" dirty="0"/>
              <a:t>пример</a:t>
            </a:r>
          </a:p>
        </p:txBody>
      </p:sp>
      <p:sp>
        <p:nvSpPr>
          <p:cNvPr id="7" name="TextBox 6">
            <a:extLst>
              <a:ext uri="{FF2B5EF4-FFF2-40B4-BE49-F238E27FC236}">
                <a16:creationId xmlns:a16="http://schemas.microsoft.com/office/drawing/2014/main" id="{F4A6BACE-FADE-7E5D-4C20-821ABD1C29EE}"/>
              </a:ext>
            </a:extLst>
          </p:cNvPr>
          <p:cNvSpPr txBox="1"/>
          <p:nvPr/>
        </p:nvSpPr>
        <p:spPr>
          <a:xfrm>
            <a:off x="191164" y="1110702"/>
            <a:ext cx="4376544" cy="169277"/>
          </a:xfrm>
          <a:prstGeom prst="rect">
            <a:avLst/>
          </a:prstGeom>
          <a:noFill/>
        </p:spPr>
        <p:txBody>
          <a:bodyPr wrap="square" lIns="0" tIns="0" rIns="0" bIns="0" rtlCol="0">
            <a:spAutoFit/>
          </a:bodyPr>
          <a:lstStyle/>
          <a:p>
            <a:r>
              <a:rPr lang="en-US" sz="1100" dirty="0"/>
              <a:t>-----------</a:t>
            </a:r>
            <a:endParaRPr lang="ru-RU" sz="1100" dirty="0"/>
          </a:p>
        </p:txBody>
      </p:sp>
    </p:spTree>
    <p:extLst>
      <p:ext uri="{BB962C8B-B14F-4D97-AF65-F5344CB8AC3E}">
        <p14:creationId xmlns:p14="http://schemas.microsoft.com/office/powerpoint/2010/main" val="2778617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BBF1D13-CE06-C806-8463-F69A90EE5805}"/>
              </a:ext>
            </a:extLst>
          </p:cNvPr>
          <p:cNvSpPr/>
          <p:nvPr/>
        </p:nvSpPr>
        <p:spPr>
          <a:xfrm>
            <a:off x="1" y="0"/>
            <a:ext cx="48006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ПК – </a:t>
            </a:r>
            <a:r>
              <a:rPr lang="en-US" dirty="0"/>
              <a:t>XXX</a:t>
            </a:r>
            <a:r>
              <a:rPr lang="ru-RU" dirty="0"/>
              <a:t> – СТРАНИЦА СТУДЕНТ – </a:t>
            </a:r>
            <a:r>
              <a:rPr lang="en-US" dirty="0"/>
              <a:t>XXX</a:t>
            </a:r>
            <a:endParaRPr lang="ru-RU" dirty="0"/>
          </a:p>
        </p:txBody>
      </p:sp>
      <p:sp>
        <p:nvSpPr>
          <p:cNvPr id="3" name="Прямоугольник 2">
            <a:extLst>
              <a:ext uri="{FF2B5EF4-FFF2-40B4-BE49-F238E27FC236}">
                <a16:creationId xmlns:a16="http://schemas.microsoft.com/office/drawing/2014/main" id="{2437AA22-DE2F-A879-84F5-0810F36EAB2D}"/>
              </a:ext>
            </a:extLst>
          </p:cNvPr>
          <p:cNvSpPr/>
          <p:nvPr/>
        </p:nvSpPr>
        <p:spPr>
          <a:xfrm>
            <a:off x="4800601" y="0"/>
            <a:ext cx="7391398"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Job </a:t>
            </a:r>
            <a:r>
              <a:rPr lang="ru-RU" dirty="0"/>
              <a:t>и</a:t>
            </a:r>
            <a:r>
              <a:rPr lang="en-US" dirty="0"/>
              <a:t> User Story</a:t>
            </a:r>
            <a:endParaRPr lang="ru-RU" dirty="0"/>
          </a:p>
        </p:txBody>
      </p:sp>
      <p:sp>
        <p:nvSpPr>
          <p:cNvPr id="5" name="TextBox 4">
            <a:extLst>
              <a:ext uri="{FF2B5EF4-FFF2-40B4-BE49-F238E27FC236}">
                <a16:creationId xmlns:a16="http://schemas.microsoft.com/office/drawing/2014/main" id="{E336B0A3-EADC-13E1-99CB-6B2A5EA9B5BD}"/>
              </a:ext>
            </a:extLst>
          </p:cNvPr>
          <p:cNvSpPr txBox="1"/>
          <p:nvPr/>
        </p:nvSpPr>
        <p:spPr>
          <a:xfrm>
            <a:off x="191164" y="1247804"/>
            <a:ext cx="4376544" cy="169277"/>
          </a:xfrm>
          <a:prstGeom prst="rect">
            <a:avLst/>
          </a:prstGeom>
          <a:noFill/>
        </p:spPr>
        <p:txBody>
          <a:bodyPr wrap="square" lIns="0" tIns="0" rIns="0" bIns="0" rtlCol="0">
            <a:spAutoFit/>
          </a:bodyPr>
          <a:lstStyle/>
          <a:p>
            <a:r>
              <a:rPr lang="en-US" sz="1100" dirty="0"/>
              <a:t>-------</a:t>
            </a:r>
            <a:endParaRPr lang="ru-RU" sz="1100" dirty="0"/>
          </a:p>
        </p:txBody>
      </p:sp>
    </p:spTree>
    <p:extLst>
      <p:ext uri="{BB962C8B-B14F-4D97-AF65-F5344CB8AC3E}">
        <p14:creationId xmlns:p14="http://schemas.microsoft.com/office/powerpoint/2010/main" val="263786972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TotalTime>
  <Words>2855</Words>
  <Application>Microsoft Office PowerPoint</Application>
  <PresentationFormat>Широкоэкранный</PresentationFormat>
  <Paragraphs>413</Paragraphs>
  <Slides>16</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16</vt:i4>
      </vt:variant>
    </vt:vector>
  </HeadingPairs>
  <TitlesOfParts>
    <vt:vector size="20" baseType="lpstr">
      <vt:lpstr>Aptos</vt:lpstr>
      <vt:lpstr>Aptos Display</vt:lpstr>
      <vt:lpstr>Arial</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keysoft.store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Максим Дитковский</dc:creator>
  <cp:lastModifiedBy>Максим Дитковский</cp:lastModifiedBy>
  <cp:revision>63</cp:revision>
  <dcterms:created xsi:type="dcterms:W3CDTF">2026-07-26T18:25:54Z</dcterms:created>
  <dcterms:modified xsi:type="dcterms:W3CDTF">2026-07-27T18:28:13Z</dcterms:modified>
</cp:coreProperties>
</file>