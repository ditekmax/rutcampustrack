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блон" id="{4DD11FBA-B191-4B1E-971F-D97CDC2B6974}">
          <p14:sldIdLst>
            <p14:sldId id="266"/>
            <p14:sldId id="267"/>
          </p14:sldIdLst>
        </p14:section>
        <p14:section name="Основное" id="{CC88E232-BA83-4225-8890-46513D803968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16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761" y="46"/>
      </p:cViewPr>
      <p:guideLst>
        <p:guide orient="horz" pos="2160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569F4-EA2A-B274-9068-9C3FD8209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6F417E-E8CF-0F59-D7FC-A4E946122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05DD81-22AC-451A-0742-A4BA8D88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F7D94C-3AFD-260A-82F1-AA0B88B3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692FD4-9453-257E-C141-F08B51FB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13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E8FDA-CC55-8607-8E11-2E4B9B0E0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091937-6B20-29E5-15E7-BC48618D7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CE2E3-F7E7-5625-F292-0150960B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EFD9E9-E8AB-7C62-AE72-F38759BB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21C42C-59A7-70EF-F9C6-BE2FD5804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17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65528-1992-AF4B-5B19-C8B13FB4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724451-E787-604A-56F2-B27B2E608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24E030-8B97-8144-5AAB-FDE966E0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242DA1-D14D-F6D3-6A1C-34CDDC59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E2E281-92B4-CF94-C040-E1026345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5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FD110-692D-530C-4215-A11E9FC0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607DB8-3A30-9518-06BB-9E917D12F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B89088-2C18-D458-72AE-93660425E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C9D276-DC2C-B324-D2A2-A6535379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729F3A-C942-FB7C-3A24-1B5821EE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953408-2055-33DC-1D8F-618C657B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16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0A29B-3F48-934B-4B8D-BC9DD7C7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923FF0-5FF5-DDDB-9843-D6BFDE675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987B02-CB4B-9F6D-06CD-341256686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23254D-71DA-0F8B-91AA-BAB5E8BE2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767F756-2892-F272-45B1-E30E1D58F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74BE57D-50EC-E511-D2D6-FBAD005B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7B8031-E378-CC53-4D2D-48ACEEEA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48247F-F0CE-FCD3-7565-CB2C40F1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021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E0E1-69E2-13BD-990E-52A1533B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C748F94-3E74-02BD-7185-2CB0B132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15B8B2-46CD-775E-7A40-5F6A35C9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4C014-E834-3FC4-10E2-EC0714FE7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70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BD2EAD2-0655-E14D-880B-B45EC1B1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B16F70-4866-DD38-A2DB-7208D286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A4F78C-8361-1FD2-422A-87F40F45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75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C2F0E-59A8-7476-180B-5F211613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93A0F-BCC9-F5D2-3736-6D6BE1E8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782033-0C85-16BC-26DD-B16479737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32DE48-88DD-B8DA-5909-29F36D96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066BF1-1304-B99A-87D6-AD3EA37E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DC220F-FA37-166B-9437-2D64DC20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43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A1543-9368-2EA2-045D-730F85B3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4A546D-9B5F-A07C-DEE1-BFB1A9E2B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C69CBE-C764-A103-D40C-84AAA6A49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AD4AA0-124A-9A38-52FF-10A08308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4CE48B-36AC-8223-B743-271CF1C6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21E882-15B5-F6EA-583A-5CEC10C5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36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4D03E-87AD-0FD3-01D7-429DAE0F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9B4D04-1567-AC48-1C7B-EF72FDD6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5B488-9029-6DDA-617E-03241ECF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B3449D-2E69-D639-8689-8C483B3A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6E826-B435-84AA-7369-F1CC503C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97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41BAA4-0D15-ABF8-B9D7-926BC4C78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888BD4-C4BD-3EC9-E75C-D10FCB408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A7A7A5-1CBF-D669-F7F1-ECC6C69F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10F88-E32F-BF23-2C81-A93B81C7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685E8B-9B4A-07DF-6376-F153348A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12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087D8-D170-D99B-0714-1CB210746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6813D0-E2B7-AEAE-3E85-6D26BF65C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39790-1451-154C-C658-47CE211D5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E0483D-FA3F-FBAF-5D41-B11D03C48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D949BC-D067-73FF-27E8-06E65C8B2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62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СТАРОСТА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ED41E-EFB2-66F6-86F6-569FBF6A3540}"/>
              </a:ext>
            </a:extLst>
          </p:cNvPr>
          <p:cNvSpPr txBox="1"/>
          <p:nvPr/>
        </p:nvSpPr>
        <p:spPr>
          <a:xfrm>
            <a:off x="6119088" y="4708553"/>
            <a:ext cx="50494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778617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СТАРОСТА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637869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111 – СТРАНИЦА СТАРОСТА – ГЛАВНАЯ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1 – </a:t>
            </a:r>
            <a:r>
              <a:rPr lang="ru-RU" sz="1100" dirty="0"/>
              <a:t>тк староста это отдельный флаг (пока потом может как-то пересмотреть и выделять в отдельную таблицу) и есть </a:t>
            </a:r>
            <a:r>
              <a:rPr lang="ru-RU" sz="1100" dirty="0" err="1"/>
              <a:t>помошники</a:t>
            </a:r>
            <a:r>
              <a:rPr lang="ru-RU" sz="1100" dirty="0"/>
              <a:t> с правами (надо согласовать права и проверить их) то в зависимости от этого появляются </a:t>
            </a:r>
            <a:r>
              <a:rPr lang="ru-RU" sz="1100" dirty="0" err="1"/>
              <a:t>доп</a:t>
            </a:r>
            <a:r>
              <a:rPr lang="ru-RU" sz="1100" dirty="0"/>
              <a:t> функции у тех кому права выданы эти.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F1F291-5236-09E8-696B-3BFD3F9BB9FA}"/>
              </a:ext>
            </a:extLst>
          </p:cNvPr>
          <p:cNvSpPr txBox="1"/>
          <p:nvPr/>
        </p:nvSpPr>
        <p:spPr>
          <a:xfrm>
            <a:off x="191164" y="1928387"/>
            <a:ext cx="4376544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2 – я думаю что у обычных студентов так же появляется переключение вкладок старосты и студента и после этого там только определённые права (страницы блоки)</a:t>
            </a: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36F6554A-B893-B6C7-E234-934FF5049B8A}"/>
              </a:ext>
            </a:extLst>
          </p:cNvPr>
          <p:cNvGrpSpPr/>
          <p:nvPr/>
        </p:nvGrpSpPr>
        <p:grpSpPr>
          <a:xfrm>
            <a:off x="4928315" y="96316"/>
            <a:ext cx="7180627" cy="1014386"/>
            <a:chOff x="4928315" y="96316"/>
            <a:chExt cx="7180627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B10A0EA4-A7B1-4DA5-0556-E1F805715BA0}"/>
                </a:ext>
              </a:extLst>
            </p:cNvPr>
            <p:cNvGrpSpPr/>
            <p:nvPr/>
          </p:nvGrpSpPr>
          <p:grpSpPr>
            <a:xfrm>
              <a:off x="4928315" y="128790"/>
              <a:ext cx="1614152" cy="287630"/>
              <a:chOff x="1803042" y="2137890"/>
              <a:chExt cx="1747234" cy="523744"/>
            </a:xfrm>
          </p:grpSpPr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B801F8FB-C38B-8508-F527-0427081FF65C}"/>
                  </a:ext>
                </a:extLst>
              </p:cNvPr>
              <p:cNvSpPr/>
              <p:nvPr/>
            </p:nvSpPr>
            <p:spPr>
              <a:xfrm>
                <a:off x="1803042" y="2137893"/>
                <a:ext cx="1747234" cy="52374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9" name="Группа 8">
                <a:extLst>
                  <a:ext uri="{FF2B5EF4-FFF2-40B4-BE49-F238E27FC236}">
                    <a16:creationId xmlns:a16="http://schemas.microsoft.com/office/drawing/2014/main" id="{516635B6-3E4F-9861-DBAE-084952D8EC89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1419940" cy="277001"/>
                <a:chOff x="2082085" y="1725766"/>
                <a:chExt cx="1419940" cy="277001"/>
              </a:xfrm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D7983E3-E257-AD4F-7FFD-A24D83AEDA63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4C0D272-2D05-89BA-3F8B-AFBC80FE3BE8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</p:grpSp>
        </p:grpSp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B60A18A5-899E-24CA-A57A-B968099AA982}"/>
                </a:ext>
              </a:extLst>
            </p:cNvPr>
            <p:cNvGrpSpPr/>
            <p:nvPr/>
          </p:nvGrpSpPr>
          <p:grpSpPr>
            <a:xfrm>
              <a:off x="10908405" y="96316"/>
              <a:ext cx="1200537" cy="1014386"/>
              <a:chOff x="10908405" y="96316"/>
              <a:chExt cx="1200537" cy="1014386"/>
            </a:xfrm>
          </p:grpSpPr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A5095D2C-BA1A-F709-18E6-54DC632EC6D1}"/>
                  </a:ext>
                </a:extLst>
              </p:cNvPr>
              <p:cNvSpPr/>
              <p:nvPr/>
            </p:nvSpPr>
            <p:spPr>
              <a:xfrm>
                <a:off x="11638209" y="96316"/>
                <a:ext cx="369194" cy="36919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3675E78-3A8C-9B65-A7CF-7FDEAF51A08A}"/>
                  </a:ext>
                </a:extLst>
              </p:cNvPr>
              <p:cNvSpPr txBox="1"/>
              <p:nvPr/>
            </p:nvSpPr>
            <p:spPr>
              <a:xfrm>
                <a:off x="11536669" y="188580"/>
                <a:ext cx="5722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профиль</a:t>
                </a:r>
              </a:p>
            </p:txBody>
          </p:sp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92F152D1-CB5A-CDBD-D0EB-6629AD5DD73B}"/>
                  </a:ext>
                </a:extLst>
              </p:cNvPr>
              <p:cNvGrpSpPr/>
              <p:nvPr/>
            </p:nvGrpSpPr>
            <p:grpSpPr>
              <a:xfrm>
                <a:off x="10908405" y="513981"/>
                <a:ext cx="1167685" cy="596721"/>
                <a:chOff x="10908405" y="513981"/>
                <a:chExt cx="1167685" cy="596721"/>
              </a:xfrm>
            </p:grpSpPr>
            <p:sp>
              <p:nvSpPr>
                <p:cNvPr id="22" name="Прямоугольник 21">
                  <a:extLst>
                    <a:ext uri="{FF2B5EF4-FFF2-40B4-BE49-F238E27FC236}">
                      <a16:creationId xmlns:a16="http://schemas.microsoft.com/office/drawing/2014/main" id="{95EC88FF-6462-FBE8-A734-97D2A1E6107D}"/>
                    </a:ext>
                  </a:extLst>
                </p:cNvPr>
                <p:cNvSpPr/>
                <p:nvPr/>
              </p:nvSpPr>
              <p:spPr>
                <a:xfrm>
                  <a:off x="10908405" y="513981"/>
                  <a:ext cx="1167685" cy="59672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5809754-CA68-EBF3-E828-C0F128F744CF}"/>
                    </a:ext>
                  </a:extLst>
                </p:cNvPr>
                <p:cNvSpPr txBox="1"/>
                <p:nvPr/>
              </p:nvSpPr>
              <p:spPr>
                <a:xfrm>
                  <a:off x="11032536" y="603721"/>
                  <a:ext cx="69570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ru-RU" sz="1200" dirty="0"/>
                    <a:t>Настройки</a:t>
                  </a:r>
                  <a:br>
                    <a:rPr lang="ru-RU" sz="1200" dirty="0"/>
                  </a:br>
                  <a:r>
                    <a:rPr lang="ru-RU" sz="1200" dirty="0"/>
                    <a:t>Выход</a:t>
                  </a:r>
                </a:p>
              </p:txBody>
            </p:sp>
          </p:grpSp>
        </p:grp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2E4ED1E6-4D37-39B9-2B3F-067390195686}"/>
                </a:ext>
              </a:extLst>
            </p:cNvPr>
            <p:cNvGrpSpPr/>
            <p:nvPr/>
          </p:nvGrpSpPr>
          <p:grpSpPr>
            <a:xfrm>
              <a:off x="4928315" y="598868"/>
              <a:ext cx="5786147" cy="407865"/>
              <a:chOff x="4928315" y="598868"/>
              <a:chExt cx="5786147" cy="40786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E2DDB1-120B-548D-541F-C2964F25FEEA}"/>
                  </a:ext>
                </a:extLst>
              </p:cNvPr>
              <p:cNvSpPr txBox="1"/>
              <p:nvPr/>
            </p:nvSpPr>
            <p:spPr>
              <a:xfrm>
                <a:off x="4928315" y="598868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BA7004-EDDA-1C46-273B-9F39838E7FE6}"/>
                  </a:ext>
                </a:extLst>
              </p:cNvPr>
              <p:cNvSpPr txBox="1"/>
              <p:nvPr/>
            </p:nvSpPr>
            <p:spPr>
              <a:xfrm>
                <a:off x="5622074" y="598868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288724-FBD3-27B0-3DE0-E8F110836E7B}"/>
                  </a:ext>
                </a:extLst>
              </p:cNvPr>
              <p:cNvSpPr txBox="1"/>
              <p:nvPr/>
            </p:nvSpPr>
            <p:spPr>
              <a:xfrm>
                <a:off x="6766662" y="598868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CDDBBB-0C72-24B6-7021-0C7ECBB47EEE}"/>
                  </a:ext>
                </a:extLst>
              </p:cNvPr>
              <p:cNvSpPr txBox="1"/>
              <p:nvPr/>
            </p:nvSpPr>
            <p:spPr>
              <a:xfrm>
                <a:off x="7651369" y="598868"/>
                <a:ext cx="12697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домашнее задание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56AC78-9D99-C20C-B024-0A67B015D53A}"/>
                  </a:ext>
                </a:extLst>
              </p:cNvPr>
              <p:cNvSpPr txBox="1"/>
              <p:nvPr/>
            </p:nvSpPr>
            <p:spPr>
              <a:xfrm>
                <a:off x="9112773" y="598868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D68101-327E-1410-EC93-69C7053B4DD6}"/>
                  </a:ext>
                </a:extLst>
              </p:cNvPr>
              <p:cNvSpPr txBox="1"/>
              <p:nvPr/>
            </p:nvSpPr>
            <p:spPr>
              <a:xfrm>
                <a:off x="9666868" y="598868"/>
                <a:ext cx="10475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заявки и тикеты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27F875-1C49-3B61-49DF-11BF861D8DA2}"/>
                  </a:ext>
                </a:extLst>
              </p:cNvPr>
              <p:cNvSpPr txBox="1"/>
              <p:nvPr/>
            </p:nvSpPr>
            <p:spPr>
              <a:xfrm>
                <a:off x="4928315" y="822067"/>
                <a:ext cx="43691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Группа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5D2ECD-CAD6-1738-5247-8BFF5D9D9536}"/>
                  </a:ext>
                </a:extLst>
              </p:cNvPr>
              <p:cNvSpPr txBox="1"/>
              <p:nvPr/>
            </p:nvSpPr>
            <p:spPr>
              <a:xfrm>
                <a:off x="5829526" y="822067"/>
                <a:ext cx="680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Предметы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FBEFE76-2753-CB03-C985-A224850E1AEE}"/>
                  </a:ext>
                </a:extLst>
              </p:cNvPr>
              <p:cNvSpPr txBox="1"/>
              <p:nvPr/>
            </p:nvSpPr>
            <p:spPr>
              <a:xfrm>
                <a:off x="6848393" y="822067"/>
                <a:ext cx="160595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Конструктор расписания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5495E72-C38B-962E-B166-89B39CEE14BE}"/>
                  </a:ext>
                </a:extLst>
              </p:cNvPr>
              <p:cNvSpPr txBox="1"/>
              <p:nvPr/>
            </p:nvSpPr>
            <p:spPr>
              <a:xfrm>
                <a:off x="8687237" y="822067"/>
                <a:ext cx="134626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Управление парами</a:t>
                </a:r>
              </a:p>
            </p:txBody>
          </p:sp>
        </p:grpSp>
      </p:grp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90E5572-0929-A8B9-D1B7-28C3118ED39D}"/>
              </a:ext>
            </a:extLst>
          </p:cNvPr>
          <p:cNvSpPr/>
          <p:nvPr/>
        </p:nvSpPr>
        <p:spPr>
          <a:xfrm>
            <a:off x="5042388" y="1257300"/>
            <a:ext cx="3341077" cy="6022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918E61-3960-5704-BCAF-D969D7B9EE52}"/>
              </a:ext>
            </a:extLst>
          </p:cNvPr>
          <p:cNvSpPr txBox="1"/>
          <p:nvPr/>
        </p:nvSpPr>
        <p:spPr>
          <a:xfrm>
            <a:off x="5179345" y="1358384"/>
            <a:ext cx="272843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отметок «+» на паре из всего </a:t>
            </a:r>
            <a:endParaRPr lang="en-US" sz="1200" dirty="0"/>
          </a:p>
          <a:p>
            <a:r>
              <a:rPr lang="ru-RU" sz="1200" dirty="0"/>
              <a:t>количества студентов этой группы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AEA65F9-19FC-9633-2721-290CE5071809}"/>
              </a:ext>
            </a:extLst>
          </p:cNvPr>
          <p:cNvSpPr/>
          <p:nvPr/>
        </p:nvSpPr>
        <p:spPr>
          <a:xfrm>
            <a:off x="8559311" y="1257300"/>
            <a:ext cx="3341077" cy="6022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9819C2-69DD-BBEC-1353-F928627914DE}"/>
              </a:ext>
            </a:extLst>
          </p:cNvPr>
          <p:cNvSpPr txBox="1"/>
          <p:nvPr/>
        </p:nvSpPr>
        <p:spPr>
          <a:xfrm>
            <a:off x="8696268" y="1358384"/>
            <a:ext cx="272843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отметок «у» на паре из всего </a:t>
            </a:r>
            <a:endParaRPr lang="en-US" sz="1200" dirty="0"/>
          </a:p>
          <a:p>
            <a:r>
              <a:rPr lang="ru-RU" sz="1200" dirty="0"/>
              <a:t>количества студентов этой группы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2127125-7C34-DF91-28AA-81A328746A09}"/>
              </a:ext>
            </a:extLst>
          </p:cNvPr>
          <p:cNvSpPr/>
          <p:nvPr/>
        </p:nvSpPr>
        <p:spPr>
          <a:xfrm>
            <a:off x="5042388" y="1928387"/>
            <a:ext cx="3341077" cy="24150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AC392D-FFBD-ABD6-4701-A3DED20FC68A}"/>
              </a:ext>
            </a:extLst>
          </p:cNvPr>
          <p:cNvSpPr txBox="1"/>
          <p:nvPr/>
        </p:nvSpPr>
        <p:spPr>
          <a:xfrm>
            <a:off x="5229389" y="2534816"/>
            <a:ext cx="24513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Ручная отметка именно на этой паре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7BC1FB-4EFE-4E63-B2EF-9BF027109F23}"/>
              </a:ext>
            </a:extLst>
          </p:cNvPr>
          <p:cNvSpPr txBox="1"/>
          <p:nvPr/>
        </p:nvSpPr>
        <p:spPr>
          <a:xfrm>
            <a:off x="5229389" y="2040834"/>
            <a:ext cx="493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&lt;-       -&gt;</a:t>
            </a:r>
            <a:endParaRPr lang="ru-RU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E0C765-3968-F7F4-BFDB-E1A4E87F8FAE}"/>
              </a:ext>
            </a:extLst>
          </p:cNvPr>
          <p:cNvSpPr txBox="1"/>
          <p:nvPr/>
        </p:nvSpPr>
        <p:spPr>
          <a:xfrm>
            <a:off x="191164" y="2576795"/>
            <a:ext cx="4376544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3 – </a:t>
            </a:r>
            <a:r>
              <a:rPr lang="ru-RU" sz="1100" dirty="0"/>
              <a:t>в ручной отметке есть окно оно имеет внутренний </a:t>
            </a:r>
            <a:r>
              <a:rPr lang="ru-RU" sz="1100" dirty="0" err="1"/>
              <a:t>скрол</a:t>
            </a:r>
            <a:r>
              <a:rPr lang="ru-RU" sz="1100" dirty="0"/>
              <a:t> отдельный от страницы и там есть </a:t>
            </a:r>
            <a:r>
              <a:rPr lang="ru-RU" sz="1100" dirty="0" err="1"/>
              <a:t>списко</a:t>
            </a:r>
            <a:r>
              <a:rPr lang="ru-RU" sz="1100" dirty="0"/>
              <a:t> группы и справа статусы которые можно поставить, староста так же должен видеть сам ли отметился студент или староста отметил вручную себя сам (проверить </a:t>
            </a:r>
            <a:r>
              <a:rPr lang="ru-RU" sz="1100" dirty="0" err="1"/>
              <a:t>бекенд</a:t>
            </a:r>
            <a:r>
              <a:rPr lang="ru-RU" sz="1100" dirty="0"/>
              <a:t> на наличие этого). Это окно активно на конкретную пару  так что там есть сверху название что за пара и есть кнопки переключения пары в текущем дне (именно только текущий день)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BCEA6D-473B-0A14-3C18-42881B27B75F}"/>
              </a:ext>
            </a:extLst>
          </p:cNvPr>
          <p:cNvSpPr txBox="1"/>
          <p:nvPr/>
        </p:nvSpPr>
        <p:spPr>
          <a:xfrm>
            <a:off x="5229389" y="2287825"/>
            <a:ext cx="235712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Название, время пары, тип занятия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972EEB66-021D-CF73-BF90-A651105DB797}"/>
              </a:ext>
            </a:extLst>
          </p:cNvPr>
          <p:cNvSpPr/>
          <p:nvPr/>
        </p:nvSpPr>
        <p:spPr>
          <a:xfrm>
            <a:off x="8559310" y="1928386"/>
            <a:ext cx="3341077" cy="24150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C727EA-248B-CF47-FC5D-84B43411AE04}"/>
              </a:ext>
            </a:extLst>
          </p:cNvPr>
          <p:cNvSpPr txBox="1"/>
          <p:nvPr/>
        </p:nvSpPr>
        <p:spPr>
          <a:xfrm>
            <a:off x="8802125" y="2527986"/>
            <a:ext cx="2841291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Статистика по текущей паре как </a:t>
            </a:r>
          </a:p>
          <a:p>
            <a:r>
              <a:rPr lang="ru-RU" sz="1200" dirty="0"/>
              <a:t>отмечались студенты и во сколько, а </a:t>
            </a:r>
            <a:br>
              <a:rPr lang="ru-RU" sz="1200" dirty="0"/>
            </a:br>
            <a:r>
              <a:rPr lang="ru-RU" sz="1200" dirty="0"/>
              <a:t>так же расстояние которое от центра круга </a:t>
            </a:r>
            <a:br>
              <a:rPr lang="ru-RU" sz="1200" dirty="0"/>
            </a:br>
            <a:r>
              <a:rPr lang="ru-RU" sz="1200" dirty="0"/>
              <a:t>по </a:t>
            </a:r>
            <a:r>
              <a:rPr lang="ru-RU" sz="1200" dirty="0" err="1"/>
              <a:t>гео</a:t>
            </a:r>
            <a:r>
              <a:rPr lang="ru-RU" sz="1200" dirty="0"/>
              <a:t>, просто журнал (бизнес лог </a:t>
            </a:r>
          </a:p>
          <a:p>
            <a:r>
              <a:rPr lang="ru-RU" sz="1200" dirty="0"/>
              <a:t>действий студентов группы)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86BB7F-AD0E-F3BA-C33B-74B03324161E}"/>
              </a:ext>
            </a:extLst>
          </p:cNvPr>
          <p:cNvSpPr txBox="1"/>
          <p:nvPr/>
        </p:nvSpPr>
        <p:spPr>
          <a:xfrm>
            <a:off x="8802125" y="2040834"/>
            <a:ext cx="493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&lt;-       -&gt;</a:t>
            </a:r>
            <a:endParaRPr lang="ru-RU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A7802-8A72-5F5B-AE18-C868E6F2B2A6}"/>
              </a:ext>
            </a:extLst>
          </p:cNvPr>
          <p:cNvSpPr txBox="1"/>
          <p:nvPr/>
        </p:nvSpPr>
        <p:spPr>
          <a:xfrm>
            <a:off x="8802125" y="2287825"/>
            <a:ext cx="235712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Название, время пары, тип занятия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C97003-CEC0-3CC1-131C-B0788A32065A}"/>
              </a:ext>
            </a:extLst>
          </p:cNvPr>
          <p:cNvSpPr txBox="1"/>
          <p:nvPr/>
        </p:nvSpPr>
        <p:spPr>
          <a:xfrm>
            <a:off x="8802125" y="3496917"/>
            <a:ext cx="3083280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Переключаются дни независимо от </a:t>
            </a:r>
            <a:br>
              <a:rPr lang="ru-RU" sz="1200" dirty="0"/>
            </a:br>
            <a:r>
              <a:rPr lang="ru-RU" sz="1200" dirty="0"/>
              <a:t>левого окна с отметкой на парах, </a:t>
            </a:r>
            <a:br>
              <a:rPr lang="ru-RU" sz="1200" dirty="0"/>
            </a:br>
            <a:r>
              <a:rPr lang="ru-RU" sz="1200" dirty="0"/>
              <a:t>но в пределах дня одного, на другой странице </a:t>
            </a:r>
            <a:br>
              <a:rPr lang="ru-RU" sz="1200" dirty="0"/>
            </a:br>
            <a:r>
              <a:rPr lang="ru-RU" sz="1200" dirty="0"/>
              <a:t>будет выбор и дня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66A0FEDD-3FE1-DAEC-6E04-C51F89418E5C}"/>
              </a:ext>
            </a:extLst>
          </p:cNvPr>
          <p:cNvSpPr/>
          <p:nvPr/>
        </p:nvSpPr>
        <p:spPr>
          <a:xfrm>
            <a:off x="5042388" y="4553084"/>
            <a:ext cx="3341077" cy="76186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AF0AA7-B5D2-E7C3-AE25-34F56CF162FD}"/>
              </a:ext>
            </a:extLst>
          </p:cNvPr>
          <p:cNvSpPr txBox="1"/>
          <p:nvPr/>
        </p:nvSpPr>
        <p:spPr>
          <a:xfrm>
            <a:off x="5179345" y="4669554"/>
            <a:ext cx="285879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Дз на сегодня которое задано </a:t>
            </a:r>
          </a:p>
          <a:p>
            <a:r>
              <a:rPr lang="ru-RU" sz="1200" dirty="0"/>
              <a:t>(нет отметки о сделанной, она на </a:t>
            </a:r>
          </a:p>
          <a:p>
            <a:r>
              <a:rPr lang="ru-RU" sz="1200" dirty="0"/>
              <a:t>стороне студента только), скролится внутри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CB41E3D2-D191-A480-A099-073C903DBA3E}"/>
              </a:ext>
            </a:extLst>
          </p:cNvPr>
          <p:cNvSpPr/>
          <p:nvPr/>
        </p:nvSpPr>
        <p:spPr>
          <a:xfrm>
            <a:off x="8544328" y="4553084"/>
            <a:ext cx="3341077" cy="76186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823B5B-4264-2C2B-FACA-AF463F3BB6A2}"/>
              </a:ext>
            </a:extLst>
          </p:cNvPr>
          <p:cNvSpPr txBox="1"/>
          <p:nvPr/>
        </p:nvSpPr>
        <p:spPr>
          <a:xfrm>
            <a:off x="8681285" y="4669554"/>
            <a:ext cx="277024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Выдать задание -</a:t>
            </a:r>
            <a:r>
              <a:rPr lang="en-US" sz="1200" dirty="0"/>
              <a:t>&gt; </a:t>
            </a:r>
            <a:r>
              <a:rPr lang="ru-RU" sz="1200" dirty="0"/>
              <a:t>появляется снизу окно </a:t>
            </a:r>
            <a:br>
              <a:rPr lang="ru-RU" sz="1200" dirty="0"/>
            </a:br>
            <a:r>
              <a:rPr lang="ru-RU" sz="1200" dirty="0"/>
              <a:t>форма выдачи дз аналогичная как будет</a:t>
            </a:r>
            <a:br>
              <a:rPr lang="ru-RU" sz="1200" dirty="0"/>
            </a:br>
            <a:r>
              <a:rPr lang="ru-RU" sz="1200" dirty="0"/>
              <a:t>на странице дз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86C3118E-E86F-7898-8BED-34017C40EC04}"/>
              </a:ext>
            </a:extLst>
          </p:cNvPr>
          <p:cNvSpPr/>
          <p:nvPr/>
        </p:nvSpPr>
        <p:spPr>
          <a:xfrm>
            <a:off x="5042388" y="5523602"/>
            <a:ext cx="3341077" cy="8068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52DF56-0303-3808-610D-8CB2FAC33D72}"/>
              </a:ext>
            </a:extLst>
          </p:cNvPr>
          <p:cNvSpPr txBox="1"/>
          <p:nvPr/>
        </p:nvSpPr>
        <p:spPr>
          <a:xfrm>
            <a:off x="5179345" y="5523602"/>
            <a:ext cx="3162532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в реальном времени заявок (у и н) </a:t>
            </a:r>
            <a:br>
              <a:rPr lang="ru-RU" sz="1200" dirty="0"/>
            </a:br>
            <a:r>
              <a:rPr lang="ru-RU" sz="1200" dirty="0"/>
              <a:t>которые создаются с датой и временем </a:t>
            </a:r>
            <a:br>
              <a:rPr lang="ru-RU" sz="1200" dirty="0"/>
            </a:br>
            <a:r>
              <a:rPr lang="ru-RU" sz="1200" dirty="0"/>
              <a:t>создания при нажатии переходится на страницу</a:t>
            </a:r>
          </a:p>
          <a:p>
            <a:r>
              <a:rPr lang="ru-RU" sz="1200" dirty="0"/>
              <a:t>Заявок (только актуальные и не закрытые)</a:t>
            </a:r>
          </a:p>
        </p:txBody>
      </p:sp>
    </p:spTree>
    <p:extLst>
      <p:ext uri="{BB962C8B-B14F-4D97-AF65-F5344CB8AC3E}">
        <p14:creationId xmlns:p14="http://schemas.microsoft.com/office/powerpoint/2010/main" val="99667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СТАРОСТА – ГЛАВНАЯ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4909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если один человек является и старостой и студентом то функции не должны пересекаться независимо от статуса, те он может выполнять и со стороны старосты все функции и со стороны старосты.</a:t>
            </a:r>
          </a:p>
          <a:p>
            <a:endParaRPr lang="ru-RU" sz="1100" dirty="0"/>
          </a:p>
          <a:p>
            <a:r>
              <a:rPr lang="ru-RU" sz="1100" dirty="0"/>
              <a:t>2 – Староста хочет в реальном времени видеть счётчик сколько студентов отметилось «+» и «у» из всех студентов группы</a:t>
            </a:r>
          </a:p>
          <a:p>
            <a:endParaRPr lang="ru-RU" sz="1100" dirty="0"/>
          </a:p>
          <a:p>
            <a:r>
              <a:rPr lang="ru-RU" sz="1100" dirty="0"/>
              <a:t>3 – Староста хочет прям на главной видеть в окошке список группы и быстро проставлять посещаемость им на эту пару и переключаться между парами</a:t>
            </a:r>
          </a:p>
          <a:p>
            <a:endParaRPr lang="ru-RU" sz="1100" dirty="0"/>
          </a:p>
          <a:p>
            <a:r>
              <a:rPr lang="ru-RU" sz="1100" dirty="0"/>
              <a:t>4 – староста хочет видеть лог (</a:t>
            </a:r>
            <a:r>
              <a:rPr lang="ru-RU" sz="1100" dirty="0" err="1"/>
              <a:t>скоролится</a:t>
            </a:r>
            <a:r>
              <a:rPr lang="ru-RU" sz="1100" dirty="0"/>
              <a:t> аналогично вертикально в окне а не растягивается на всю страницу) кто во сколько и как отмечался на эту пару и какие действия были с ней тикет затронутый эту пару и прочие действия с ней (бизнес лог) (может нам </a:t>
            </a:r>
            <a:r>
              <a:rPr lang="ru-RU" sz="1100" dirty="0" err="1"/>
              <a:t>кафку</a:t>
            </a:r>
            <a:r>
              <a:rPr lang="ru-RU" sz="1100" dirty="0"/>
              <a:t> поднять для бизнес лога)</a:t>
            </a:r>
          </a:p>
          <a:p>
            <a:endParaRPr lang="ru-RU" sz="1100" dirty="0"/>
          </a:p>
          <a:p>
            <a:r>
              <a:rPr lang="ru-RU" sz="1100" dirty="0"/>
              <a:t>5 – староста хочет видеть всё дз на сегодня и при этом у него нет кружка отметить сделанное, тк он староста и выдаёт</a:t>
            </a:r>
          </a:p>
          <a:p>
            <a:endParaRPr lang="ru-RU" sz="1100" dirty="0"/>
          </a:p>
          <a:p>
            <a:r>
              <a:rPr lang="ru-RU" sz="1100" dirty="0"/>
              <a:t>6 – прям на этой же странице староста хочет быстро выдать дз на эту же пару на след неделю (или там можно выбрать другие дни и другой тип занятия этого предмета но подробнее описано окно дз на странице дз) те открывается окно и там сразу выдаётся оно по умолчанию на ближайшую эту же пару (название и тип)</a:t>
            </a:r>
            <a:br>
              <a:rPr lang="ru-RU" sz="1100" dirty="0"/>
            </a:br>
            <a:br>
              <a:rPr lang="ru-RU" sz="1100" dirty="0"/>
            </a:br>
            <a:r>
              <a:rPr lang="ru-RU" sz="1100" dirty="0"/>
              <a:t>7 – количество и актуальность заявок на «у» и «н» тикеты и поздняя отметка чтоб лишний раз не переключаться и не смотреть актуальность и при нажатии туда переходят на нужную вкладку</a:t>
            </a:r>
          </a:p>
        </p:txBody>
      </p:sp>
    </p:spTree>
    <p:extLst>
      <p:ext uri="{BB962C8B-B14F-4D97-AF65-F5344CB8AC3E}">
        <p14:creationId xmlns:p14="http://schemas.microsoft.com/office/powerpoint/2010/main" val="190346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112 – СТРАНИЦА СТАРОСТА – ПОСЕЩАЕМОСТЬ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55861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по умолчанию открывается посещаемость (журнал посещаемости) за текущую неделю и отображается по неделям он сверху границы те даты недели так же номер недели по порядку и чётность. Сама форма – </a:t>
            </a:r>
            <a:r>
              <a:rPr lang="ru-RU" sz="1100" dirty="0" err="1"/>
              <a:t>таболица</a:t>
            </a:r>
            <a:r>
              <a:rPr lang="ru-RU" sz="1100" dirty="0"/>
              <a:t> если есть пустые дни то они отображаются неактивными и что нет пар, отменённые пары и перенесённые так же выделяются. Предмет вертикально пишется а слева первый столбец – список студентов и есть визуальные разделения дней (хорошо заметные и отличающиеся от разделения </a:t>
            </a:r>
            <a:r>
              <a:rPr lang="ru-RU" sz="1100" dirty="0" err="1"/>
              <a:t>внури</a:t>
            </a:r>
            <a:r>
              <a:rPr lang="ru-RU" sz="1100" dirty="0"/>
              <a:t> дня, есть выделения активной пары, есть выделение крестиком (столбец и строка если  нажать или навести на ячейку с выбором статуса)</a:t>
            </a:r>
          </a:p>
          <a:p>
            <a:endParaRPr lang="ru-RU" sz="1100" dirty="0"/>
          </a:p>
          <a:p>
            <a:r>
              <a:rPr lang="ru-RU" sz="1100" dirty="0"/>
              <a:t>2- по умолчанию ничего не выбрано если пара идёт или ещё не закончилась, если закончилась то автоматом проставляются «н»</a:t>
            </a:r>
            <a:r>
              <a:rPr lang="en-US" sz="1100" dirty="0"/>
              <a:t> </a:t>
            </a:r>
            <a:r>
              <a:rPr lang="ru-RU" sz="1100" dirty="0"/>
              <a:t>и важное дополнение теперь по </a:t>
            </a:r>
            <a:r>
              <a:rPr lang="ru-RU" sz="1100" dirty="0" err="1"/>
              <a:t>бекенду</a:t>
            </a:r>
            <a:r>
              <a:rPr lang="ru-RU" sz="1100" dirty="0"/>
              <a:t> важно поставил ли «н» староста или само проставилось тк студент не отметился как «+» или «у»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3 – </a:t>
            </a:r>
            <a:r>
              <a:rPr lang="ru-RU" sz="1100" dirty="0"/>
              <a:t>староста сразу же может скачать посещаемость этой же недели в 3-х форматах а так же скачать несколько дней. При выборе этой опции появляется окно с выбором конкретных недель</a:t>
            </a:r>
          </a:p>
          <a:p>
            <a:endParaRPr lang="ru-RU" sz="1100" dirty="0"/>
          </a:p>
          <a:p>
            <a:r>
              <a:rPr lang="ru-RU" sz="1100" dirty="0"/>
              <a:t>4 – вторая форма – посещение по конкретному предмету (тоже можно менять посещаемость тут как и в первой форме и оно отображается без обновления и там и там. Тут я выбираю )во второй форме) вначале предмет и только потом тип. Типы показываются сразу рядом кнопками но все неактивные а как выбрал предмет то сразу появляется возможность выбрать типы занятий (можно несколько выбирать) и тогда в таблицу добавляется тип занятия а так же склейка по дням (чтоб был порядок логичный) и видно выбрать можно все фильтры</a:t>
            </a:r>
          </a:p>
          <a:p>
            <a:endParaRPr lang="ru-RU" sz="1100" dirty="0"/>
          </a:p>
          <a:p>
            <a:r>
              <a:rPr lang="ru-RU" sz="1100" dirty="0"/>
              <a:t>5 – первая таблица журнал по неделям – без </a:t>
            </a:r>
            <a:r>
              <a:rPr lang="ru-RU" sz="1100" dirty="0" err="1"/>
              <a:t>скрола</a:t>
            </a:r>
            <a:r>
              <a:rPr lang="ru-RU" sz="1100" dirty="0"/>
              <a:t> </a:t>
            </a:r>
            <a:r>
              <a:rPr lang="ru-RU" sz="1100" dirty="0" err="1"/>
              <a:t>вертикаьного</a:t>
            </a:r>
            <a:r>
              <a:rPr lang="ru-RU" sz="1100" dirty="0"/>
              <a:t> она расширяет контент и по возможности на </a:t>
            </a:r>
            <a:r>
              <a:rPr lang="ru-RU" sz="1100" dirty="0" err="1"/>
              <a:t>большойм</a:t>
            </a:r>
            <a:r>
              <a:rPr lang="ru-RU" sz="1100" dirty="0"/>
              <a:t> экране без </a:t>
            </a:r>
            <a:r>
              <a:rPr lang="ru-RU" sz="1100" dirty="0" err="1"/>
              <a:t>скролла</a:t>
            </a:r>
            <a:r>
              <a:rPr lang="ru-RU" sz="1100" dirty="0"/>
              <a:t> горизонтального а если горизонтальный </a:t>
            </a:r>
            <a:r>
              <a:rPr lang="ru-RU" sz="1100" dirty="0" err="1"/>
              <a:t>скролл</a:t>
            </a:r>
            <a:r>
              <a:rPr lang="ru-RU" sz="1100" dirty="0"/>
              <a:t> то первая столбец с </a:t>
            </a:r>
            <a:r>
              <a:rPr lang="ru-RU" sz="1100" dirty="0" err="1"/>
              <a:t>фио</a:t>
            </a:r>
            <a:r>
              <a:rPr lang="ru-RU" sz="1100" dirty="0"/>
              <a:t> фиксированный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DC41474-1813-F21A-EE7F-888483539672}"/>
              </a:ext>
            </a:extLst>
          </p:cNvPr>
          <p:cNvGrpSpPr/>
          <p:nvPr/>
        </p:nvGrpSpPr>
        <p:grpSpPr>
          <a:xfrm>
            <a:off x="4928315" y="96316"/>
            <a:ext cx="7180627" cy="1014386"/>
            <a:chOff x="4928315" y="96316"/>
            <a:chExt cx="7180627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24CB7D61-E531-FA02-B160-808FFBC4DB12}"/>
                </a:ext>
              </a:extLst>
            </p:cNvPr>
            <p:cNvGrpSpPr/>
            <p:nvPr/>
          </p:nvGrpSpPr>
          <p:grpSpPr>
            <a:xfrm>
              <a:off x="4928315" y="128790"/>
              <a:ext cx="1614152" cy="287630"/>
              <a:chOff x="1803042" y="2137890"/>
              <a:chExt cx="1747234" cy="523744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0A43156F-9B8B-287E-3742-E90B13702F21}"/>
                  </a:ext>
                </a:extLst>
              </p:cNvPr>
              <p:cNvSpPr/>
              <p:nvPr/>
            </p:nvSpPr>
            <p:spPr>
              <a:xfrm>
                <a:off x="1803042" y="2137893"/>
                <a:ext cx="1747234" cy="52374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1421AF82-19A5-2AF9-26CE-F419A23A0CD6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1419940" cy="277001"/>
                <a:chOff x="2082085" y="1725766"/>
                <a:chExt cx="1419940" cy="277001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76ACF10-0814-650F-72B2-FADDE6F8D93E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18C8DFC-EED6-396D-472C-21C0873FBA50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57FB3FEF-BA76-61BA-9747-7AF4D6B9EE3C}"/>
                </a:ext>
              </a:extLst>
            </p:cNvPr>
            <p:cNvGrpSpPr/>
            <p:nvPr/>
          </p:nvGrpSpPr>
          <p:grpSpPr>
            <a:xfrm>
              <a:off x="10908405" y="96316"/>
              <a:ext cx="1200537" cy="1014386"/>
              <a:chOff x="10908405" y="96316"/>
              <a:chExt cx="1200537" cy="1014386"/>
            </a:xfrm>
          </p:grpSpPr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3718F3D0-F910-6125-8760-0D1A85D25891}"/>
                  </a:ext>
                </a:extLst>
              </p:cNvPr>
              <p:cNvSpPr/>
              <p:nvPr/>
            </p:nvSpPr>
            <p:spPr>
              <a:xfrm>
                <a:off x="11638209" y="96316"/>
                <a:ext cx="369194" cy="36919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128780C-E8BC-AAC7-A8DE-3D66A6D632ED}"/>
                  </a:ext>
                </a:extLst>
              </p:cNvPr>
              <p:cNvSpPr txBox="1"/>
              <p:nvPr/>
            </p:nvSpPr>
            <p:spPr>
              <a:xfrm>
                <a:off x="11536669" y="188580"/>
                <a:ext cx="5722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профиль</a:t>
                </a:r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DC4D1200-B9D7-93B2-CC82-C201031786FE}"/>
                  </a:ext>
                </a:extLst>
              </p:cNvPr>
              <p:cNvGrpSpPr/>
              <p:nvPr/>
            </p:nvGrpSpPr>
            <p:grpSpPr>
              <a:xfrm>
                <a:off x="10908405" y="513981"/>
                <a:ext cx="1167685" cy="596721"/>
                <a:chOff x="10908405" y="513981"/>
                <a:chExt cx="1167685" cy="596721"/>
              </a:xfrm>
            </p:grpSpPr>
            <p:sp>
              <p:nvSpPr>
                <p:cNvPr id="23" name="Прямоугольник 22">
                  <a:extLst>
                    <a:ext uri="{FF2B5EF4-FFF2-40B4-BE49-F238E27FC236}">
                      <a16:creationId xmlns:a16="http://schemas.microsoft.com/office/drawing/2014/main" id="{27646821-2782-963A-5CD9-9E0A5A48A20E}"/>
                    </a:ext>
                  </a:extLst>
                </p:cNvPr>
                <p:cNvSpPr/>
                <p:nvPr/>
              </p:nvSpPr>
              <p:spPr>
                <a:xfrm>
                  <a:off x="10908405" y="513981"/>
                  <a:ext cx="1167685" cy="59672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649457F-D5E1-6FFA-6856-92BD5FC545E4}"/>
                    </a:ext>
                  </a:extLst>
                </p:cNvPr>
                <p:cNvSpPr txBox="1"/>
                <p:nvPr/>
              </p:nvSpPr>
              <p:spPr>
                <a:xfrm>
                  <a:off x="11032536" y="603721"/>
                  <a:ext cx="69570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ru-RU" sz="1200" dirty="0"/>
                    <a:t>Настройки</a:t>
                  </a:r>
                  <a:br>
                    <a:rPr lang="ru-RU" sz="1200" dirty="0"/>
                  </a:br>
                  <a:r>
                    <a:rPr lang="ru-RU" sz="1200" dirty="0"/>
                    <a:t>Выход</a:t>
                  </a:r>
                </a:p>
              </p:txBody>
            </p:sp>
          </p:grp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BCF79176-3F77-2DB6-72F7-70807301B2B7}"/>
                </a:ext>
              </a:extLst>
            </p:cNvPr>
            <p:cNvGrpSpPr/>
            <p:nvPr/>
          </p:nvGrpSpPr>
          <p:grpSpPr>
            <a:xfrm>
              <a:off x="4928315" y="598868"/>
              <a:ext cx="5786147" cy="407865"/>
              <a:chOff x="4928315" y="598868"/>
              <a:chExt cx="5786147" cy="40786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C29984-5FE8-A43C-8740-B4F1FB4E335A}"/>
                  </a:ext>
                </a:extLst>
              </p:cNvPr>
              <p:cNvSpPr txBox="1"/>
              <p:nvPr/>
            </p:nvSpPr>
            <p:spPr>
              <a:xfrm>
                <a:off x="4928315" y="598868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95B61B-59C5-B555-F29D-7DA4524B856D}"/>
                  </a:ext>
                </a:extLst>
              </p:cNvPr>
              <p:cNvSpPr txBox="1"/>
              <p:nvPr/>
            </p:nvSpPr>
            <p:spPr>
              <a:xfrm>
                <a:off x="5622074" y="598868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2466EB-8125-1BFA-E8BB-4E2D8280AF07}"/>
                  </a:ext>
                </a:extLst>
              </p:cNvPr>
              <p:cNvSpPr txBox="1"/>
              <p:nvPr/>
            </p:nvSpPr>
            <p:spPr>
              <a:xfrm>
                <a:off x="6766662" y="598868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2DFADE-2637-2A4D-0FFD-8676183EBC6A}"/>
                  </a:ext>
                </a:extLst>
              </p:cNvPr>
              <p:cNvSpPr txBox="1"/>
              <p:nvPr/>
            </p:nvSpPr>
            <p:spPr>
              <a:xfrm>
                <a:off x="7651369" y="598868"/>
                <a:ext cx="12697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домашнее задание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C431E8-D280-F9DA-D9BC-128B7FAC9410}"/>
                  </a:ext>
                </a:extLst>
              </p:cNvPr>
              <p:cNvSpPr txBox="1"/>
              <p:nvPr/>
            </p:nvSpPr>
            <p:spPr>
              <a:xfrm>
                <a:off x="9112773" y="598868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65596F-CB9B-349E-7846-334E413F4672}"/>
                  </a:ext>
                </a:extLst>
              </p:cNvPr>
              <p:cNvSpPr txBox="1"/>
              <p:nvPr/>
            </p:nvSpPr>
            <p:spPr>
              <a:xfrm>
                <a:off x="9666868" y="598868"/>
                <a:ext cx="10475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заявки и тикеты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906DEA-4B24-E6D0-310F-843122308B2B}"/>
                  </a:ext>
                </a:extLst>
              </p:cNvPr>
              <p:cNvSpPr txBox="1"/>
              <p:nvPr/>
            </p:nvSpPr>
            <p:spPr>
              <a:xfrm>
                <a:off x="4928315" y="822067"/>
                <a:ext cx="43691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Группа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261580F-9E33-6E8E-64DD-1E96A6CC2974}"/>
                  </a:ext>
                </a:extLst>
              </p:cNvPr>
              <p:cNvSpPr txBox="1"/>
              <p:nvPr/>
            </p:nvSpPr>
            <p:spPr>
              <a:xfrm>
                <a:off x="5829526" y="822067"/>
                <a:ext cx="680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Предметы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01059E-3692-ED88-729D-FB3A82A6E6C8}"/>
                  </a:ext>
                </a:extLst>
              </p:cNvPr>
              <p:cNvSpPr txBox="1"/>
              <p:nvPr/>
            </p:nvSpPr>
            <p:spPr>
              <a:xfrm>
                <a:off x="6848393" y="822067"/>
                <a:ext cx="160595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Конструктор расписания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0AA1937-7D27-3F92-4318-BA1ADD6E77DE}"/>
                  </a:ext>
                </a:extLst>
              </p:cNvPr>
              <p:cNvSpPr txBox="1"/>
              <p:nvPr/>
            </p:nvSpPr>
            <p:spPr>
              <a:xfrm>
                <a:off x="8687237" y="822067"/>
                <a:ext cx="134626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Управление парами</a:t>
                </a:r>
              </a:p>
            </p:txBody>
          </p:sp>
        </p:grp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7B24A0E-7E76-5CD9-09FD-8327786F9C4C}"/>
              </a:ext>
            </a:extLst>
          </p:cNvPr>
          <p:cNvSpPr/>
          <p:nvPr/>
        </p:nvSpPr>
        <p:spPr>
          <a:xfrm>
            <a:off x="4945145" y="1218712"/>
            <a:ext cx="7130945" cy="201246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0EA95E-2B76-382E-73B2-1AFDB193DFC4}"/>
              </a:ext>
            </a:extLst>
          </p:cNvPr>
          <p:cNvSpPr txBox="1"/>
          <p:nvPr/>
        </p:nvSpPr>
        <p:spPr>
          <a:xfrm>
            <a:off x="6674095" y="1361214"/>
            <a:ext cx="42646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&lt;-   </a:t>
            </a:r>
            <a:r>
              <a:rPr lang="ru-RU" sz="1200" dirty="0"/>
              <a:t>дата   №недели по порядку чётность</a:t>
            </a:r>
            <a:r>
              <a:rPr lang="en-US" sz="1200" dirty="0"/>
              <a:t>/</a:t>
            </a:r>
            <a:r>
              <a:rPr lang="ru-RU" sz="1200" dirty="0"/>
              <a:t>нечётность недели    -</a:t>
            </a:r>
            <a:r>
              <a:rPr lang="en-US" sz="1200" dirty="0"/>
              <a:t>&gt;</a:t>
            </a:r>
            <a:endParaRPr lang="ru-RU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BB4777-A558-9861-4D14-26A5B0FECABD}"/>
              </a:ext>
            </a:extLst>
          </p:cNvPr>
          <p:cNvSpPr txBox="1"/>
          <p:nvPr/>
        </p:nvSpPr>
        <p:spPr>
          <a:xfrm>
            <a:off x="6065963" y="1624020"/>
            <a:ext cx="17793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Пн</a:t>
            </a:r>
            <a:endParaRPr lang="ru-RU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FC0BFC-93E0-C6A3-75FE-3AB7AD8B5940}"/>
              </a:ext>
            </a:extLst>
          </p:cNvPr>
          <p:cNvSpPr txBox="1"/>
          <p:nvPr/>
        </p:nvSpPr>
        <p:spPr>
          <a:xfrm>
            <a:off x="6970392" y="1624020"/>
            <a:ext cx="14215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Вт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4C3743-4358-FB6D-4A5F-9591DB375A18}"/>
              </a:ext>
            </a:extLst>
          </p:cNvPr>
          <p:cNvSpPr txBox="1"/>
          <p:nvPr/>
        </p:nvSpPr>
        <p:spPr>
          <a:xfrm>
            <a:off x="8428711" y="1624020"/>
            <a:ext cx="1442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Чт</a:t>
            </a:r>
            <a:endParaRPr lang="ru-RU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49732F-D8A3-5CE8-091A-73A650689027}"/>
              </a:ext>
            </a:extLst>
          </p:cNvPr>
          <p:cNvSpPr txBox="1"/>
          <p:nvPr/>
        </p:nvSpPr>
        <p:spPr>
          <a:xfrm>
            <a:off x="9889145" y="1624020"/>
            <a:ext cx="13946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пт</a:t>
            </a:r>
            <a:endParaRPr lang="ru-RU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F41289-7829-91CE-E70E-56C66A4F1A1D}"/>
              </a:ext>
            </a:extLst>
          </p:cNvPr>
          <p:cNvSpPr txBox="1"/>
          <p:nvPr/>
        </p:nvSpPr>
        <p:spPr>
          <a:xfrm>
            <a:off x="11344771" y="1624020"/>
            <a:ext cx="14747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B4ED6F-FB89-A239-4C9B-F084172263B6}"/>
              </a:ext>
            </a:extLst>
          </p:cNvPr>
          <p:cNvSpPr txBox="1"/>
          <p:nvPr/>
        </p:nvSpPr>
        <p:spPr>
          <a:xfrm>
            <a:off x="6002067" y="1790831"/>
            <a:ext cx="305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3B391E-77FC-7407-3747-685F2A0B43F5}"/>
              </a:ext>
            </a:extLst>
          </p:cNvPr>
          <p:cNvSpPr txBox="1"/>
          <p:nvPr/>
        </p:nvSpPr>
        <p:spPr>
          <a:xfrm>
            <a:off x="6875710" y="1790831"/>
            <a:ext cx="305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1DA139-24F4-0C16-EA68-6164285EB43D}"/>
              </a:ext>
            </a:extLst>
          </p:cNvPr>
          <p:cNvSpPr txBox="1"/>
          <p:nvPr/>
        </p:nvSpPr>
        <p:spPr>
          <a:xfrm>
            <a:off x="8339022" y="1790831"/>
            <a:ext cx="305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0E07CD-0148-91CC-4266-C1827931BA7E}"/>
              </a:ext>
            </a:extLst>
          </p:cNvPr>
          <p:cNvSpPr txBox="1"/>
          <p:nvPr/>
        </p:nvSpPr>
        <p:spPr>
          <a:xfrm>
            <a:off x="9802334" y="1790831"/>
            <a:ext cx="305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5DC5D5-EA53-1ECE-C005-7154C7FFB625}"/>
              </a:ext>
            </a:extLst>
          </p:cNvPr>
          <p:cNvSpPr txBox="1"/>
          <p:nvPr/>
        </p:nvSpPr>
        <p:spPr>
          <a:xfrm>
            <a:off x="11265646" y="1790831"/>
            <a:ext cx="305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2327F7-D4F2-6462-FB17-607D56EE87D8}"/>
              </a:ext>
            </a:extLst>
          </p:cNvPr>
          <p:cNvSpPr txBox="1"/>
          <p:nvPr/>
        </p:nvSpPr>
        <p:spPr>
          <a:xfrm rot="16200000">
            <a:off x="5554830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917FE9-F5A8-66E3-536D-6EBA4A2FDAF3}"/>
              </a:ext>
            </a:extLst>
          </p:cNvPr>
          <p:cNvSpPr txBox="1"/>
          <p:nvPr/>
        </p:nvSpPr>
        <p:spPr>
          <a:xfrm rot="16200000">
            <a:off x="5778865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E942F8-2BFE-177C-DD4A-98EE7C17E778}"/>
              </a:ext>
            </a:extLst>
          </p:cNvPr>
          <p:cNvSpPr txBox="1"/>
          <p:nvPr/>
        </p:nvSpPr>
        <p:spPr>
          <a:xfrm rot="16200000">
            <a:off x="6023841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E59EE3-EBD4-4C34-053D-67805B99E0D9}"/>
              </a:ext>
            </a:extLst>
          </p:cNvPr>
          <p:cNvSpPr txBox="1"/>
          <p:nvPr/>
        </p:nvSpPr>
        <p:spPr>
          <a:xfrm rot="16200000">
            <a:off x="6222628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8988DC-82F2-01A2-6FD0-4B44FE2CA579}"/>
              </a:ext>
            </a:extLst>
          </p:cNvPr>
          <p:cNvSpPr txBox="1"/>
          <p:nvPr/>
        </p:nvSpPr>
        <p:spPr>
          <a:xfrm rot="16200000">
            <a:off x="6718995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C46C12-DE64-E661-B19E-81844D3643AF}"/>
              </a:ext>
            </a:extLst>
          </p:cNvPr>
          <p:cNvSpPr txBox="1"/>
          <p:nvPr/>
        </p:nvSpPr>
        <p:spPr>
          <a:xfrm rot="16200000">
            <a:off x="6917782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187739-0F15-16C1-6A19-22CEDEFC1903}"/>
              </a:ext>
            </a:extLst>
          </p:cNvPr>
          <p:cNvSpPr txBox="1"/>
          <p:nvPr/>
        </p:nvSpPr>
        <p:spPr>
          <a:xfrm rot="16200000">
            <a:off x="8240570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73B130-F217-D89F-229B-7E90BFAB39BD}"/>
              </a:ext>
            </a:extLst>
          </p:cNvPr>
          <p:cNvSpPr txBox="1"/>
          <p:nvPr/>
        </p:nvSpPr>
        <p:spPr>
          <a:xfrm rot="16200000">
            <a:off x="8439357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9423C4-75C6-6635-BB44-559E69BA19DE}"/>
              </a:ext>
            </a:extLst>
          </p:cNvPr>
          <p:cNvSpPr txBox="1"/>
          <p:nvPr/>
        </p:nvSpPr>
        <p:spPr>
          <a:xfrm rot="16200000">
            <a:off x="9551593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D9E093-78AD-4CF3-531C-FB3A8A1E760C}"/>
              </a:ext>
            </a:extLst>
          </p:cNvPr>
          <p:cNvSpPr txBox="1"/>
          <p:nvPr/>
        </p:nvSpPr>
        <p:spPr>
          <a:xfrm rot="16200000">
            <a:off x="9750380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1CB0C9-6F77-56D3-B146-771C8115C363}"/>
              </a:ext>
            </a:extLst>
          </p:cNvPr>
          <p:cNvSpPr txBox="1"/>
          <p:nvPr/>
        </p:nvSpPr>
        <p:spPr>
          <a:xfrm>
            <a:off x="7654171" y="1624020"/>
            <a:ext cx="14587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ср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8D0F52-DBE5-4240-C4F7-FC9423C37D46}"/>
              </a:ext>
            </a:extLst>
          </p:cNvPr>
          <p:cNvSpPr txBox="1"/>
          <p:nvPr/>
        </p:nvSpPr>
        <p:spPr>
          <a:xfrm>
            <a:off x="7624099" y="1790831"/>
            <a:ext cx="305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E1665A-BAF7-6A92-91E0-278A7F13F1C3}"/>
              </a:ext>
            </a:extLst>
          </p:cNvPr>
          <p:cNvSpPr txBox="1"/>
          <p:nvPr/>
        </p:nvSpPr>
        <p:spPr>
          <a:xfrm rot="16200000">
            <a:off x="7525647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CAC1D5-A77A-959D-B1D4-A808DCCF81A8}"/>
              </a:ext>
            </a:extLst>
          </p:cNvPr>
          <p:cNvSpPr txBox="1"/>
          <p:nvPr/>
        </p:nvSpPr>
        <p:spPr>
          <a:xfrm rot="16200000">
            <a:off x="7724434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E81D26-5D9A-1DEC-61BF-580509CA2524}"/>
              </a:ext>
            </a:extLst>
          </p:cNvPr>
          <p:cNvSpPr txBox="1"/>
          <p:nvPr/>
        </p:nvSpPr>
        <p:spPr>
          <a:xfrm rot="16200000">
            <a:off x="11077752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93C674-4D4D-15C2-71D7-B7E068FF2658}"/>
              </a:ext>
            </a:extLst>
          </p:cNvPr>
          <p:cNvSpPr txBox="1"/>
          <p:nvPr/>
        </p:nvSpPr>
        <p:spPr>
          <a:xfrm rot="16200000">
            <a:off x="11276539" y="2142871"/>
            <a:ext cx="3895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пароа</a:t>
            </a:r>
            <a:endParaRPr lang="ru-RU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088FCE-E53E-332E-7421-9F79079C8AE6}"/>
              </a:ext>
            </a:extLst>
          </p:cNvPr>
          <p:cNvSpPr txBox="1"/>
          <p:nvPr/>
        </p:nvSpPr>
        <p:spPr>
          <a:xfrm>
            <a:off x="5015655" y="2575538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5893C2F-7A4B-1463-62D6-1CFFB75ED7D7}"/>
              </a:ext>
            </a:extLst>
          </p:cNvPr>
          <p:cNvSpPr txBox="1"/>
          <p:nvPr/>
        </p:nvSpPr>
        <p:spPr>
          <a:xfrm>
            <a:off x="5015655" y="2787516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1F2911-2697-2760-356C-B8E67EC4D2C6}"/>
              </a:ext>
            </a:extLst>
          </p:cNvPr>
          <p:cNvSpPr txBox="1"/>
          <p:nvPr/>
        </p:nvSpPr>
        <p:spPr>
          <a:xfrm>
            <a:off x="5657262" y="2575538"/>
            <a:ext cx="15425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3BEA61-8E49-683C-8BB1-E9F7F3261025}"/>
              </a:ext>
            </a:extLst>
          </p:cNvPr>
          <p:cNvSpPr txBox="1"/>
          <p:nvPr/>
        </p:nvSpPr>
        <p:spPr>
          <a:xfrm>
            <a:off x="5657262" y="2787516"/>
            <a:ext cx="11316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н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6CCF41-A823-FADC-ECC6-22565A7B2C2F}"/>
              </a:ext>
            </a:extLst>
          </p:cNvPr>
          <p:cNvSpPr txBox="1"/>
          <p:nvPr/>
        </p:nvSpPr>
        <p:spPr>
          <a:xfrm>
            <a:off x="5949588" y="2575538"/>
            <a:ext cx="15425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у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B0B67C-FC8E-D4A2-4AF2-15DA203A94A2}"/>
              </a:ext>
            </a:extLst>
          </p:cNvPr>
          <p:cNvSpPr txBox="1"/>
          <p:nvPr/>
        </p:nvSpPr>
        <p:spPr>
          <a:xfrm>
            <a:off x="5949588" y="2787516"/>
            <a:ext cx="11316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н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5BF991C-A944-93ED-316C-EC5CBFDE34A0}"/>
              </a:ext>
            </a:extLst>
          </p:cNvPr>
          <p:cNvSpPr txBox="1"/>
          <p:nvPr/>
        </p:nvSpPr>
        <p:spPr>
          <a:xfrm>
            <a:off x="6205880" y="2575538"/>
            <a:ext cx="15425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у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29EA39-D31C-891A-226F-B7BC669A5193}"/>
              </a:ext>
            </a:extLst>
          </p:cNvPr>
          <p:cNvSpPr txBox="1"/>
          <p:nvPr/>
        </p:nvSpPr>
        <p:spPr>
          <a:xfrm>
            <a:off x="6205880" y="2787516"/>
            <a:ext cx="11316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н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21D4CC-BA89-3EA7-2282-2F185C64FD5E}"/>
              </a:ext>
            </a:extLst>
          </p:cNvPr>
          <p:cNvSpPr txBox="1"/>
          <p:nvPr/>
        </p:nvSpPr>
        <p:spPr>
          <a:xfrm>
            <a:off x="6412524" y="2575538"/>
            <a:ext cx="15425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у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FA4B20-70A9-72D9-944F-322A5A331134}"/>
              </a:ext>
            </a:extLst>
          </p:cNvPr>
          <p:cNvSpPr txBox="1"/>
          <p:nvPr/>
        </p:nvSpPr>
        <p:spPr>
          <a:xfrm>
            <a:off x="6412524" y="2787516"/>
            <a:ext cx="11316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н</a:t>
            </a: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1462762A-2346-95C1-CB19-0CC513E2DCA3}"/>
              </a:ext>
            </a:extLst>
          </p:cNvPr>
          <p:cNvSpPr/>
          <p:nvPr/>
        </p:nvSpPr>
        <p:spPr>
          <a:xfrm>
            <a:off x="11617959" y="3327995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81A4F7CD-F3AF-F677-AE56-073CE3EC4677}"/>
              </a:ext>
            </a:extLst>
          </p:cNvPr>
          <p:cNvSpPr/>
          <p:nvPr/>
        </p:nvSpPr>
        <p:spPr>
          <a:xfrm>
            <a:off x="11043842" y="3327995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A4CD57EC-C26B-6DE7-4B6B-DC9ECDB41944}"/>
              </a:ext>
            </a:extLst>
          </p:cNvPr>
          <p:cNvSpPr/>
          <p:nvPr/>
        </p:nvSpPr>
        <p:spPr>
          <a:xfrm>
            <a:off x="10411382" y="3327995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95A1F7D1-70E1-9660-CF68-31BB0E16CEB1}"/>
              </a:ext>
            </a:extLst>
          </p:cNvPr>
          <p:cNvSpPr/>
          <p:nvPr/>
        </p:nvSpPr>
        <p:spPr>
          <a:xfrm>
            <a:off x="8212015" y="3327995"/>
            <a:ext cx="1912309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12FB509-E12B-B6A5-1F78-F2819140FA3C}"/>
              </a:ext>
            </a:extLst>
          </p:cNvPr>
          <p:cNvSpPr txBox="1"/>
          <p:nvPr/>
        </p:nvSpPr>
        <p:spPr>
          <a:xfrm>
            <a:off x="8338601" y="3379476"/>
            <a:ext cx="175802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Скачать несколько недель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1D462F6-5A00-5C38-3E7F-4C110D5B5115}"/>
              </a:ext>
            </a:extLst>
          </p:cNvPr>
          <p:cNvSpPr txBox="1"/>
          <p:nvPr/>
        </p:nvSpPr>
        <p:spPr>
          <a:xfrm>
            <a:off x="10480553" y="3376058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docx</a:t>
            </a:r>
            <a:endParaRPr lang="ru-RU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CF55A4E-AFBF-7BCD-4323-8027749FE36E}"/>
              </a:ext>
            </a:extLst>
          </p:cNvPr>
          <p:cNvSpPr txBox="1"/>
          <p:nvPr/>
        </p:nvSpPr>
        <p:spPr>
          <a:xfrm>
            <a:off x="11092679" y="3376058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pdf</a:t>
            </a:r>
            <a:endParaRPr lang="ru-RU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783BE0B-7425-51B0-41E9-F81090200824}"/>
              </a:ext>
            </a:extLst>
          </p:cNvPr>
          <p:cNvSpPr txBox="1"/>
          <p:nvPr/>
        </p:nvSpPr>
        <p:spPr>
          <a:xfrm>
            <a:off x="11676302" y="3376058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 err="1"/>
              <a:t>png</a:t>
            </a:r>
            <a:endParaRPr lang="ru-RU" sz="1200" dirty="0"/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6429E728-F40D-9809-C8A0-1C7F853F8336}"/>
              </a:ext>
            </a:extLst>
          </p:cNvPr>
          <p:cNvSpPr/>
          <p:nvPr/>
        </p:nvSpPr>
        <p:spPr>
          <a:xfrm>
            <a:off x="4945145" y="3791971"/>
            <a:ext cx="7130945" cy="201246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E2246256-65C0-CB09-050B-1429D7D97254}"/>
              </a:ext>
            </a:extLst>
          </p:cNvPr>
          <p:cNvSpPr/>
          <p:nvPr/>
        </p:nvSpPr>
        <p:spPr>
          <a:xfrm>
            <a:off x="5107905" y="3930007"/>
            <a:ext cx="1912309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B4F9A73-CA89-0440-F9F4-6B6029231E10}"/>
              </a:ext>
            </a:extLst>
          </p:cNvPr>
          <p:cNvSpPr txBox="1"/>
          <p:nvPr/>
        </p:nvSpPr>
        <p:spPr>
          <a:xfrm>
            <a:off x="5234491" y="3981488"/>
            <a:ext cx="175802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Выбрать предмет</a:t>
            </a: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A95A1430-D8ED-D060-6B66-FAD174332487}"/>
              </a:ext>
            </a:extLst>
          </p:cNvPr>
          <p:cNvSpPr/>
          <p:nvPr/>
        </p:nvSpPr>
        <p:spPr>
          <a:xfrm>
            <a:off x="7210804" y="3926575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186969C-BCE6-528E-79A9-E3E4E6188C98}"/>
              </a:ext>
            </a:extLst>
          </p:cNvPr>
          <p:cNvSpPr txBox="1"/>
          <p:nvPr/>
        </p:nvSpPr>
        <p:spPr>
          <a:xfrm>
            <a:off x="7279975" y="3974638"/>
            <a:ext cx="26763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ЛК</a:t>
            </a: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EAEA0D50-735C-7D7E-A6A1-BE67D3D5B483}"/>
              </a:ext>
            </a:extLst>
          </p:cNvPr>
          <p:cNvSpPr/>
          <p:nvPr/>
        </p:nvSpPr>
        <p:spPr>
          <a:xfrm>
            <a:off x="7763610" y="3926575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4BB91B3-6D9D-DF2E-BE1D-F963CC9EFD23}"/>
              </a:ext>
            </a:extLst>
          </p:cNvPr>
          <p:cNvSpPr txBox="1"/>
          <p:nvPr/>
        </p:nvSpPr>
        <p:spPr>
          <a:xfrm>
            <a:off x="7832781" y="3974638"/>
            <a:ext cx="26763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ПЗ</a:t>
            </a: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131930AD-36FD-7E40-5B98-F8D6F4152438}"/>
              </a:ext>
            </a:extLst>
          </p:cNvPr>
          <p:cNvSpPr/>
          <p:nvPr/>
        </p:nvSpPr>
        <p:spPr>
          <a:xfrm>
            <a:off x="8281186" y="3926575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4BE61EC-C474-C253-E027-12C3D26DE18F}"/>
              </a:ext>
            </a:extLst>
          </p:cNvPr>
          <p:cNvSpPr txBox="1"/>
          <p:nvPr/>
        </p:nvSpPr>
        <p:spPr>
          <a:xfrm>
            <a:off x="8350357" y="3974638"/>
            <a:ext cx="26763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ЛЗ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CE42DE9-00C0-3A0B-B802-3E243C63DBDA}"/>
              </a:ext>
            </a:extLst>
          </p:cNvPr>
          <p:cNvSpPr txBox="1"/>
          <p:nvPr/>
        </p:nvSpPr>
        <p:spPr>
          <a:xfrm>
            <a:off x="5015655" y="4634618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B681688-64B6-200C-D5F3-A0AF74EFC818}"/>
              </a:ext>
            </a:extLst>
          </p:cNvPr>
          <p:cNvSpPr txBox="1"/>
          <p:nvPr/>
        </p:nvSpPr>
        <p:spPr>
          <a:xfrm>
            <a:off x="5015655" y="4846596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6621FC-3E73-E318-F5CE-543656A3B486}"/>
              </a:ext>
            </a:extLst>
          </p:cNvPr>
          <p:cNvSpPr txBox="1"/>
          <p:nvPr/>
        </p:nvSpPr>
        <p:spPr>
          <a:xfrm>
            <a:off x="5430376" y="4226539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Дата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5DC3255-848E-D199-0302-584A7C591346}"/>
              </a:ext>
            </a:extLst>
          </p:cNvPr>
          <p:cNvSpPr txBox="1"/>
          <p:nvPr/>
        </p:nvSpPr>
        <p:spPr>
          <a:xfrm>
            <a:off x="5430376" y="4460406"/>
            <a:ext cx="9821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Тип занятия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120DFD4-D5D3-4369-23B9-B3EB185A1CD7}"/>
              </a:ext>
            </a:extLst>
          </p:cNvPr>
          <p:cNvSpPr txBox="1"/>
          <p:nvPr/>
        </p:nvSpPr>
        <p:spPr>
          <a:xfrm>
            <a:off x="5520601" y="4634618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+</a:t>
            </a:r>
            <a:endParaRPr lang="ru-RU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3403393-47B8-5E78-2C71-1C70AB58427A}"/>
              </a:ext>
            </a:extLst>
          </p:cNvPr>
          <p:cNvSpPr txBox="1"/>
          <p:nvPr/>
        </p:nvSpPr>
        <p:spPr>
          <a:xfrm>
            <a:off x="5520601" y="4846596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y</a:t>
            </a:r>
            <a:endParaRPr lang="ru-RU" sz="1200" dirty="0"/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C91FEC3B-9CDA-134C-CC3B-A3296A12AB3C}"/>
              </a:ext>
            </a:extLst>
          </p:cNvPr>
          <p:cNvSpPr/>
          <p:nvPr/>
        </p:nvSpPr>
        <p:spPr>
          <a:xfrm>
            <a:off x="11617959" y="5924985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F1154B1-5E28-38A1-4B1F-EA7D1C1093EC}"/>
              </a:ext>
            </a:extLst>
          </p:cNvPr>
          <p:cNvSpPr/>
          <p:nvPr/>
        </p:nvSpPr>
        <p:spPr>
          <a:xfrm>
            <a:off x="11043842" y="5924985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6A4C2E56-3137-A44F-8E12-82D0D0EF1A9A}"/>
              </a:ext>
            </a:extLst>
          </p:cNvPr>
          <p:cNvSpPr/>
          <p:nvPr/>
        </p:nvSpPr>
        <p:spPr>
          <a:xfrm>
            <a:off x="10411382" y="5924985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8C2B021-7DF9-F46D-4095-88AC807BF8EF}"/>
              </a:ext>
            </a:extLst>
          </p:cNvPr>
          <p:cNvSpPr txBox="1"/>
          <p:nvPr/>
        </p:nvSpPr>
        <p:spPr>
          <a:xfrm>
            <a:off x="10480553" y="5973048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docx</a:t>
            </a:r>
            <a:endParaRPr lang="ru-RU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4EBBF0C-FB74-6C39-86C0-754FC3A1DFE7}"/>
              </a:ext>
            </a:extLst>
          </p:cNvPr>
          <p:cNvSpPr txBox="1"/>
          <p:nvPr/>
        </p:nvSpPr>
        <p:spPr>
          <a:xfrm>
            <a:off x="11092679" y="5973048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pdf</a:t>
            </a:r>
            <a:endParaRPr lang="ru-RU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7CBF74E-74DD-4403-2C56-ABF443CB4E1A}"/>
              </a:ext>
            </a:extLst>
          </p:cNvPr>
          <p:cNvSpPr txBox="1"/>
          <p:nvPr/>
        </p:nvSpPr>
        <p:spPr>
          <a:xfrm>
            <a:off x="11676302" y="5973048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 err="1"/>
              <a:t>png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48113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112 – СТРАНИЦА СТАРОСТА – ПОСЕЩАЕМОСТЬ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55861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как староста хочу видеть журнал посещаемости на текущую неделю, при этом при </a:t>
            </a:r>
            <a:r>
              <a:rPr lang="ru-RU" sz="1100" dirty="0" err="1"/>
              <a:t>перезаходе</a:t>
            </a:r>
            <a:r>
              <a:rPr lang="ru-RU" sz="1100" dirty="0"/>
              <a:t> страницы – возвращать на текущую неделю, добавить </a:t>
            </a:r>
            <a:r>
              <a:rPr lang="ru-RU" sz="1100" dirty="0" err="1"/>
              <a:t>всплыывающую</a:t>
            </a:r>
            <a:r>
              <a:rPr lang="ru-RU" sz="1100" dirty="0"/>
              <a:t> кнопку «вернуться к текущей» при переключении на другую неделю, при этом можно переключаться только на текущие и прошлые недели а не на будущие.</a:t>
            </a:r>
          </a:p>
          <a:p>
            <a:endParaRPr lang="ru-RU" sz="1100" dirty="0"/>
          </a:p>
          <a:p>
            <a:r>
              <a:rPr lang="ru-RU" sz="1100" dirty="0"/>
              <a:t>2 – при этом должно быть визуальное разделение каждые 5 студентов по горизонтали и по вертикали между днями и между первым столбцом с </a:t>
            </a:r>
            <a:r>
              <a:rPr lang="ru-RU" sz="1100" dirty="0" err="1"/>
              <a:t>фио</a:t>
            </a:r>
            <a:r>
              <a:rPr lang="ru-RU" sz="1100" dirty="0"/>
              <a:t> и следующим</a:t>
            </a:r>
          </a:p>
          <a:p>
            <a:endParaRPr lang="ru-RU" sz="1100" dirty="0"/>
          </a:p>
          <a:p>
            <a:r>
              <a:rPr lang="ru-RU" sz="1100" dirty="0"/>
              <a:t>3 – староста на этом экране может менять посещаемость в течение всего семестра, если данных нет об отметке то по умолчанию ничего не стоит все кружки с выбором статуса не горят но нажать можно «+» «у» «н» как только нажали какой-то кружок – убираются 3 кружка и остаётся один и визуально чуть меняется ячейка что она отмечена и каким цветом (оттенком). При это можно изменить (и не важно отметил ли староста или студент сам) нажав на ячейку появляются кружки и можно выбрать </a:t>
            </a:r>
            <a:r>
              <a:rPr lang="ru-RU" sz="1100" dirty="0" err="1"/>
              <a:t>старус</a:t>
            </a:r>
            <a:r>
              <a:rPr lang="ru-RU" sz="1100" dirty="0"/>
              <a:t>. Тут не нужны </a:t>
            </a:r>
            <a:r>
              <a:rPr lang="ru-RU" sz="1100" dirty="0" err="1"/>
              <a:t>доп</a:t>
            </a:r>
            <a:r>
              <a:rPr lang="ru-RU" sz="1100" dirty="0"/>
              <a:t> </a:t>
            </a:r>
            <a:r>
              <a:rPr lang="ru-RU" sz="1100" dirty="0" err="1"/>
              <a:t>потверждения</a:t>
            </a:r>
            <a:r>
              <a:rPr lang="ru-RU" sz="1100" dirty="0"/>
              <a:t> просто староста нажимает и всё меняется. </a:t>
            </a:r>
            <a:r>
              <a:rPr lang="ru-RU" sz="1100" dirty="0" err="1"/>
              <a:t>Ксли</a:t>
            </a:r>
            <a:r>
              <a:rPr lang="ru-RU" sz="1100" dirty="0"/>
              <a:t> стоит «У» то при наведении можно получить </a:t>
            </a:r>
            <a:r>
              <a:rPr lang="ru-RU" sz="1100" dirty="0" err="1"/>
              <a:t>доп</a:t>
            </a:r>
            <a:r>
              <a:rPr lang="ru-RU" sz="1100" dirty="0"/>
              <a:t> информацию по какой причине стоит, дата когда поставили и можно открыть окно заявки студента (с описанием причиной и файлами данными) как для препода так и для старосты</a:t>
            </a:r>
            <a:br>
              <a:rPr lang="ru-RU" sz="1100" dirty="0"/>
            </a:br>
            <a:br>
              <a:rPr lang="ru-RU" sz="1100" dirty="0"/>
            </a:br>
            <a:r>
              <a:rPr lang="ru-RU" sz="1100" dirty="0"/>
              <a:t>4 – можно скачать сразу эту неделю и для </a:t>
            </a:r>
            <a:r>
              <a:rPr lang="ru-RU" sz="1100" dirty="0" err="1"/>
              <a:t>екенда</a:t>
            </a:r>
            <a:r>
              <a:rPr lang="ru-RU" sz="1100" dirty="0"/>
              <a:t> надо </a:t>
            </a:r>
            <a:r>
              <a:rPr lang="ru-RU" sz="1100" dirty="0" err="1"/>
              <a:t>пофиксить</a:t>
            </a:r>
            <a:r>
              <a:rPr lang="ru-RU" sz="1100" dirty="0"/>
              <a:t> что если скачивать много недель сразу то падает сервис</a:t>
            </a:r>
            <a:br>
              <a:rPr lang="ru-RU" sz="1100" dirty="0"/>
            </a:br>
            <a:br>
              <a:rPr lang="ru-RU" sz="1100" dirty="0"/>
            </a:br>
            <a:r>
              <a:rPr lang="ru-RU" sz="1100" dirty="0"/>
              <a:t>5 – вторая таблица – таблица посещаемости по предметам и староста хочет смотреть и скачивать аналогично статистику по предметам. Там вначале выбирается предмет а потом виды занятий по этому предмету. Можно выбрать одну или все сразу, аналогичное пояснение по «У». Скачивается в 3-х форматах при всех фильтрах, при этом  можно добавить везде формат </a:t>
            </a:r>
            <a:r>
              <a:rPr lang="en-US" sz="1100" dirty="0"/>
              <a:t>html </a:t>
            </a:r>
            <a:r>
              <a:rPr lang="ru-RU" sz="1100" dirty="0"/>
              <a:t>и надо будет сделать шаблоны с </a:t>
            </a:r>
            <a:r>
              <a:rPr lang="en-US" sz="1100" dirty="0"/>
              <a:t>placeholder </a:t>
            </a:r>
            <a:r>
              <a:rPr lang="ru-RU" sz="1100" dirty="0"/>
              <a:t>как задача на </a:t>
            </a:r>
            <a:r>
              <a:rPr lang="ru-RU" sz="1100" dirty="0" err="1"/>
              <a:t>бекенд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151632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113 – СТРАНИЦА СТАРОСТА – СТАТИСТИКА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5078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староста видит общее количество отметок от группы (мне кажется надо сделать функционал такой что есть значение и оно </a:t>
            </a:r>
            <a:r>
              <a:rPr lang="ru-RU" sz="1100" dirty="0" err="1"/>
              <a:t>инкременируется</a:t>
            </a:r>
            <a:r>
              <a:rPr lang="ru-RU" sz="1100" dirty="0"/>
              <a:t> или нет а не считать каждый раз). Там </a:t>
            </a:r>
            <a:r>
              <a:rPr lang="ru-RU" sz="1100" dirty="0" err="1"/>
              <a:t>отображется</a:t>
            </a:r>
            <a:r>
              <a:rPr lang="ru-RU" sz="1100" dirty="0"/>
              <a:t> сверху количество «+» за всё время семестра по своей группе и со всеми предметами аналогично про «н» и «у».</a:t>
            </a:r>
          </a:p>
          <a:p>
            <a:endParaRPr lang="ru-RU" sz="1100" dirty="0"/>
          </a:p>
          <a:p>
            <a:r>
              <a:rPr lang="ru-RU" sz="1100" dirty="0"/>
              <a:t>2 – отображается статистика по количеству и типу уважительных причин которые подавались</a:t>
            </a:r>
          </a:p>
          <a:p>
            <a:endParaRPr lang="ru-RU" sz="1100" dirty="0"/>
          </a:p>
          <a:p>
            <a:r>
              <a:rPr lang="ru-RU" sz="1100" dirty="0"/>
              <a:t>3 – </a:t>
            </a:r>
            <a:r>
              <a:rPr lang="ru-RU" sz="1100" dirty="0" err="1"/>
              <a:t>Статситка</a:t>
            </a:r>
            <a:r>
              <a:rPr lang="ru-RU" sz="1100" dirty="0"/>
              <a:t> по группе по умолчанию считается по % «+» есть фильтры на каждом столбце). Можно скачать таблицу в разных форматах а так же потом добавим </a:t>
            </a:r>
            <a:r>
              <a:rPr lang="en-US" sz="1100" dirty="0"/>
              <a:t>html </a:t>
            </a:r>
            <a:r>
              <a:rPr lang="ru-RU" sz="1100" dirty="0"/>
              <a:t>но надо занести все шаблоны чтобы создавать такое</a:t>
            </a:r>
          </a:p>
          <a:p>
            <a:endParaRPr lang="ru-RU" sz="1100" dirty="0"/>
          </a:p>
          <a:p>
            <a:r>
              <a:rPr lang="ru-RU" sz="1100" dirty="0"/>
              <a:t>4 – статистика по предметам – выбирается предмет и там выбирается один или несколько типов чтобы посмотреть посещаемость по ним. Так же считается количество в процентах как студенты отмечались. Все эти таблицы не скролятся внутри а имеют общий вертикальный </a:t>
            </a:r>
            <a:r>
              <a:rPr lang="ru-RU" sz="1100" dirty="0" err="1"/>
              <a:t>скролл</a:t>
            </a:r>
            <a:r>
              <a:rPr lang="ru-RU" sz="1100" dirty="0"/>
              <a:t> со страницей а горизонтальный только если </a:t>
            </a:r>
            <a:r>
              <a:rPr lang="ru-RU" sz="1100" dirty="0" err="1"/>
              <a:t>адаптив</a:t>
            </a:r>
            <a:r>
              <a:rPr lang="ru-RU" sz="1100" dirty="0"/>
              <a:t> или не влезает и то первый столб с фамилией не скролится и шапка тоже</a:t>
            </a:r>
          </a:p>
          <a:p>
            <a:endParaRPr lang="ru-RU" sz="1100" dirty="0"/>
          </a:p>
          <a:p>
            <a:r>
              <a:rPr lang="ru-RU" sz="1100" dirty="0"/>
              <a:t>5 – снизу есть график посещаемости который показывает динамику считаем только посещения чтоб показывать динамику деканата. Там можно выбрать как считать и показывать, за весть семестр и деления будут по неделям, по неделям и деления будут по дню (можно переключать недели) показывать по предмету (выбрать предмет и тип или типы). Показываем только </a:t>
            </a:r>
            <a:r>
              <a:rPr lang="ru-RU" sz="1100" dirty="0" err="1"/>
              <a:t>проуент</a:t>
            </a:r>
            <a:r>
              <a:rPr lang="ru-RU" sz="1100" dirty="0"/>
              <a:t> от «+» и вторая линия «+ и у» при этом масштаб всегда 100% и плавно график перетекает при анимации переключения недели а при наведении есть маленькие точки дня, чтоб </a:t>
            </a:r>
            <a:r>
              <a:rPr lang="ru-RU" sz="1100" dirty="0" err="1"/>
              <a:t>ыидеть</a:t>
            </a:r>
            <a:r>
              <a:rPr lang="ru-RU" sz="1100" dirty="0"/>
              <a:t> статистику по которой рисуется данный график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863EBF9-6DF8-ED88-47B2-DE1140DD2529}"/>
              </a:ext>
            </a:extLst>
          </p:cNvPr>
          <p:cNvGrpSpPr/>
          <p:nvPr/>
        </p:nvGrpSpPr>
        <p:grpSpPr>
          <a:xfrm>
            <a:off x="4928315" y="96316"/>
            <a:ext cx="7180627" cy="1014386"/>
            <a:chOff x="4928315" y="96316"/>
            <a:chExt cx="7180627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8FE6017C-B8FF-20C4-F4AE-5B811B72E272}"/>
                </a:ext>
              </a:extLst>
            </p:cNvPr>
            <p:cNvGrpSpPr/>
            <p:nvPr/>
          </p:nvGrpSpPr>
          <p:grpSpPr>
            <a:xfrm>
              <a:off x="4928315" y="128790"/>
              <a:ext cx="1614152" cy="287630"/>
              <a:chOff x="1803042" y="2137890"/>
              <a:chExt cx="1747234" cy="523744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36D36B9E-8F61-6D43-B734-C7CF4693742A}"/>
                  </a:ext>
                </a:extLst>
              </p:cNvPr>
              <p:cNvSpPr/>
              <p:nvPr/>
            </p:nvSpPr>
            <p:spPr>
              <a:xfrm>
                <a:off x="1803042" y="2137893"/>
                <a:ext cx="1747234" cy="52374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FB5D1697-515B-DAC6-31F3-A3A08A523A6F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1419940" cy="277001"/>
                <a:chOff x="2082085" y="1725766"/>
                <a:chExt cx="1419940" cy="277001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80241C1-B4DB-445D-A2BE-4AC3248ED647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14602D7-3292-B90C-0BCA-4914407D9559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B62C748-236B-20A4-02B8-E73452AC3155}"/>
                </a:ext>
              </a:extLst>
            </p:cNvPr>
            <p:cNvGrpSpPr/>
            <p:nvPr/>
          </p:nvGrpSpPr>
          <p:grpSpPr>
            <a:xfrm>
              <a:off x="10908405" y="96316"/>
              <a:ext cx="1200537" cy="1014386"/>
              <a:chOff x="10908405" y="96316"/>
              <a:chExt cx="1200537" cy="1014386"/>
            </a:xfrm>
          </p:grpSpPr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5DCE0784-6E9D-2A9C-BD23-35A721137C44}"/>
                  </a:ext>
                </a:extLst>
              </p:cNvPr>
              <p:cNvSpPr/>
              <p:nvPr/>
            </p:nvSpPr>
            <p:spPr>
              <a:xfrm>
                <a:off x="11638209" y="96316"/>
                <a:ext cx="369194" cy="36919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F7093EC-0C30-73C2-54D0-F38321B1DB08}"/>
                  </a:ext>
                </a:extLst>
              </p:cNvPr>
              <p:cNvSpPr txBox="1"/>
              <p:nvPr/>
            </p:nvSpPr>
            <p:spPr>
              <a:xfrm>
                <a:off x="11536669" y="188580"/>
                <a:ext cx="5722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профиль</a:t>
                </a:r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CA87DCA6-DED1-5880-E6BF-F6D2F48347F9}"/>
                  </a:ext>
                </a:extLst>
              </p:cNvPr>
              <p:cNvGrpSpPr/>
              <p:nvPr/>
            </p:nvGrpSpPr>
            <p:grpSpPr>
              <a:xfrm>
                <a:off x="10908405" y="513981"/>
                <a:ext cx="1167685" cy="596721"/>
                <a:chOff x="10908405" y="513981"/>
                <a:chExt cx="1167685" cy="596721"/>
              </a:xfrm>
            </p:grpSpPr>
            <p:sp>
              <p:nvSpPr>
                <p:cNvPr id="23" name="Прямоугольник 22">
                  <a:extLst>
                    <a:ext uri="{FF2B5EF4-FFF2-40B4-BE49-F238E27FC236}">
                      <a16:creationId xmlns:a16="http://schemas.microsoft.com/office/drawing/2014/main" id="{04ECC538-5E17-FBA7-9CD7-C1992229C0EC}"/>
                    </a:ext>
                  </a:extLst>
                </p:cNvPr>
                <p:cNvSpPr/>
                <p:nvPr/>
              </p:nvSpPr>
              <p:spPr>
                <a:xfrm>
                  <a:off x="10908405" y="513981"/>
                  <a:ext cx="1167685" cy="59672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27D06D-B738-26C6-A041-4366BA45FBC3}"/>
                    </a:ext>
                  </a:extLst>
                </p:cNvPr>
                <p:cNvSpPr txBox="1"/>
                <p:nvPr/>
              </p:nvSpPr>
              <p:spPr>
                <a:xfrm>
                  <a:off x="11032536" y="603721"/>
                  <a:ext cx="69570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ru-RU" sz="1200" dirty="0"/>
                    <a:t>Настройки</a:t>
                  </a:r>
                  <a:br>
                    <a:rPr lang="ru-RU" sz="1200" dirty="0"/>
                  </a:br>
                  <a:r>
                    <a:rPr lang="ru-RU" sz="1200" dirty="0"/>
                    <a:t>Выход</a:t>
                  </a:r>
                </a:p>
              </p:txBody>
            </p:sp>
          </p:grp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0F8FDE15-703E-781A-9B13-7EE85C340348}"/>
                </a:ext>
              </a:extLst>
            </p:cNvPr>
            <p:cNvGrpSpPr/>
            <p:nvPr/>
          </p:nvGrpSpPr>
          <p:grpSpPr>
            <a:xfrm>
              <a:off x="4928315" y="598868"/>
              <a:ext cx="5786147" cy="407865"/>
              <a:chOff x="4928315" y="598868"/>
              <a:chExt cx="5786147" cy="40786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A96DF1-20EE-7D76-113A-F302C05792E3}"/>
                  </a:ext>
                </a:extLst>
              </p:cNvPr>
              <p:cNvSpPr txBox="1"/>
              <p:nvPr/>
            </p:nvSpPr>
            <p:spPr>
              <a:xfrm>
                <a:off x="4928315" y="598868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333D44-5C7D-E8A6-9D98-0A69C60188B7}"/>
                  </a:ext>
                </a:extLst>
              </p:cNvPr>
              <p:cNvSpPr txBox="1"/>
              <p:nvPr/>
            </p:nvSpPr>
            <p:spPr>
              <a:xfrm>
                <a:off x="5622074" y="598868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B3BCB0-33FB-D8C8-51F0-5F4EDE08B10A}"/>
                  </a:ext>
                </a:extLst>
              </p:cNvPr>
              <p:cNvSpPr txBox="1"/>
              <p:nvPr/>
            </p:nvSpPr>
            <p:spPr>
              <a:xfrm>
                <a:off x="6766662" y="598868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615F0B-A13C-806B-4DB0-B277E7865CA6}"/>
                  </a:ext>
                </a:extLst>
              </p:cNvPr>
              <p:cNvSpPr txBox="1"/>
              <p:nvPr/>
            </p:nvSpPr>
            <p:spPr>
              <a:xfrm>
                <a:off x="7651369" y="598868"/>
                <a:ext cx="12697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домашнее задание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607D2D-531D-54F3-966A-0663A9B7FAD2}"/>
                  </a:ext>
                </a:extLst>
              </p:cNvPr>
              <p:cNvSpPr txBox="1"/>
              <p:nvPr/>
            </p:nvSpPr>
            <p:spPr>
              <a:xfrm>
                <a:off x="9112773" y="598868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99EC05-ECA3-76A8-EEBC-B5EA4D280337}"/>
                  </a:ext>
                </a:extLst>
              </p:cNvPr>
              <p:cNvSpPr txBox="1"/>
              <p:nvPr/>
            </p:nvSpPr>
            <p:spPr>
              <a:xfrm>
                <a:off x="9666868" y="598868"/>
                <a:ext cx="10475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заявки и тикеты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A8A551-4059-0BE1-747B-3D2C45A0AA49}"/>
                  </a:ext>
                </a:extLst>
              </p:cNvPr>
              <p:cNvSpPr txBox="1"/>
              <p:nvPr/>
            </p:nvSpPr>
            <p:spPr>
              <a:xfrm>
                <a:off x="4928315" y="822067"/>
                <a:ext cx="43691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Группа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B7F06B-4952-F0D9-2648-5CB97B14AE0B}"/>
                  </a:ext>
                </a:extLst>
              </p:cNvPr>
              <p:cNvSpPr txBox="1"/>
              <p:nvPr/>
            </p:nvSpPr>
            <p:spPr>
              <a:xfrm>
                <a:off x="5829526" y="822067"/>
                <a:ext cx="680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Предметы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1D63F4-02B3-AED6-B91C-5600B40C0911}"/>
                  </a:ext>
                </a:extLst>
              </p:cNvPr>
              <p:cNvSpPr txBox="1"/>
              <p:nvPr/>
            </p:nvSpPr>
            <p:spPr>
              <a:xfrm>
                <a:off x="6848393" y="822067"/>
                <a:ext cx="160595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Конструктор расписания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9386C6-1EBE-F178-1ED6-87970F16CA95}"/>
                  </a:ext>
                </a:extLst>
              </p:cNvPr>
              <p:cNvSpPr txBox="1"/>
              <p:nvPr/>
            </p:nvSpPr>
            <p:spPr>
              <a:xfrm>
                <a:off x="8687237" y="822067"/>
                <a:ext cx="134626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Управление парами</a:t>
                </a:r>
              </a:p>
            </p:txBody>
          </p:sp>
        </p:grp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DFBA393-D485-2F18-012B-07D8B7409B9D}"/>
              </a:ext>
            </a:extLst>
          </p:cNvPr>
          <p:cNvSpPr/>
          <p:nvPr/>
        </p:nvSpPr>
        <p:spPr>
          <a:xfrm>
            <a:off x="4908584" y="1314450"/>
            <a:ext cx="1840954" cy="64623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430308-1B53-A727-F89F-C1623122AF20}"/>
              </a:ext>
            </a:extLst>
          </p:cNvPr>
          <p:cNvSpPr txBox="1"/>
          <p:nvPr/>
        </p:nvSpPr>
        <p:spPr>
          <a:xfrm>
            <a:off x="5004941" y="1348539"/>
            <a:ext cx="150477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«+» </a:t>
            </a:r>
            <a:br>
              <a:rPr lang="ru-RU" sz="1200" dirty="0"/>
            </a:br>
            <a:r>
              <a:rPr lang="ru-RU" sz="1200" dirty="0"/>
              <a:t>за всё время по группе</a:t>
            </a:r>
            <a:br>
              <a:rPr lang="ru-RU" sz="1200" dirty="0"/>
            </a:br>
            <a:r>
              <a:rPr lang="ru-RU" sz="1200" dirty="0"/>
              <a:t>по всем предметам 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87819EE-69B0-6B6C-618C-70EDAC089E46}"/>
              </a:ext>
            </a:extLst>
          </p:cNvPr>
          <p:cNvSpPr/>
          <p:nvPr/>
        </p:nvSpPr>
        <p:spPr>
          <a:xfrm>
            <a:off x="6845895" y="1314450"/>
            <a:ext cx="1840954" cy="64623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8A62AB-54C1-7208-45E9-9ABBCBE19BE1}"/>
              </a:ext>
            </a:extLst>
          </p:cNvPr>
          <p:cNvSpPr txBox="1"/>
          <p:nvPr/>
        </p:nvSpPr>
        <p:spPr>
          <a:xfrm>
            <a:off x="6938763" y="1348539"/>
            <a:ext cx="150477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«н» </a:t>
            </a:r>
            <a:br>
              <a:rPr lang="ru-RU" sz="1200" dirty="0"/>
            </a:br>
            <a:r>
              <a:rPr lang="ru-RU" sz="1200" dirty="0"/>
              <a:t>за всё время по группе</a:t>
            </a:r>
            <a:br>
              <a:rPr lang="ru-RU" sz="1200" dirty="0"/>
            </a:br>
            <a:r>
              <a:rPr lang="ru-RU" sz="1200" dirty="0"/>
              <a:t>по всем предметам 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C1434C5-ACEF-B583-6097-285C76A453D4}"/>
              </a:ext>
            </a:extLst>
          </p:cNvPr>
          <p:cNvSpPr/>
          <p:nvPr/>
        </p:nvSpPr>
        <p:spPr>
          <a:xfrm>
            <a:off x="8779717" y="1314450"/>
            <a:ext cx="1840954" cy="64623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0E5F03-0EAE-2F1C-9644-DBF082BF57DE}"/>
              </a:ext>
            </a:extLst>
          </p:cNvPr>
          <p:cNvSpPr txBox="1"/>
          <p:nvPr/>
        </p:nvSpPr>
        <p:spPr>
          <a:xfrm>
            <a:off x="8872585" y="1348539"/>
            <a:ext cx="150477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«у» </a:t>
            </a:r>
            <a:br>
              <a:rPr lang="ru-RU" sz="1200" dirty="0"/>
            </a:br>
            <a:r>
              <a:rPr lang="ru-RU" sz="1200" dirty="0"/>
              <a:t>за всё время по группе</a:t>
            </a:r>
            <a:br>
              <a:rPr lang="ru-RU" sz="1200" dirty="0"/>
            </a:br>
            <a:r>
              <a:rPr lang="ru-RU" sz="1200" dirty="0"/>
              <a:t>по всем предметам 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97E369F-1932-95C6-B82F-6387E8D0C846}"/>
              </a:ext>
            </a:extLst>
          </p:cNvPr>
          <p:cNvSpPr/>
          <p:nvPr/>
        </p:nvSpPr>
        <p:spPr>
          <a:xfrm>
            <a:off x="10744798" y="1314450"/>
            <a:ext cx="1331292" cy="64623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A57914-3CD4-6EAC-AE7F-70DE99011D69}"/>
              </a:ext>
            </a:extLst>
          </p:cNvPr>
          <p:cNvSpPr txBox="1"/>
          <p:nvPr/>
        </p:nvSpPr>
        <p:spPr>
          <a:xfrm>
            <a:off x="10837666" y="1348539"/>
            <a:ext cx="112825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и тип</a:t>
            </a:r>
          </a:p>
          <a:p>
            <a:r>
              <a:rPr lang="ru-RU" sz="1200" dirty="0"/>
              <a:t> уважительных </a:t>
            </a:r>
          </a:p>
          <a:p>
            <a:r>
              <a:rPr lang="ru-RU" sz="1200" dirty="0"/>
              <a:t>причин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68CC772-F0E0-9D40-9E9D-E8E51573A137}"/>
              </a:ext>
            </a:extLst>
          </p:cNvPr>
          <p:cNvSpPr/>
          <p:nvPr/>
        </p:nvSpPr>
        <p:spPr>
          <a:xfrm>
            <a:off x="4928315" y="2083777"/>
            <a:ext cx="7147775" cy="153865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A3D951-CF1F-852A-0C4D-356F544438E5}"/>
              </a:ext>
            </a:extLst>
          </p:cNvPr>
          <p:cNvSpPr txBox="1"/>
          <p:nvPr/>
        </p:nvSpPr>
        <p:spPr>
          <a:xfrm>
            <a:off x="5037635" y="2180025"/>
            <a:ext cx="383425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Статистика по группе общая (фильтры на каждой колонке)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AC8844-E6D7-0E4F-3476-A63FA89D7326}"/>
              </a:ext>
            </a:extLst>
          </p:cNvPr>
          <p:cNvSpPr txBox="1"/>
          <p:nvPr/>
        </p:nvSpPr>
        <p:spPr>
          <a:xfrm>
            <a:off x="5037635" y="2425876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A3F1F8-CA01-71EF-E7D5-2D52620DEC89}"/>
              </a:ext>
            </a:extLst>
          </p:cNvPr>
          <p:cNvSpPr txBox="1"/>
          <p:nvPr/>
        </p:nvSpPr>
        <p:spPr>
          <a:xfrm>
            <a:off x="5467593" y="2425876"/>
            <a:ext cx="1923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%н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0F2175-6C32-3F8C-1FB3-F7C4D0A339C8}"/>
              </a:ext>
            </a:extLst>
          </p:cNvPr>
          <p:cNvSpPr txBox="1"/>
          <p:nvPr/>
        </p:nvSpPr>
        <p:spPr>
          <a:xfrm>
            <a:off x="5705853" y="2425876"/>
            <a:ext cx="1923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%+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311380-08A1-355D-DDCF-082782D2773E}"/>
              </a:ext>
            </a:extLst>
          </p:cNvPr>
          <p:cNvSpPr txBox="1"/>
          <p:nvPr/>
        </p:nvSpPr>
        <p:spPr>
          <a:xfrm>
            <a:off x="5972202" y="2425876"/>
            <a:ext cx="17953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%у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E42C71-9C51-88B2-29EC-7697FFEB0C47}"/>
              </a:ext>
            </a:extLst>
          </p:cNvPr>
          <p:cNvSpPr txBox="1"/>
          <p:nvPr/>
        </p:nvSpPr>
        <p:spPr>
          <a:xfrm>
            <a:off x="6274686" y="2425876"/>
            <a:ext cx="40876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%у + н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5CE0FE-FC3B-7070-BAD8-99EB61BAF8B4}"/>
              </a:ext>
            </a:extLst>
          </p:cNvPr>
          <p:cNvSpPr txBox="1"/>
          <p:nvPr/>
        </p:nvSpPr>
        <p:spPr>
          <a:xfrm>
            <a:off x="6845895" y="2425876"/>
            <a:ext cx="1741311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Количество тикетов на «н» Подано</a:t>
            </a:r>
            <a:r>
              <a:rPr lang="en-US" sz="1200" dirty="0"/>
              <a:t>/</a:t>
            </a:r>
            <a:r>
              <a:rPr lang="ru-RU" sz="1200" dirty="0"/>
              <a:t>положительное </a:t>
            </a:r>
          </a:p>
          <a:p>
            <a:r>
              <a:rPr lang="ru-RU" sz="1200" dirty="0"/>
              <a:t>решение</a:t>
            </a:r>
            <a:r>
              <a:rPr lang="en-US" sz="1200" dirty="0"/>
              <a:t>/</a:t>
            </a:r>
            <a:r>
              <a:rPr lang="ru-RU" sz="1200" dirty="0"/>
              <a:t>отрицательное </a:t>
            </a:r>
          </a:p>
          <a:p>
            <a:r>
              <a:rPr lang="ru-RU" sz="1200" dirty="0"/>
              <a:t>решение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C58F0F-CA66-5AF6-97B6-240139CDE466}"/>
              </a:ext>
            </a:extLst>
          </p:cNvPr>
          <p:cNvSpPr txBox="1"/>
          <p:nvPr/>
        </p:nvSpPr>
        <p:spPr>
          <a:xfrm>
            <a:off x="8762853" y="2425876"/>
            <a:ext cx="1741311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тикетов на «у»</a:t>
            </a:r>
          </a:p>
          <a:p>
            <a:r>
              <a:rPr lang="ru-RU" sz="1200" dirty="0"/>
              <a:t>Подано</a:t>
            </a:r>
            <a:r>
              <a:rPr lang="en-US" sz="1200" dirty="0"/>
              <a:t>/</a:t>
            </a:r>
            <a:r>
              <a:rPr lang="ru-RU" sz="1200" dirty="0"/>
              <a:t>положительное </a:t>
            </a:r>
          </a:p>
          <a:p>
            <a:r>
              <a:rPr lang="ru-RU" sz="1200" dirty="0"/>
              <a:t>решение</a:t>
            </a:r>
            <a:r>
              <a:rPr lang="en-US" sz="1200" dirty="0"/>
              <a:t>/</a:t>
            </a:r>
            <a:r>
              <a:rPr lang="ru-RU" sz="1200" dirty="0"/>
              <a:t>отрицательное </a:t>
            </a:r>
          </a:p>
          <a:p>
            <a:r>
              <a:rPr lang="ru-RU" sz="1200" dirty="0"/>
              <a:t>решение</a:t>
            </a:r>
          </a:p>
          <a:p>
            <a:endParaRPr lang="ru-RU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44B240-D026-DC7C-5DAF-EB996C5A2CFD}"/>
              </a:ext>
            </a:extLst>
          </p:cNvPr>
          <p:cNvSpPr txBox="1"/>
          <p:nvPr/>
        </p:nvSpPr>
        <p:spPr>
          <a:xfrm>
            <a:off x="10641954" y="2425876"/>
            <a:ext cx="1431739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процент отметок «+» </a:t>
            </a:r>
          </a:p>
          <a:p>
            <a:r>
              <a:rPr lang="ru-RU" sz="1200" dirty="0"/>
              <a:t>Через геолокацию</a:t>
            </a:r>
            <a:r>
              <a:rPr lang="en-US" sz="1200" dirty="0"/>
              <a:t>/</a:t>
            </a:r>
            <a:br>
              <a:rPr lang="en-US" sz="1200" dirty="0"/>
            </a:br>
            <a:r>
              <a:rPr lang="ru-RU" sz="1200" dirty="0"/>
              <a:t>через заявку старосте</a:t>
            </a:r>
          </a:p>
          <a:p>
            <a:r>
              <a:rPr lang="ru-RU" sz="1200" dirty="0"/>
              <a:t>При неудачной </a:t>
            </a:r>
          </a:p>
          <a:p>
            <a:r>
              <a:rPr lang="ru-RU" sz="1200" dirty="0"/>
              <a:t>геолокации</a:t>
            </a:r>
            <a:r>
              <a:rPr lang="en-US" sz="1200" dirty="0"/>
              <a:t>/ </a:t>
            </a:r>
            <a:endParaRPr lang="ru-RU" sz="1200" dirty="0"/>
          </a:p>
          <a:p>
            <a:r>
              <a:rPr lang="ru-RU" sz="1200" dirty="0"/>
              <a:t>Староста поставил 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04193A36-6A7E-74F1-6838-64E3535A8CFB}"/>
              </a:ext>
            </a:extLst>
          </p:cNvPr>
          <p:cNvSpPr/>
          <p:nvPr/>
        </p:nvSpPr>
        <p:spPr>
          <a:xfrm>
            <a:off x="4928315" y="4027625"/>
            <a:ext cx="7147775" cy="160459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4809A0-DEBF-524B-211E-9469C54A729E}"/>
              </a:ext>
            </a:extLst>
          </p:cNvPr>
          <p:cNvSpPr txBox="1"/>
          <p:nvPr/>
        </p:nvSpPr>
        <p:spPr>
          <a:xfrm>
            <a:off x="5037635" y="4123873"/>
            <a:ext cx="263508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Статистика по предметам (с фильтрами)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2606CA-192E-1F6F-8752-E121711E1FAB}"/>
              </a:ext>
            </a:extLst>
          </p:cNvPr>
          <p:cNvSpPr txBox="1"/>
          <p:nvPr/>
        </p:nvSpPr>
        <p:spPr>
          <a:xfrm>
            <a:off x="5037635" y="4369724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01E2F3-9BC9-447F-7057-97F03BD9F7B4}"/>
              </a:ext>
            </a:extLst>
          </p:cNvPr>
          <p:cNvSpPr txBox="1"/>
          <p:nvPr/>
        </p:nvSpPr>
        <p:spPr>
          <a:xfrm>
            <a:off x="5467593" y="4369724"/>
            <a:ext cx="1923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%н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973418-0478-7C6D-8E23-11DE2A07354F}"/>
              </a:ext>
            </a:extLst>
          </p:cNvPr>
          <p:cNvSpPr txBox="1"/>
          <p:nvPr/>
        </p:nvSpPr>
        <p:spPr>
          <a:xfrm>
            <a:off x="5705853" y="4369724"/>
            <a:ext cx="1923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%+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9FDA40-AC2A-9577-3B49-2A12B211FFD1}"/>
              </a:ext>
            </a:extLst>
          </p:cNvPr>
          <p:cNvSpPr txBox="1"/>
          <p:nvPr/>
        </p:nvSpPr>
        <p:spPr>
          <a:xfrm>
            <a:off x="5972202" y="4369724"/>
            <a:ext cx="17953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%у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A1E3C5-4AED-CED3-2761-C5DB3818DA28}"/>
              </a:ext>
            </a:extLst>
          </p:cNvPr>
          <p:cNvSpPr txBox="1"/>
          <p:nvPr/>
        </p:nvSpPr>
        <p:spPr>
          <a:xfrm>
            <a:off x="6274686" y="4369724"/>
            <a:ext cx="40876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%у + н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B6D78A-ECEE-E29D-85AA-542346477AA3}"/>
              </a:ext>
            </a:extLst>
          </p:cNvPr>
          <p:cNvSpPr txBox="1"/>
          <p:nvPr/>
        </p:nvSpPr>
        <p:spPr>
          <a:xfrm>
            <a:off x="10641954" y="4369724"/>
            <a:ext cx="1431739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процент отметок «+» </a:t>
            </a:r>
          </a:p>
          <a:p>
            <a:r>
              <a:rPr lang="ru-RU" sz="1200" dirty="0"/>
              <a:t>Через геолокацию</a:t>
            </a:r>
            <a:r>
              <a:rPr lang="en-US" sz="1200" dirty="0"/>
              <a:t>/</a:t>
            </a:r>
            <a:br>
              <a:rPr lang="en-US" sz="1200" dirty="0"/>
            </a:br>
            <a:r>
              <a:rPr lang="ru-RU" sz="1200" dirty="0"/>
              <a:t>через заявку старосте</a:t>
            </a:r>
          </a:p>
          <a:p>
            <a:r>
              <a:rPr lang="ru-RU" sz="1200" dirty="0"/>
              <a:t>При неудачной </a:t>
            </a:r>
          </a:p>
          <a:p>
            <a:r>
              <a:rPr lang="ru-RU" sz="1200" dirty="0"/>
              <a:t>геолокации</a:t>
            </a:r>
            <a:r>
              <a:rPr lang="en-US" sz="1200" dirty="0"/>
              <a:t>/ </a:t>
            </a:r>
            <a:endParaRPr lang="ru-RU" sz="1200" dirty="0"/>
          </a:p>
          <a:p>
            <a:r>
              <a:rPr lang="ru-RU" sz="1200" dirty="0"/>
              <a:t>Староста поставил 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C87A6A41-A6EF-44AE-A7A7-F642D9115235}"/>
              </a:ext>
            </a:extLst>
          </p:cNvPr>
          <p:cNvSpPr/>
          <p:nvPr/>
        </p:nvSpPr>
        <p:spPr>
          <a:xfrm>
            <a:off x="7923549" y="4104109"/>
            <a:ext cx="1614152" cy="2241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A4F422-B69E-BECE-23E0-9A4641094760}"/>
              </a:ext>
            </a:extLst>
          </p:cNvPr>
          <p:cNvSpPr txBox="1"/>
          <p:nvPr/>
        </p:nvSpPr>
        <p:spPr>
          <a:xfrm>
            <a:off x="7975756" y="4115842"/>
            <a:ext cx="11494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Выбрать предмет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DF3E34BB-1FB6-E586-2925-3E5EE0BD1A3D}"/>
              </a:ext>
            </a:extLst>
          </p:cNvPr>
          <p:cNvSpPr/>
          <p:nvPr/>
        </p:nvSpPr>
        <p:spPr>
          <a:xfrm>
            <a:off x="9657347" y="4104109"/>
            <a:ext cx="357896" cy="2241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F30186-9429-6199-23FF-51AC76EB3FE8}"/>
              </a:ext>
            </a:extLst>
          </p:cNvPr>
          <p:cNvSpPr txBox="1"/>
          <p:nvPr/>
        </p:nvSpPr>
        <p:spPr>
          <a:xfrm>
            <a:off x="9709554" y="4115842"/>
            <a:ext cx="17793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ЛК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5B45F1B4-D73E-1589-84BB-EA0771558A90}"/>
              </a:ext>
            </a:extLst>
          </p:cNvPr>
          <p:cNvSpPr/>
          <p:nvPr/>
        </p:nvSpPr>
        <p:spPr>
          <a:xfrm>
            <a:off x="10085486" y="4104109"/>
            <a:ext cx="357896" cy="2241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444052-9B81-8C61-0B98-0AD04CCC3B1B}"/>
              </a:ext>
            </a:extLst>
          </p:cNvPr>
          <p:cNvSpPr txBox="1"/>
          <p:nvPr/>
        </p:nvSpPr>
        <p:spPr>
          <a:xfrm>
            <a:off x="10137693" y="4115842"/>
            <a:ext cx="14587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пз</a:t>
            </a:r>
            <a:endParaRPr lang="ru-RU" sz="1200" dirty="0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10913C5A-168A-171D-69CF-2C2C33915290}"/>
              </a:ext>
            </a:extLst>
          </p:cNvPr>
          <p:cNvSpPr/>
          <p:nvPr/>
        </p:nvSpPr>
        <p:spPr>
          <a:xfrm>
            <a:off x="10548519" y="4104109"/>
            <a:ext cx="357896" cy="22419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8E0BEF-CC55-9BC8-5F7E-86B8797201AA}"/>
              </a:ext>
            </a:extLst>
          </p:cNvPr>
          <p:cNvSpPr txBox="1"/>
          <p:nvPr/>
        </p:nvSpPr>
        <p:spPr>
          <a:xfrm>
            <a:off x="10600726" y="4115842"/>
            <a:ext cx="1442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лз</a:t>
            </a:r>
            <a:endParaRPr lang="ru-RU" sz="1200" dirty="0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F42D2A6E-8CA8-DBF6-9A5B-C1FFFCE1C7D9}"/>
              </a:ext>
            </a:extLst>
          </p:cNvPr>
          <p:cNvSpPr/>
          <p:nvPr/>
        </p:nvSpPr>
        <p:spPr>
          <a:xfrm>
            <a:off x="11617959" y="5926257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36A290F1-2ABD-699D-84F0-8CB7D78FF4A4}"/>
              </a:ext>
            </a:extLst>
          </p:cNvPr>
          <p:cNvSpPr/>
          <p:nvPr/>
        </p:nvSpPr>
        <p:spPr>
          <a:xfrm>
            <a:off x="11043842" y="5926257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23A2D6AF-3A69-2F56-6C13-5C36D9EDAAB2}"/>
              </a:ext>
            </a:extLst>
          </p:cNvPr>
          <p:cNvSpPr/>
          <p:nvPr/>
        </p:nvSpPr>
        <p:spPr>
          <a:xfrm>
            <a:off x="10411382" y="5926257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C630CF-DC8A-73D3-1694-2788B6E03C44}"/>
              </a:ext>
            </a:extLst>
          </p:cNvPr>
          <p:cNvSpPr txBox="1"/>
          <p:nvPr/>
        </p:nvSpPr>
        <p:spPr>
          <a:xfrm>
            <a:off x="10480553" y="5974320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docx</a:t>
            </a:r>
            <a:endParaRPr lang="ru-RU" sz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C5B14A-767A-7137-719B-53532B1DDE83}"/>
              </a:ext>
            </a:extLst>
          </p:cNvPr>
          <p:cNvSpPr txBox="1"/>
          <p:nvPr/>
        </p:nvSpPr>
        <p:spPr>
          <a:xfrm>
            <a:off x="11092679" y="5974320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pdf</a:t>
            </a:r>
            <a:endParaRPr lang="ru-RU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5B3A603-B012-7032-532E-62D769C37A8E}"/>
              </a:ext>
            </a:extLst>
          </p:cNvPr>
          <p:cNvSpPr txBox="1"/>
          <p:nvPr/>
        </p:nvSpPr>
        <p:spPr>
          <a:xfrm>
            <a:off x="11676302" y="5974320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 err="1"/>
              <a:t>png</a:t>
            </a:r>
            <a:endParaRPr lang="ru-RU" sz="1200" dirty="0"/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DFD4147A-D43E-A7FD-A728-4E26D0325D35}"/>
              </a:ext>
            </a:extLst>
          </p:cNvPr>
          <p:cNvSpPr/>
          <p:nvPr/>
        </p:nvSpPr>
        <p:spPr>
          <a:xfrm>
            <a:off x="11617959" y="3703461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A43AE68A-6AD4-4D7C-6CE5-B38DF880B200}"/>
              </a:ext>
            </a:extLst>
          </p:cNvPr>
          <p:cNvSpPr/>
          <p:nvPr/>
        </p:nvSpPr>
        <p:spPr>
          <a:xfrm>
            <a:off x="11043842" y="3703461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49BE4819-8D09-C953-0E79-EF731FF84B12}"/>
              </a:ext>
            </a:extLst>
          </p:cNvPr>
          <p:cNvSpPr/>
          <p:nvPr/>
        </p:nvSpPr>
        <p:spPr>
          <a:xfrm>
            <a:off x="10411382" y="3703461"/>
            <a:ext cx="44840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CDE49FD-4D8F-BB2B-8562-ADF547A510BA}"/>
              </a:ext>
            </a:extLst>
          </p:cNvPr>
          <p:cNvSpPr txBox="1"/>
          <p:nvPr/>
        </p:nvSpPr>
        <p:spPr>
          <a:xfrm>
            <a:off x="10480553" y="3751524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docx</a:t>
            </a:r>
            <a:endParaRPr lang="ru-RU" sz="1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0EF629-ADE5-E350-8284-F27BC65E3EDF}"/>
              </a:ext>
            </a:extLst>
          </p:cNvPr>
          <p:cNvSpPr txBox="1"/>
          <p:nvPr/>
        </p:nvSpPr>
        <p:spPr>
          <a:xfrm>
            <a:off x="11092679" y="3751524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pdf</a:t>
            </a:r>
            <a:endParaRPr lang="ru-RU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83A83A-A82D-0F41-CDE7-F0E7E0E2CC06}"/>
              </a:ext>
            </a:extLst>
          </p:cNvPr>
          <p:cNvSpPr txBox="1"/>
          <p:nvPr/>
        </p:nvSpPr>
        <p:spPr>
          <a:xfrm>
            <a:off x="11676302" y="3751524"/>
            <a:ext cx="5049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 err="1"/>
              <a:t>png</a:t>
            </a:r>
            <a:endParaRPr lang="ru-RU" sz="1200" dirty="0"/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9339A012-2E6B-95DD-4FA6-538AB748C48C}"/>
              </a:ext>
            </a:extLst>
          </p:cNvPr>
          <p:cNvSpPr/>
          <p:nvPr/>
        </p:nvSpPr>
        <p:spPr>
          <a:xfrm>
            <a:off x="4928315" y="6254280"/>
            <a:ext cx="7147775" cy="46787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5231547-C583-326F-90C9-924C00F3335F}"/>
              </a:ext>
            </a:extLst>
          </p:cNvPr>
          <p:cNvSpPr txBox="1"/>
          <p:nvPr/>
        </p:nvSpPr>
        <p:spPr>
          <a:xfrm>
            <a:off x="5037635" y="6338638"/>
            <a:ext cx="660687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График посещаемости по неделям семестра</a:t>
            </a:r>
            <a:r>
              <a:rPr lang="en-US" sz="1200" dirty="0"/>
              <a:t>/</a:t>
            </a:r>
            <a:r>
              <a:rPr lang="ru-RU" sz="1200" dirty="0"/>
              <a:t>дням  неделе </a:t>
            </a:r>
            <a:r>
              <a:rPr lang="en-US" sz="1200" dirty="0"/>
              <a:t>/</a:t>
            </a:r>
            <a:r>
              <a:rPr lang="ru-RU" sz="1200" dirty="0"/>
              <a:t>предметам (можно скачать, показывает </a:t>
            </a:r>
          </a:p>
          <a:p>
            <a:r>
              <a:rPr lang="ru-RU" sz="1200" dirty="0"/>
              <a:t>2 линии: % «+» и % «+ и у»</a:t>
            </a:r>
          </a:p>
        </p:txBody>
      </p:sp>
    </p:spTree>
    <p:extLst>
      <p:ext uri="{BB962C8B-B14F-4D97-AF65-F5344CB8AC3E}">
        <p14:creationId xmlns:p14="http://schemas.microsoft.com/office/powerpoint/2010/main" val="332630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113 – СТРАНИЦА СТАРОСТА – СТАТИСТИКА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как студент мне надо видеть статистику полную подробную и удобную для анализа</a:t>
            </a:r>
          </a:p>
          <a:p>
            <a:endParaRPr lang="ru-RU" sz="1100" dirty="0"/>
          </a:p>
          <a:p>
            <a:r>
              <a:rPr lang="ru-RU" sz="1100" dirty="0"/>
              <a:t>2 – я хочу гибкие фильтры связанность чтоб я мог посмотреть в одном месте щёлкнув более подробную статистику которая может уместиться в маленьком окне на экране (не </a:t>
            </a:r>
            <a:r>
              <a:rPr lang="ru-RU" sz="1100" dirty="0" err="1"/>
              <a:t>модалка</a:t>
            </a:r>
            <a:r>
              <a:rPr lang="ru-RU" sz="1100" dirty="0"/>
              <a:t> поверх основного)</a:t>
            </a:r>
          </a:p>
          <a:p>
            <a:endParaRPr lang="ru-RU" sz="1100" dirty="0"/>
          </a:p>
          <a:p>
            <a:r>
              <a:rPr lang="ru-RU" sz="1100" dirty="0"/>
              <a:t>3 – очень важно теперь разделять в </a:t>
            </a:r>
            <a:r>
              <a:rPr lang="ru-RU" sz="1100" dirty="0" err="1"/>
              <a:t>бекенде</a:t>
            </a:r>
            <a:r>
              <a:rPr lang="ru-RU" sz="1100" dirty="0"/>
              <a:t> данные посещение и как считать статистику (теперь есть 2 статистики всегда «+» и «у и +» тк разные преподаватели оценивают посещаемость по-разному</a:t>
            </a:r>
          </a:p>
        </p:txBody>
      </p:sp>
    </p:spTree>
    <p:extLst>
      <p:ext uri="{BB962C8B-B14F-4D97-AF65-F5344CB8AC3E}">
        <p14:creationId xmlns:p14="http://schemas.microsoft.com/office/powerpoint/2010/main" val="69958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114 – СТРАНИЦА СТАРОСТА – ДОМАШНЕЕ ЗАДАНИЕ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староста выкладывает дз по умолчанию голый экран тк непонятно и для экономии передачи данных мы не знаем зачем староста пришёл, он выбирает добавить, </a:t>
            </a:r>
            <a:r>
              <a:rPr lang="ru-RU" sz="1100" dirty="0" err="1"/>
              <a:t>акутальное</a:t>
            </a:r>
            <a:r>
              <a:rPr lang="ru-RU" sz="1100" dirty="0"/>
              <a:t> и архив</a:t>
            </a:r>
          </a:p>
          <a:p>
            <a:endParaRPr lang="ru-RU" sz="1100" dirty="0"/>
          </a:p>
          <a:p>
            <a:r>
              <a:rPr lang="ru-RU" sz="1100" dirty="0"/>
              <a:t>2 – когда выбирается дата – появляется календарь и подсвечивается день следующей пары по данному </a:t>
            </a:r>
            <a:r>
              <a:rPr lang="ru-RU" sz="1100" dirty="0" err="1"/>
              <a:t>предммету</a:t>
            </a:r>
            <a:r>
              <a:rPr lang="ru-RU" sz="1100" dirty="0"/>
              <a:t> данного выбранного типа, но тут можно выбрать другой день дедлайна если нажать ползунок сверху календаря (все дни а не только по данному предмету) тогда дз можно выложить на любой день без привязки к паре иначе просто дз привязывается к паре и при переносе оно переносится и дедлайн переносится</a:t>
            </a:r>
          </a:p>
          <a:p>
            <a:endParaRPr lang="ru-RU" sz="1100" dirty="0"/>
          </a:p>
          <a:p>
            <a:r>
              <a:rPr lang="ru-RU" sz="1100" dirty="0"/>
              <a:t>3 – в актуальном предметы выстраиваются в порядке следования дат от ближайших к дальнейшим но можно задать фильтры по предметам по типам предметов по датам и тд</a:t>
            </a:r>
          </a:p>
          <a:p>
            <a:endParaRPr lang="ru-RU" sz="1100" dirty="0"/>
          </a:p>
          <a:p>
            <a:r>
              <a:rPr lang="ru-RU" sz="1100" dirty="0"/>
              <a:t>4 – с архивом ничего нельзя сделать всё как есть так и остаётся просто </a:t>
            </a:r>
            <a:r>
              <a:rPr lang="ru-RU" sz="1100" dirty="0" err="1"/>
              <a:t>просмтор</a:t>
            </a:r>
            <a:endParaRPr lang="ru-RU" sz="1100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36D1083-B947-A502-C310-C490DB89568A}"/>
              </a:ext>
            </a:extLst>
          </p:cNvPr>
          <p:cNvGrpSpPr/>
          <p:nvPr/>
        </p:nvGrpSpPr>
        <p:grpSpPr>
          <a:xfrm>
            <a:off x="4928315" y="96316"/>
            <a:ext cx="7180627" cy="1014386"/>
            <a:chOff x="4928315" y="96316"/>
            <a:chExt cx="7180627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33AD7106-D312-175D-B3B6-1D4F88519654}"/>
                </a:ext>
              </a:extLst>
            </p:cNvPr>
            <p:cNvGrpSpPr/>
            <p:nvPr/>
          </p:nvGrpSpPr>
          <p:grpSpPr>
            <a:xfrm>
              <a:off x="4928315" y="128790"/>
              <a:ext cx="1614152" cy="287630"/>
              <a:chOff x="1803042" y="2137890"/>
              <a:chExt cx="1747234" cy="523744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7805E5BA-B2C9-EE54-67C0-766894A0A693}"/>
                  </a:ext>
                </a:extLst>
              </p:cNvPr>
              <p:cNvSpPr/>
              <p:nvPr/>
            </p:nvSpPr>
            <p:spPr>
              <a:xfrm>
                <a:off x="1803042" y="2137893"/>
                <a:ext cx="1747234" cy="52374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E4733D52-6C55-6838-2D9B-9528EE10CE54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1419940" cy="277001"/>
                <a:chOff x="2082085" y="1725766"/>
                <a:chExt cx="1419940" cy="277001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F5ECA4E-3F15-37C6-580E-FA5BD1C1CB1D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08C01AD-39CC-4CEE-91F1-07E77696D9A8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320EC5D8-27A8-A2C1-FB23-E1CD7023569D}"/>
                </a:ext>
              </a:extLst>
            </p:cNvPr>
            <p:cNvGrpSpPr/>
            <p:nvPr/>
          </p:nvGrpSpPr>
          <p:grpSpPr>
            <a:xfrm>
              <a:off x="10908405" y="96316"/>
              <a:ext cx="1200537" cy="1014386"/>
              <a:chOff x="10908405" y="96316"/>
              <a:chExt cx="1200537" cy="1014386"/>
            </a:xfrm>
          </p:grpSpPr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B2E8FBF0-7CC3-0F93-AC92-CE44E4CC76C9}"/>
                  </a:ext>
                </a:extLst>
              </p:cNvPr>
              <p:cNvSpPr/>
              <p:nvPr/>
            </p:nvSpPr>
            <p:spPr>
              <a:xfrm>
                <a:off x="11638209" y="96316"/>
                <a:ext cx="369194" cy="36919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0BE5BA4-D73A-FF9D-B181-E0760DACFF7C}"/>
                  </a:ext>
                </a:extLst>
              </p:cNvPr>
              <p:cNvSpPr txBox="1"/>
              <p:nvPr/>
            </p:nvSpPr>
            <p:spPr>
              <a:xfrm>
                <a:off x="11536669" y="188580"/>
                <a:ext cx="5722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профиль</a:t>
                </a:r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14042994-3AB7-79BA-597D-8EE038230BB5}"/>
                  </a:ext>
                </a:extLst>
              </p:cNvPr>
              <p:cNvGrpSpPr/>
              <p:nvPr/>
            </p:nvGrpSpPr>
            <p:grpSpPr>
              <a:xfrm>
                <a:off x="10908405" y="513981"/>
                <a:ext cx="1167685" cy="596721"/>
                <a:chOff x="10908405" y="513981"/>
                <a:chExt cx="1167685" cy="596721"/>
              </a:xfrm>
            </p:grpSpPr>
            <p:sp>
              <p:nvSpPr>
                <p:cNvPr id="23" name="Прямоугольник 22">
                  <a:extLst>
                    <a:ext uri="{FF2B5EF4-FFF2-40B4-BE49-F238E27FC236}">
                      <a16:creationId xmlns:a16="http://schemas.microsoft.com/office/drawing/2014/main" id="{B403BB02-E8F6-C6CB-8CF3-074FC0BFEA83}"/>
                    </a:ext>
                  </a:extLst>
                </p:cNvPr>
                <p:cNvSpPr/>
                <p:nvPr/>
              </p:nvSpPr>
              <p:spPr>
                <a:xfrm>
                  <a:off x="10908405" y="513981"/>
                  <a:ext cx="1167685" cy="59672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68B9AFF-3CC4-9C74-3967-42A75CE7616E}"/>
                    </a:ext>
                  </a:extLst>
                </p:cNvPr>
                <p:cNvSpPr txBox="1"/>
                <p:nvPr/>
              </p:nvSpPr>
              <p:spPr>
                <a:xfrm>
                  <a:off x="11032536" y="603721"/>
                  <a:ext cx="69570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ru-RU" sz="1200" dirty="0"/>
                    <a:t>Настройки</a:t>
                  </a:r>
                  <a:br>
                    <a:rPr lang="ru-RU" sz="1200" dirty="0"/>
                  </a:br>
                  <a:r>
                    <a:rPr lang="ru-RU" sz="1200" dirty="0"/>
                    <a:t>Выход</a:t>
                  </a:r>
                </a:p>
              </p:txBody>
            </p:sp>
          </p:grp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6A490A27-E3CA-B218-4930-53F18EEA5454}"/>
                </a:ext>
              </a:extLst>
            </p:cNvPr>
            <p:cNvGrpSpPr/>
            <p:nvPr/>
          </p:nvGrpSpPr>
          <p:grpSpPr>
            <a:xfrm>
              <a:off x="4928315" y="598868"/>
              <a:ext cx="5786147" cy="407865"/>
              <a:chOff x="4928315" y="598868"/>
              <a:chExt cx="5786147" cy="40786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A6A451-06C9-6626-F0DA-C44A05204862}"/>
                  </a:ext>
                </a:extLst>
              </p:cNvPr>
              <p:cNvSpPr txBox="1"/>
              <p:nvPr/>
            </p:nvSpPr>
            <p:spPr>
              <a:xfrm>
                <a:off x="4928315" y="598868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37139-A2DF-E531-DFFF-0CA3A092C84C}"/>
                  </a:ext>
                </a:extLst>
              </p:cNvPr>
              <p:cNvSpPr txBox="1"/>
              <p:nvPr/>
            </p:nvSpPr>
            <p:spPr>
              <a:xfrm>
                <a:off x="5622074" y="598868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0959DA-3AF3-2665-8B2E-607F9D76DE18}"/>
                  </a:ext>
                </a:extLst>
              </p:cNvPr>
              <p:cNvSpPr txBox="1"/>
              <p:nvPr/>
            </p:nvSpPr>
            <p:spPr>
              <a:xfrm>
                <a:off x="6766662" y="598868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5D49D6-E13C-AC90-0A82-0E31C3EDA84B}"/>
                  </a:ext>
                </a:extLst>
              </p:cNvPr>
              <p:cNvSpPr txBox="1"/>
              <p:nvPr/>
            </p:nvSpPr>
            <p:spPr>
              <a:xfrm>
                <a:off x="7651369" y="598868"/>
                <a:ext cx="12697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домашнее задание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CDC12E-3D14-D907-262D-6BA42C33297C}"/>
                  </a:ext>
                </a:extLst>
              </p:cNvPr>
              <p:cNvSpPr txBox="1"/>
              <p:nvPr/>
            </p:nvSpPr>
            <p:spPr>
              <a:xfrm>
                <a:off x="9112773" y="598868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F8A4CB-F231-3637-902D-682553C6DB4D}"/>
                  </a:ext>
                </a:extLst>
              </p:cNvPr>
              <p:cNvSpPr txBox="1"/>
              <p:nvPr/>
            </p:nvSpPr>
            <p:spPr>
              <a:xfrm>
                <a:off x="9666868" y="598868"/>
                <a:ext cx="10475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заявки и тикеты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5CD797-D4BE-397C-F1A2-8C66C2ADE416}"/>
                  </a:ext>
                </a:extLst>
              </p:cNvPr>
              <p:cNvSpPr txBox="1"/>
              <p:nvPr/>
            </p:nvSpPr>
            <p:spPr>
              <a:xfrm>
                <a:off x="4928315" y="822067"/>
                <a:ext cx="43691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Группа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028A10-F897-2D1A-D0FA-90E7FFB5101D}"/>
                  </a:ext>
                </a:extLst>
              </p:cNvPr>
              <p:cNvSpPr txBox="1"/>
              <p:nvPr/>
            </p:nvSpPr>
            <p:spPr>
              <a:xfrm>
                <a:off x="5829526" y="822067"/>
                <a:ext cx="680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Предметы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36CDDA-8392-647C-622F-045E56870D5A}"/>
                  </a:ext>
                </a:extLst>
              </p:cNvPr>
              <p:cNvSpPr txBox="1"/>
              <p:nvPr/>
            </p:nvSpPr>
            <p:spPr>
              <a:xfrm>
                <a:off x="6848393" y="822067"/>
                <a:ext cx="160595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Конструктор расписания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272663-6B2F-EAE4-64E4-D70DC0575F3E}"/>
                  </a:ext>
                </a:extLst>
              </p:cNvPr>
              <p:cNvSpPr txBox="1"/>
              <p:nvPr/>
            </p:nvSpPr>
            <p:spPr>
              <a:xfrm>
                <a:off x="8687237" y="822067"/>
                <a:ext cx="134626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Управление парами</a:t>
                </a:r>
              </a:p>
            </p:txBody>
          </p:sp>
        </p:grp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EE34D58-DB5B-764A-000E-47836A17456F}"/>
              </a:ext>
            </a:extLst>
          </p:cNvPr>
          <p:cNvSpPr/>
          <p:nvPr/>
        </p:nvSpPr>
        <p:spPr>
          <a:xfrm>
            <a:off x="5016012" y="1375996"/>
            <a:ext cx="1200150" cy="360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B1CDC7-E096-0E78-FCDC-9CBF4CCA9451}"/>
              </a:ext>
            </a:extLst>
          </p:cNvPr>
          <p:cNvSpPr txBox="1"/>
          <p:nvPr/>
        </p:nvSpPr>
        <p:spPr>
          <a:xfrm>
            <a:off x="5280233" y="1463905"/>
            <a:ext cx="6239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Добавить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18714AF-CE43-2EF4-E136-77ECEF584C44}"/>
              </a:ext>
            </a:extLst>
          </p:cNvPr>
          <p:cNvSpPr/>
          <p:nvPr/>
        </p:nvSpPr>
        <p:spPr>
          <a:xfrm>
            <a:off x="6458422" y="1375996"/>
            <a:ext cx="1200150" cy="360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A0553D-6E1E-903A-58AA-DC06CBC4D065}"/>
              </a:ext>
            </a:extLst>
          </p:cNvPr>
          <p:cNvSpPr txBox="1"/>
          <p:nvPr/>
        </p:nvSpPr>
        <p:spPr>
          <a:xfrm>
            <a:off x="6722643" y="1463905"/>
            <a:ext cx="75501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Актуальное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5288F49-90E6-7B2B-81BF-BD129190F713}"/>
              </a:ext>
            </a:extLst>
          </p:cNvPr>
          <p:cNvSpPr/>
          <p:nvPr/>
        </p:nvSpPr>
        <p:spPr>
          <a:xfrm>
            <a:off x="7975096" y="1375996"/>
            <a:ext cx="1200150" cy="360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63E366-75F3-ABAB-F62E-6191B2C02756}"/>
              </a:ext>
            </a:extLst>
          </p:cNvPr>
          <p:cNvSpPr txBox="1"/>
          <p:nvPr/>
        </p:nvSpPr>
        <p:spPr>
          <a:xfrm>
            <a:off x="8239317" y="1463905"/>
            <a:ext cx="37683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архив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93FE95-77C8-1589-F4FE-7D1121834DC0}"/>
              </a:ext>
            </a:extLst>
          </p:cNvPr>
          <p:cNvSpPr/>
          <p:nvPr/>
        </p:nvSpPr>
        <p:spPr>
          <a:xfrm>
            <a:off x="5016012" y="1828800"/>
            <a:ext cx="6991391" cy="1600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6B6351-6E38-14FA-7A99-987DE1FC0EC8}"/>
              </a:ext>
            </a:extLst>
          </p:cNvPr>
          <p:cNvSpPr txBox="1"/>
          <p:nvPr/>
        </p:nvSpPr>
        <p:spPr>
          <a:xfrm>
            <a:off x="5179345" y="1946254"/>
            <a:ext cx="14764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Пример для добавить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985431-FBE4-5B15-A525-C9EA85D51223}"/>
              </a:ext>
            </a:extLst>
          </p:cNvPr>
          <p:cNvSpPr txBox="1"/>
          <p:nvPr/>
        </p:nvSpPr>
        <p:spPr>
          <a:xfrm>
            <a:off x="5179345" y="2221035"/>
            <a:ext cx="527003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Выбрать предмет из списка, выбрать тип занятия, далее выбрать дату дедлайна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A619EF-78ED-4781-A8EB-163690F9A57F}"/>
              </a:ext>
            </a:extLst>
          </p:cNvPr>
          <p:cNvSpPr txBox="1"/>
          <p:nvPr/>
        </p:nvSpPr>
        <p:spPr>
          <a:xfrm>
            <a:off x="5179345" y="2505752"/>
            <a:ext cx="547823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Прикрепить одну ссылку основную, остальные ссылки можно добавить в описание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3D431E-9130-4636-EA6F-048B9DD4311E}"/>
              </a:ext>
            </a:extLst>
          </p:cNvPr>
          <p:cNvSpPr txBox="1"/>
          <p:nvPr/>
        </p:nvSpPr>
        <p:spPr>
          <a:xfrm>
            <a:off x="5179345" y="2797936"/>
            <a:ext cx="64761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Описание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D8CFBDF-49BB-50A2-1BE9-9C89F56CA5FB}"/>
              </a:ext>
            </a:extLst>
          </p:cNvPr>
          <p:cNvSpPr/>
          <p:nvPr/>
        </p:nvSpPr>
        <p:spPr>
          <a:xfrm>
            <a:off x="10528089" y="2886409"/>
            <a:ext cx="1200150" cy="360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54BBFF-0BCB-E3D7-5607-DDEB80B07D4F}"/>
              </a:ext>
            </a:extLst>
          </p:cNvPr>
          <p:cNvSpPr txBox="1"/>
          <p:nvPr/>
        </p:nvSpPr>
        <p:spPr>
          <a:xfrm>
            <a:off x="10649218" y="2974318"/>
            <a:ext cx="95789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Опубликовать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27B1A87-D6A6-29A9-7365-183194EC3C64}"/>
              </a:ext>
            </a:extLst>
          </p:cNvPr>
          <p:cNvSpPr/>
          <p:nvPr/>
        </p:nvSpPr>
        <p:spPr>
          <a:xfrm>
            <a:off x="5016012" y="3640897"/>
            <a:ext cx="6991391" cy="1600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82E3CA-DBDF-40B7-40C9-FF585FBB6B47}"/>
              </a:ext>
            </a:extLst>
          </p:cNvPr>
          <p:cNvSpPr txBox="1"/>
          <p:nvPr/>
        </p:nvSpPr>
        <p:spPr>
          <a:xfrm>
            <a:off x="5179345" y="3758351"/>
            <a:ext cx="160460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Пример для актуальное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B5D661-B818-E511-C538-6AAFC9693EE9}"/>
              </a:ext>
            </a:extLst>
          </p:cNvPr>
          <p:cNvSpPr txBox="1"/>
          <p:nvPr/>
        </p:nvSpPr>
        <p:spPr>
          <a:xfrm>
            <a:off x="5179345" y="3970248"/>
            <a:ext cx="420224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Предмет + тип + дата (</a:t>
            </a:r>
            <a:r>
              <a:rPr lang="ru-RU" sz="1200" dirty="0" err="1"/>
              <a:t>пометкаа</a:t>
            </a:r>
            <a:r>
              <a:rPr lang="ru-RU" sz="1200" dirty="0"/>
              <a:t> с привязкой ли к предмету или </a:t>
            </a:r>
          </a:p>
          <a:p>
            <a:r>
              <a:rPr lang="ru-RU" sz="1200" dirty="0"/>
              <a:t>без привязки к предмету (ползунок на календаре)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3B7999-1BEB-6715-1E3C-C05768AF0EC2}"/>
              </a:ext>
            </a:extLst>
          </p:cNvPr>
          <p:cNvSpPr txBox="1"/>
          <p:nvPr/>
        </p:nvSpPr>
        <p:spPr>
          <a:xfrm>
            <a:off x="5179345" y="4348534"/>
            <a:ext cx="19349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Описание + ссылка основная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AB7334F-63DA-3258-241A-52E5D7C7BC06}"/>
              </a:ext>
            </a:extLst>
          </p:cNvPr>
          <p:cNvSpPr/>
          <p:nvPr/>
        </p:nvSpPr>
        <p:spPr>
          <a:xfrm>
            <a:off x="10528089" y="3786613"/>
            <a:ext cx="1200150" cy="360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5FA105-EC80-2A46-C0C4-C63E372C6399}"/>
              </a:ext>
            </a:extLst>
          </p:cNvPr>
          <p:cNvSpPr txBox="1"/>
          <p:nvPr/>
        </p:nvSpPr>
        <p:spPr>
          <a:xfrm>
            <a:off x="10649218" y="3874522"/>
            <a:ext cx="52136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Удалить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45E91930-9267-DB5B-C02D-AB99125E6B22}"/>
              </a:ext>
            </a:extLst>
          </p:cNvPr>
          <p:cNvSpPr/>
          <p:nvPr/>
        </p:nvSpPr>
        <p:spPr>
          <a:xfrm>
            <a:off x="10528089" y="4210141"/>
            <a:ext cx="1200150" cy="360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9D6A91-321D-2F8E-351A-84CBC814F6CA}"/>
              </a:ext>
            </a:extLst>
          </p:cNvPr>
          <p:cNvSpPr txBox="1"/>
          <p:nvPr/>
        </p:nvSpPr>
        <p:spPr>
          <a:xfrm>
            <a:off x="10649218" y="4298050"/>
            <a:ext cx="1005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Редактировать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5152D5AE-1681-FC5A-61C2-3D79C16C5D24}"/>
              </a:ext>
            </a:extLst>
          </p:cNvPr>
          <p:cNvSpPr/>
          <p:nvPr/>
        </p:nvSpPr>
        <p:spPr>
          <a:xfrm>
            <a:off x="10528089" y="4595065"/>
            <a:ext cx="1200150" cy="360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B7F2CA-015C-67C0-650C-18E80CD29616}"/>
              </a:ext>
            </a:extLst>
          </p:cNvPr>
          <p:cNvSpPr txBox="1"/>
          <p:nvPr/>
        </p:nvSpPr>
        <p:spPr>
          <a:xfrm>
            <a:off x="10649218" y="4682974"/>
            <a:ext cx="69730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Перенести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3C34D18C-68B7-5A21-333E-980002B80C4B}"/>
              </a:ext>
            </a:extLst>
          </p:cNvPr>
          <p:cNvSpPr/>
          <p:nvPr/>
        </p:nvSpPr>
        <p:spPr>
          <a:xfrm>
            <a:off x="5016012" y="5371846"/>
            <a:ext cx="6991391" cy="12135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BB595A-08AC-9207-2710-EC471A207A81}"/>
              </a:ext>
            </a:extLst>
          </p:cNvPr>
          <p:cNvSpPr txBox="1"/>
          <p:nvPr/>
        </p:nvSpPr>
        <p:spPr>
          <a:xfrm>
            <a:off x="5179345" y="5489300"/>
            <a:ext cx="120719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Пример для архив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6C6AC3-3FD4-5C81-0720-8DFFD89FC212}"/>
              </a:ext>
            </a:extLst>
          </p:cNvPr>
          <p:cNvSpPr txBox="1"/>
          <p:nvPr/>
        </p:nvSpPr>
        <p:spPr>
          <a:xfrm>
            <a:off x="5179345" y="5701197"/>
            <a:ext cx="420224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Предмет + тип + дата (</a:t>
            </a:r>
            <a:r>
              <a:rPr lang="ru-RU" sz="1200" dirty="0" err="1"/>
              <a:t>пометкаа</a:t>
            </a:r>
            <a:r>
              <a:rPr lang="ru-RU" sz="1200" dirty="0"/>
              <a:t> с привязкой ли к предмету или </a:t>
            </a:r>
          </a:p>
          <a:p>
            <a:r>
              <a:rPr lang="ru-RU" sz="1200" dirty="0"/>
              <a:t>без привязки к предмету (ползунок на календаре)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56D742-D360-1FB9-DE10-563FBDFBE7FC}"/>
              </a:ext>
            </a:extLst>
          </p:cNvPr>
          <p:cNvSpPr txBox="1"/>
          <p:nvPr/>
        </p:nvSpPr>
        <p:spPr>
          <a:xfrm>
            <a:off x="5179345" y="6079483"/>
            <a:ext cx="19349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Описание + ссылка основная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D5531A7C-94E6-B5CE-74CB-0BB8436BBDA2}"/>
              </a:ext>
            </a:extLst>
          </p:cNvPr>
          <p:cNvSpPr/>
          <p:nvPr/>
        </p:nvSpPr>
        <p:spPr>
          <a:xfrm>
            <a:off x="10336518" y="5452994"/>
            <a:ext cx="1537493" cy="360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FBBF66-25E4-48D0-8EF8-E03FCA98106F}"/>
              </a:ext>
            </a:extLst>
          </p:cNvPr>
          <p:cNvSpPr txBox="1"/>
          <p:nvPr/>
        </p:nvSpPr>
        <p:spPr>
          <a:xfrm>
            <a:off x="10402326" y="5540903"/>
            <a:ext cx="130471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История изменения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679255D4-6AE1-D9EF-7D34-D79072E310B8}"/>
              </a:ext>
            </a:extLst>
          </p:cNvPr>
          <p:cNvSpPr/>
          <p:nvPr/>
        </p:nvSpPr>
        <p:spPr>
          <a:xfrm>
            <a:off x="8864833" y="4824075"/>
            <a:ext cx="1537493" cy="360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75073AE-5508-1327-CD29-C7CCD0389A1F}"/>
              </a:ext>
            </a:extLst>
          </p:cNvPr>
          <p:cNvSpPr txBox="1"/>
          <p:nvPr/>
        </p:nvSpPr>
        <p:spPr>
          <a:xfrm>
            <a:off x="8930641" y="4911984"/>
            <a:ext cx="130471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История изменения</a:t>
            </a:r>
          </a:p>
        </p:txBody>
      </p:sp>
    </p:spTree>
    <p:extLst>
      <p:ext uri="{BB962C8B-B14F-4D97-AF65-F5344CB8AC3E}">
        <p14:creationId xmlns:p14="http://schemas.microsoft.com/office/powerpoint/2010/main" val="2936766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114 – СТРАНИЦА СТАРОСТА – ДОМАШНЕЕ ЗАДАНИЕ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староста хочет публиковать домашние задания, если выбран предмет и тип предмета то скорее всего задание будет на ближайшую следующую пару с такими же фильтрами так что мы даём ему в календаре только тот день который доступен, если же ему такое не подходит то сверху есть создаём ползунок (2 состояния) и там староста переключается в режим все дни и может выбрать любой день.</a:t>
            </a:r>
          </a:p>
          <a:p>
            <a:endParaRPr lang="ru-RU" sz="1100" dirty="0"/>
          </a:p>
          <a:p>
            <a:r>
              <a:rPr lang="ru-RU" sz="1100" dirty="0"/>
              <a:t>2 – может быть </a:t>
            </a:r>
            <a:r>
              <a:rPr lang="ru-RU" sz="1100" dirty="0" err="1"/>
              <a:t>несколкьо</a:t>
            </a:r>
            <a:r>
              <a:rPr lang="ru-RU" sz="1100" dirty="0"/>
              <a:t> заданий на один предмет и тип предмета, может не быть заданий, но старосте видно должно быть история изменения для актуальных и архивных чтобы посмотреть кто и как менял (тк есть роли и разрешения кто может выкладывать дз)</a:t>
            </a:r>
          </a:p>
          <a:p>
            <a:endParaRPr lang="ru-RU" sz="1100" dirty="0"/>
          </a:p>
          <a:p>
            <a:r>
              <a:rPr lang="ru-RU" sz="1100" dirty="0"/>
              <a:t>3 – при переносе предмета данные все по паре (дз и может ещё какие-то) должны </a:t>
            </a:r>
            <a:r>
              <a:rPr lang="ru-RU" sz="1100" dirty="0" err="1"/>
              <a:t>перносится</a:t>
            </a:r>
            <a:r>
              <a:rPr lang="ru-RU" sz="1100" dirty="0"/>
              <a:t> вместе с ней</a:t>
            </a:r>
          </a:p>
          <a:p>
            <a:endParaRPr lang="ru-RU" sz="1100"/>
          </a:p>
          <a:p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4023968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115 – СТРАНИЦА СТАРОСТА – КАРТА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ED41E-EFB2-66F6-86F6-569FBF6A3540}"/>
              </a:ext>
            </a:extLst>
          </p:cNvPr>
          <p:cNvSpPr txBox="1"/>
          <p:nvPr/>
        </p:nvSpPr>
        <p:spPr>
          <a:xfrm>
            <a:off x="6119088" y="4708553"/>
            <a:ext cx="50494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–поведение так же как и у студента, загружать сможет только админ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CE6EF8B-9729-334C-A899-51D13C01EA77}"/>
              </a:ext>
            </a:extLst>
          </p:cNvPr>
          <p:cNvSpPr/>
          <p:nvPr/>
        </p:nvSpPr>
        <p:spPr>
          <a:xfrm>
            <a:off x="5009882" y="1367022"/>
            <a:ext cx="1614152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977B7-F071-380E-084C-B25FDBD807DE}"/>
              </a:ext>
            </a:extLst>
          </p:cNvPr>
          <p:cNvSpPr txBox="1"/>
          <p:nvPr/>
        </p:nvSpPr>
        <p:spPr>
          <a:xfrm>
            <a:off x="5482918" y="1441562"/>
            <a:ext cx="5390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Коропус</a:t>
            </a:r>
            <a:endParaRPr lang="ru-RU" sz="12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11F9963-B0C5-7BB6-8CF1-1EF6CB307BA7}"/>
              </a:ext>
            </a:extLst>
          </p:cNvPr>
          <p:cNvSpPr/>
          <p:nvPr/>
        </p:nvSpPr>
        <p:spPr>
          <a:xfrm>
            <a:off x="6993138" y="1367022"/>
            <a:ext cx="1614152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FFD31-D987-8C80-1718-AA235CAA8383}"/>
              </a:ext>
            </a:extLst>
          </p:cNvPr>
          <p:cNvSpPr txBox="1"/>
          <p:nvPr/>
        </p:nvSpPr>
        <p:spPr>
          <a:xfrm>
            <a:off x="7466174" y="1441562"/>
            <a:ext cx="30617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этаж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2EF611-C53E-0D66-D6B9-C08D461B5AA6}"/>
              </a:ext>
            </a:extLst>
          </p:cNvPr>
          <p:cNvSpPr/>
          <p:nvPr/>
        </p:nvSpPr>
        <p:spPr>
          <a:xfrm>
            <a:off x="4924059" y="1780722"/>
            <a:ext cx="7147776" cy="25729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18EE5EA-E2B5-0C71-F0FD-31AB0BE31271}"/>
              </a:ext>
            </a:extLst>
          </p:cNvPr>
          <p:cNvSpPr/>
          <p:nvPr/>
        </p:nvSpPr>
        <p:spPr>
          <a:xfrm>
            <a:off x="10457683" y="4420925"/>
            <a:ext cx="1614152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CB683-8040-3C49-847F-FD6E53DD00EE}"/>
              </a:ext>
            </a:extLst>
          </p:cNvPr>
          <p:cNvSpPr txBox="1"/>
          <p:nvPr/>
        </p:nvSpPr>
        <p:spPr>
          <a:xfrm>
            <a:off x="10930719" y="4495465"/>
            <a:ext cx="5022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Скачать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9F9BD120-6EE8-41FF-DE77-FFB1196C65CB}"/>
              </a:ext>
            </a:extLst>
          </p:cNvPr>
          <p:cNvGrpSpPr/>
          <p:nvPr/>
        </p:nvGrpSpPr>
        <p:grpSpPr>
          <a:xfrm>
            <a:off x="4928315" y="96316"/>
            <a:ext cx="7180627" cy="1014386"/>
            <a:chOff x="4928315" y="96316"/>
            <a:chExt cx="7180627" cy="1014386"/>
          </a:xfrm>
        </p:grpSpPr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744AF743-DDF1-1ED8-2156-D8724BCE0CF4}"/>
                </a:ext>
              </a:extLst>
            </p:cNvPr>
            <p:cNvGrpSpPr/>
            <p:nvPr/>
          </p:nvGrpSpPr>
          <p:grpSpPr>
            <a:xfrm>
              <a:off x="4928315" y="128790"/>
              <a:ext cx="1614152" cy="287630"/>
              <a:chOff x="1803042" y="2137890"/>
              <a:chExt cx="1747234" cy="523744"/>
            </a:xfrm>
          </p:grpSpPr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B358B580-53B4-46A9-7AF7-55B77CAA5532}"/>
                  </a:ext>
                </a:extLst>
              </p:cNvPr>
              <p:cNvSpPr/>
              <p:nvPr/>
            </p:nvSpPr>
            <p:spPr>
              <a:xfrm>
                <a:off x="1803042" y="2137893"/>
                <a:ext cx="1747234" cy="52374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33" name="Группа 32">
                <a:extLst>
                  <a:ext uri="{FF2B5EF4-FFF2-40B4-BE49-F238E27FC236}">
                    <a16:creationId xmlns:a16="http://schemas.microsoft.com/office/drawing/2014/main" id="{47D68D68-5825-C526-9A6D-9E4B6F4374F4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1419940" cy="277001"/>
                <a:chOff x="2082085" y="1725766"/>
                <a:chExt cx="1419940" cy="277001"/>
              </a:xfrm>
            </p:grpSpPr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F3F093E-D1E9-D992-A59F-39E9A48150AC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514D704-7B1B-792A-A4C7-CB1F0955D54D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</p:grpSp>
        </p:grpSp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CE4EF60F-7719-ACC5-5EB4-0A2E38FD6A9E}"/>
                </a:ext>
              </a:extLst>
            </p:cNvPr>
            <p:cNvGrpSpPr/>
            <p:nvPr/>
          </p:nvGrpSpPr>
          <p:grpSpPr>
            <a:xfrm>
              <a:off x="10908405" y="96316"/>
              <a:ext cx="1200537" cy="1014386"/>
              <a:chOff x="10908405" y="96316"/>
              <a:chExt cx="1200537" cy="1014386"/>
            </a:xfrm>
          </p:grpSpPr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6BF51D66-B7E4-4DAE-7F9D-5D5E5F511170}"/>
                  </a:ext>
                </a:extLst>
              </p:cNvPr>
              <p:cNvSpPr/>
              <p:nvPr/>
            </p:nvSpPr>
            <p:spPr>
              <a:xfrm>
                <a:off x="11638209" y="96316"/>
                <a:ext cx="369194" cy="36919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0DC096-79EC-E74A-B884-E1A738027634}"/>
                  </a:ext>
                </a:extLst>
              </p:cNvPr>
              <p:cNvSpPr txBox="1"/>
              <p:nvPr/>
            </p:nvSpPr>
            <p:spPr>
              <a:xfrm>
                <a:off x="11536669" y="188580"/>
                <a:ext cx="5722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профиль</a:t>
                </a:r>
              </a:p>
            </p:txBody>
          </p:sp>
          <p:grpSp>
            <p:nvGrpSpPr>
              <p:cNvPr id="29" name="Группа 28">
                <a:extLst>
                  <a:ext uri="{FF2B5EF4-FFF2-40B4-BE49-F238E27FC236}">
                    <a16:creationId xmlns:a16="http://schemas.microsoft.com/office/drawing/2014/main" id="{130F4841-0744-F918-4E2C-3FC676061A3C}"/>
                  </a:ext>
                </a:extLst>
              </p:cNvPr>
              <p:cNvGrpSpPr/>
              <p:nvPr/>
            </p:nvGrpSpPr>
            <p:grpSpPr>
              <a:xfrm>
                <a:off x="10908405" y="513981"/>
                <a:ext cx="1167685" cy="596721"/>
                <a:chOff x="10908405" y="513981"/>
                <a:chExt cx="1167685" cy="596721"/>
              </a:xfrm>
            </p:grpSpPr>
            <p:sp>
              <p:nvSpPr>
                <p:cNvPr id="30" name="Прямоугольник 29">
                  <a:extLst>
                    <a:ext uri="{FF2B5EF4-FFF2-40B4-BE49-F238E27FC236}">
                      <a16:creationId xmlns:a16="http://schemas.microsoft.com/office/drawing/2014/main" id="{D108F9DD-2BF4-507A-111A-324A65EA7EEF}"/>
                    </a:ext>
                  </a:extLst>
                </p:cNvPr>
                <p:cNvSpPr/>
                <p:nvPr/>
              </p:nvSpPr>
              <p:spPr>
                <a:xfrm>
                  <a:off x="10908405" y="513981"/>
                  <a:ext cx="1167685" cy="59672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4A5C2B2-EA47-0B0E-E24B-F304A58EAFFC}"/>
                    </a:ext>
                  </a:extLst>
                </p:cNvPr>
                <p:cNvSpPr txBox="1"/>
                <p:nvPr/>
              </p:nvSpPr>
              <p:spPr>
                <a:xfrm>
                  <a:off x="11032536" y="603721"/>
                  <a:ext cx="69570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ru-RU" sz="1200" dirty="0"/>
                    <a:t>Настройки</a:t>
                  </a:r>
                  <a:br>
                    <a:rPr lang="ru-RU" sz="1200" dirty="0"/>
                  </a:br>
                  <a:r>
                    <a:rPr lang="ru-RU" sz="1200" dirty="0"/>
                    <a:t>Выход</a:t>
                  </a:r>
                </a:p>
              </p:txBody>
            </p:sp>
          </p:grpSp>
        </p:grpSp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50FB918F-34F9-0BFF-12E9-5A7A6D7828C3}"/>
                </a:ext>
              </a:extLst>
            </p:cNvPr>
            <p:cNvGrpSpPr/>
            <p:nvPr/>
          </p:nvGrpSpPr>
          <p:grpSpPr>
            <a:xfrm>
              <a:off x="4928315" y="598868"/>
              <a:ext cx="5786147" cy="407865"/>
              <a:chOff x="4928315" y="598868"/>
              <a:chExt cx="5786147" cy="40786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2EF178-A4C1-F379-D987-0C4B357F0E3B}"/>
                  </a:ext>
                </a:extLst>
              </p:cNvPr>
              <p:cNvSpPr txBox="1"/>
              <p:nvPr/>
            </p:nvSpPr>
            <p:spPr>
              <a:xfrm>
                <a:off x="4928315" y="598868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E76718-3487-2521-067F-94A575EE2377}"/>
                  </a:ext>
                </a:extLst>
              </p:cNvPr>
              <p:cNvSpPr txBox="1"/>
              <p:nvPr/>
            </p:nvSpPr>
            <p:spPr>
              <a:xfrm>
                <a:off x="5622074" y="598868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2B8B9EF-A86E-B75A-95CF-6F31F394439F}"/>
                  </a:ext>
                </a:extLst>
              </p:cNvPr>
              <p:cNvSpPr txBox="1"/>
              <p:nvPr/>
            </p:nvSpPr>
            <p:spPr>
              <a:xfrm>
                <a:off x="6766662" y="598868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E4CD8F-181E-F1A9-9CF2-439662709D68}"/>
                  </a:ext>
                </a:extLst>
              </p:cNvPr>
              <p:cNvSpPr txBox="1"/>
              <p:nvPr/>
            </p:nvSpPr>
            <p:spPr>
              <a:xfrm>
                <a:off x="7651369" y="598868"/>
                <a:ext cx="12697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домашнее задание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6BA994E-FF57-99AA-F75B-6810A1BC3F63}"/>
                  </a:ext>
                </a:extLst>
              </p:cNvPr>
              <p:cNvSpPr txBox="1"/>
              <p:nvPr/>
            </p:nvSpPr>
            <p:spPr>
              <a:xfrm>
                <a:off x="9112773" y="598868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6A675E-4C1F-F0F6-DB09-FC1B7B10F814}"/>
                  </a:ext>
                </a:extLst>
              </p:cNvPr>
              <p:cNvSpPr txBox="1"/>
              <p:nvPr/>
            </p:nvSpPr>
            <p:spPr>
              <a:xfrm>
                <a:off x="9666868" y="598868"/>
                <a:ext cx="10475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заявки и тикеты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88B72A2-B9D4-4EC7-818F-10943E932915}"/>
                  </a:ext>
                </a:extLst>
              </p:cNvPr>
              <p:cNvSpPr txBox="1"/>
              <p:nvPr/>
            </p:nvSpPr>
            <p:spPr>
              <a:xfrm>
                <a:off x="4928315" y="822067"/>
                <a:ext cx="43691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Группа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969CD4C-FF90-0DEF-6481-E52C42BCD4D2}"/>
                  </a:ext>
                </a:extLst>
              </p:cNvPr>
              <p:cNvSpPr txBox="1"/>
              <p:nvPr/>
            </p:nvSpPr>
            <p:spPr>
              <a:xfrm>
                <a:off x="5829526" y="822067"/>
                <a:ext cx="680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Предметы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D6D7352-D127-79EA-AF7A-0479715A7814}"/>
                  </a:ext>
                </a:extLst>
              </p:cNvPr>
              <p:cNvSpPr txBox="1"/>
              <p:nvPr/>
            </p:nvSpPr>
            <p:spPr>
              <a:xfrm>
                <a:off x="6848393" y="822067"/>
                <a:ext cx="160595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Конструктор расписания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E77B48-E42A-CD06-9E22-BE378D03027D}"/>
                  </a:ext>
                </a:extLst>
              </p:cNvPr>
              <p:cNvSpPr txBox="1"/>
              <p:nvPr/>
            </p:nvSpPr>
            <p:spPr>
              <a:xfrm>
                <a:off x="8687237" y="822067"/>
                <a:ext cx="134626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Управление парами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7367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115 – СТРАНИЦА СТАРОСТА – КАРТА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475247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116 – СТРАНИЦА СТАРОСТА – ГРУППА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54168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1 – </a:t>
            </a:r>
            <a:r>
              <a:rPr lang="ru-RU" sz="1100" dirty="0"/>
              <a:t>Страница представляет из себя список студентов данной группы, староста отдельной выделяется подписью, </a:t>
            </a:r>
            <a:r>
              <a:rPr lang="ru-RU" sz="1100" dirty="0" err="1"/>
              <a:t>помошники</a:t>
            </a:r>
            <a:r>
              <a:rPr lang="ru-RU" sz="1100" dirty="0"/>
              <a:t> старосты тоже под </a:t>
            </a:r>
            <a:r>
              <a:rPr lang="ru-RU" sz="1100" dirty="0" err="1"/>
              <a:t>фио</a:t>
            </a:r>
            <a:r>
              <a:rPr lang="ru-RU" sz="1100" dirty="0"/>
              <a:t> и так же показывается их права</a:t>
            </a:r>
          </a:p>
          <a:p>
            <a:endParaRPr lang="ru-RU" sz="1100" dirty="0"/>
          </a:p>
          <a:p>
            <a:r>
              <a:rPr lang="ru-RU" sz="1100" dirty="0"/>
              <a:t>2 – у каждого студента справа есть кнопка раскрытия (ниже описана будет) и 3 точки меню. В меню можно выбрать пункты дать разрешения, забрать разрешения (просто чекбокс) и сгенерировать ссылку для сброса пароля или сбросить пароль и новый пароль покажется в графе пароль (но с подписью что он сгенерирован старостой) как сменили – то пропадает и поле неактивное пустое. Так же там можно отредактировать данные студента через меню. (номер по алфавиту и там всегда список по алфавиту)</a:t>
            </a:r>
          </a:p>
          <a:p>
            <a:endParaRPr lang="ru-RU" sz="1100" dirty="0"/>
          </a:p>
          <a:p>
            <a:r>
              <a:rPr lang="ru-RU" sz="1100" dirty="0"/>
              <a:t>3 – теперь про раскрытие – там показывается статистика по конкретному человеку как показывается она у студента на экране 103 (% «+», % «н», % «у», % «+» и «у», Рейтинг в группе по «+» чисто номер), Количество</a:t>
            </a:r>
            <a:br>
              <a:rPr lang="ru-RU" sz="1100" dirty="0"/>
            </a:br>
            <a:r>
              <a:rPr lang="ru-RU" sz="1100" dirty="0"/>
              <a:t> «+», Количество «н», Количество «у», Количество «+» и «у» +  как картинка снизу таблица посещение</a:t>
            </a:r>
            <a:r>
              <a:rPr lang="en-US" sz="1100" dirty="0"/>
              <a:t>/</a:t>
            </a:r>
            <a:r>
              <a:rPr lang="ru-RU" sz="1100" dirty="0"/>
              <a:t>предмет</a:t>
            </a:r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r>
              <a:rPr lang="ru-RU" sz="1100" dirty="0"/>
              <a:t>4 – блокировка – сколько студент подал из доступных на пару хотя староста явно отметил его как «н» и там же можно сбросить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0EBF532-85AA-FC29-82FB-DE75CCADA3C8}"/>
              </a:ext>
            </a:extLst>
          </p:cNvPr>
          <p:cNvGrpSpPr/>
          <p:nvPr/>
        </p:nvGrpSpPr>
        <p:grpSpPr>
          <a:xfrm>
            <a:off x="4928315" y="96316"/>
            <a:ext cx="7180627" cy="1014386"/>
            <a:chOff x="4928315" y="96316"/>
            <a:chExt cx="7180627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BD406F6C-71BC-2FF8-6AAF-96985B76327E}"/>
                </a:ext>
              </a:extLst>
            </p:cNvPr>
            <p:cNvGrpSpPr/>
            <p:nvPr/>
          </p:nvGrpSpPr>
          <p:grpSpPr>
            <a:xfrm>
              <a:off x="4928315" y="128790"/>
              <a:ext cx="1614152" cy="287630"/>
              <a:chOff x="1803042" y="2137890"/>
              <a:chExt cx="1747234" cy="523744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CCA05BA2-F7DA-5CF4-EA13-6CCDF3870AA7}"/>
                  </a:ext>
                </a:extLst>
              </p:cNvPr>
              <p:cNvSpPr/>
              <p:nvPr/>
            </p:nvSpPr>
            <p:spPr>
              <a:xfrm>
                <a:off x="1803042" y="2137893"/>
                <a:ext cx="1747234" cy="52374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6E7DA7F9-34CF-0304-99B8-D7AAC61CB17E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1419940" cy="277001"/>
                <a:chOff x="2082085" y="1725766"/>
                <a:chExt cx="1419940" cy="277001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84AAD5B-301A-BEF1-7838-8453F8D83FB0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6452E47-C63C-8F7E-4F0A-CC2CE4DF534B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56FD87A8-23C1-1073-9A5C-47A4B5463563}"/>
                </a:ext>
              </a:extLst>
            </p:cNvPr>
            <p:cNvGrpSpPr/>
            <p:nvPr/>
          </p:nvGrpSpPr>
          <p:grpSpPr>
            <a:xfrm>
              <a:off x="10908405" y="96316"/>
              <a:ext cx="1200537" cy="1014386"/>
              <a:chOff x="10908405" y="96316"/>
              <a:chExt cx="1200537" cy="1014386"/>
            </a:xfrm>
          </p:grpSpPr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5BC29A77-195B-D4F0-71E3-8F551037E4B3}"/>
                  </a:ext>
                </a:extLst>
              </p:cNvPr>
              <p:cNvSpPr/>
              <p:nvPr/>
            </p:nvSpPr>
            <p:spPr>
              <a:xfrm>
                <a:off x="11638209" y="96316"/>
                <a:ext cx="369194" cy="36919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7A95F3-ED70-C148-4B67-D680F3630C20}"/>
                  </a:ext>
                </a:extLst>
              </p:cNvPr>
              <p:cNvSpPr txBox="1"/>
              <p:nvPr/>
            </p:nvSpPr>
            <p:spPr>
              <a:xfrm>
                <a:off x="11536669" y="188580"/>
                <a:ext cx="5722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профиль</a:t>
                </a:r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C0116E9A-7CC1-AF71-1BB4-89056507625E}"/>
                  </a:ext>
                </a:extLst>
              </p:cNvPr>
              <p:cNvGrpSpPr/>
              <p:nvPr/>
            </p:nvGrpSpPr>
            <p:grpSpPr>
              <a:xfrm>
                <a:off x="10908405" y="513981"/>
                <a:ext cx="1167685" cy="596721"/>
                <a:chOff x="10908405" y="513981"/>
                <a:chExt cx="1167685" cy="596721"/>
              </a:xfrm>
            </p:grpSpPr>
            <p:sp>
              <p:nvSpPr>
                <p:cNvPr id="23" name="Прямоугольник 22">
                  <a:extLst>
                    <a:ext uri="{FF2B5EF4-FFF2-40B4-BE49-F238E27FC236}">
                      <a16:creationId xmlns:a16="http://schemas.microsoft.com/office/drawing/2014/main" id="{D9D97B87-C5DF-16DA-4CAD-CA919180B985}"/>
                    </a:ext>
                  </a:extLst>
                </p:cNvPr>
                <p:cNvSpPr/>
                <p:nvPr/>
              </p:nvSpPr>
              <p:spPr>
                <a:xfrm>
                  <a:off x="10908405" y="513981"/>
                  <a:ext cx="1167685" cy="59672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32B999C-1424-689A-6358-C13CDFA09471}"/>
                    </a:ext>
                  </a:extLst>
                </p:cNvPr>
                <p:cNvSpPr txBox="1"/>
                <p:nvPr/>
              </p:nvSpPr>
              <p:spPr>
                <a:xfrm>
                  <a:off x="11032536" y="603721"/>
                  <a:ext cx="69570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ru-RU" sz="1200" dirty="0"/>
                    <a:t>Настройки</a:t>
                  </a:r>
                  <a:br>
                    <a:rPr lang="ru-RU" sz="1200" dirty="0"/>
                  </a:br>
                  <a:r>
                    <a:rPr lang="ru-RU" sz="1200" dirty="0"/>
                    <a:t>Выход</a:t>
                  </a:r>
                </a:p>
              </p:txBody>
            </p:sp>
          </p:grp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FDE5CAEA-5022-A3EA-A987-16DD9FD9A1E0}"/>
                </a:ext>
              </a:extLst>
            </p:cNvPr>
            <p:cNvGrpSpPr/>
            <p:nvPr/>
          </p:nvGrpSpPr>
          <p:grpSpPr>
            <a:xfrm>
              <a:off x="4928315" y="598868"/>
              <a:ext cx="5786147" cy="407865"/>
              <a:chOff x="4928315" y="598868"/>
              <a:chExt cx="5786147" cy="40786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F4A18F-D172-1A69-246F-14E64E86C238}"/>
                  </a:ext>
                </a:extLst>
              </p:cNvPr>
              <p:cNvSpPr txBox="1"/>
              <p:nvPr/>
            </p:nvSpPr>
            <p:spPr>
              <a:xfrm>
                <a:off x="4928315" y="598868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F90E08-DBBC-D51D-A9A6-905B5B0807A4}"/>
                  </a:ext>
                </a:extLst>
              </p:cNvPr>
              <p:cNvSpPr txBox="1"/>
              <p:nvPr/>
            </p:nvSpPr>
            <p:spPr>
              <a:xfrm>
                <a:off x="5622074" y="598868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3292F4-48D9-5F61-433F-D90BC201BE07}"/>
                  </a:ext>
                </a:extLst>
              </p:cNvPr>
              <p:cNvSpPr txBox="1"/>
              <p:nvPr/>
            </p:nvSpPr>
            <p:spPr>
              <a:xfrm>
                <a:off x="6766662" y="598868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5EC418-9064-FD41-98EF-CF10DAD65F68}"/>
                  </a:ext>
                </a:extLst>
              </p:cNvPr>
              <p:cNvSpPr txBox="1"/>
              <p:nvPr/>
            </p:nvSpPr>
            <p:spPr>
              <a:xfrm>
                <a:off x="7651369" y="598868"/>
                <a:ext cx="12697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домашнее задание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CE1B7A-CF2A-AE6C-A498-1DDA6EB777A5}"/>
                  </a:ext>
                </a:extLst>
              </p:cNvPr>
              <p:cNvSpPr txBox="1"/>
              <p:nvPr/>
            </p:nvSpPr>
            <p:spPr>
              <a:xfrm>
                <a:off x="9112773" y="598868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8FB4AE-6D5F-663D-6606-223B655DC607}"/>
                  </a:ext>
                </a:extLst>
              </p:cNvPr>
              <p:cNvSpPr txBox="1"/>
              <p:nvPr/>
            </p:nvSpPr>
            <p:spPr>
              <a:xfrm>
                <a:off x="9666868" y="598868"/>
                <a:ext cx="10475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заявки и тикеты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0B4A70-D103-8FA9-DE3F-AA01CE8BB4E3}"/>
                  </a:ext>
                </a:extLst>
              </p:cNvPr>
              <p:cNvSpPr txBox="1"/>
              <p:nvPr/>
            </p:nvSpPr>
            <p:spPr>
              <a:xfrm>
                <a:off x="4928315" y="822067"/>
                <a:ext cx="43691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Группа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A0DE8B6-35D1-C5A1-93C2-488499A49C1A}"/>
                  </a:ext>
                </a:extLst>
              </p:cNvPr>
              <p:cNvSpPr txBox="1"/>
              <p:nvPr/>
            </p:nvSpPr>
            <p:spPr>
              <a:xfrm>
                <a:off x="5829526" y="822067"/>
                <a:ext cx="680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Предметы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568A16-62E9-B509-26CD-D196FA762565}"/>
                  </a:ext>
                </a:extLst>
              </p:cNvPr>
              <p:cNvSpPr txBox="1"/>
              <p:nvPr/>
            </p:nvSpPr>
            <p:spPr>
              <a:xfrm>
                <a:off x="6848393" y="822067"/>
                <a:ext cx="160595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Конструктор расписания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7AC148E-78AE-926E-942B-B886AC7EEAE1}"/>
                  </a:ext>
                </a:extLst>
              </p:cNvPr>
              <p:cNvSpPr txBox="1"/>
              <p:nvPr/>
            </p:nvSpPr>
            <p:spPr>
              <a:xfrm>
                <a:off x="8687237" y="822067"/>
                <a:ext cx="134626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Управление парами</a:t>
                </a:r>
              </a:p>
            </p:txBody>
          </p:sp>
        </p:grp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11F0E35-011F-8195-76CF-48C354364071}"/>
              </a:ext>
            </a:extLst>
          </p:cNvPr>
          <p:cNvSpPr/>
          <p:nvPr/>
        </p:nvSpPr>
        <p:spPr>
          <a:xfrm>
            <a:off x="5024804" y="1279979"/>
            <a:ext cx="6982599" cy="20171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F000F0-FA61-E3FE-7F3A-433E81E12C1C}"/>
              </a:ext>
            </a:extLst>
          </p:cNvPr>
          <p:cNvSpPr txBox="1"/>
          <p:nvPr/>
        </p:nvSpPr>
        <p:spPr>
          <a:xfrm>
            <a:off x="5251299" y="1502222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D0427A-5EF5-9A1A-4B8B-5C7609C8D699}"/>
              </a:ext>
            </a:extLst>
          </p:cNvPr>
          <p:cNvSpPr txBox="1"/>
          <p:nvPr/>
        </p:nvSpPr>
        <p:spPr>
          <a:xfrm>
            <a:off x="5735391" y="1502222"/>
            <a:ext cx="30938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ФИО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AB5C89-9191-EEA7-8485-532F1B2FABB9}"/>
              </a:ext>
            </a:extLst>
          </p:cNvPr>
          <p:cNvSpPr txBox="1"/>
          <p:nvPr/>
        </p:nvSpPr>
        <p:spPr>
          <a:xfrm>
            <a:off x="6277663" y="1502222"/>
            <a:ext cx="3943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Логин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C56DDC-8E1D-1495-CB02-DE616F3F7026}"/>
              </a:ext>
            </a:extLst>
          </p:cNvPr>
          <p:cNvSpPr txBox="1"/>
          <p:nvPr/>
        </p:nvSpPr>
        <p:spPr>
          <a:xfrm>
            <a:off x="6954671" y="1502222"/>
            <a:ext cx="159248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Пароль </a:t>
            </a:r>
          </a:p>
          <a:p>
            <a:r>
              <a:rPr lang="ru-RU" sz="1200" dirty="0"/>
              <a:t>(</a:t>
            </a:r>
            <a:r>
              <a:rPr lang="en-US" sz="1200" dirty="0"/>
              <a:t>initial </a:t>
            </a:r>
            <a:r>
              <a:rPr lang="ru-RU" sz="1200" dirty="0"/>
              <a:t>или </a:t>
            </a:r>
            <a:r>
              <a:rPr lang="ru-RU" sz="1200" dirty="0" err="1"/>
              <a:t>времеенный</a:t>
            </a:r>
            <a:r>
              <a:rPr lang="ru-RU" sz="1200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EBE74C-1586-AAEE-BD19-D5CA9B4AF89E}"/>
              </a:ext>
            </a:extLst>
          </p:cNvPr>
          <p:cNvSpPr txBox="1"/>
          <p:nvPr/>
        </p:nvSpPr>
        <p:spPr>
          <a:xfrm>
            <a:off x="8756089" y="1502222"/>
            <a:ext cx="2678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Тг</a:t>
            </a:r>
            <a:r>
              <a:rPr lang="ru-RU" sz="1200" dirty="0"/>
              <a:t> </a:t>
            </a:r>
            <a:r>
              <a:rPr lang="en-US" sz="1200" dirty="0"/>
              <a:t>id</a:t>
            </a:r>
            <a:endParaRPr lang="ru-RU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DA4064-BFB0-D5C3-A5FF-09B121A52B7E}"/>
              </a:ext>
            </a:extLst>
          </p:cNvPr>
          <p:cNvSpPr txBox="1"/>
          <p:nvPr/>
        </p:nvSpPr>
        <p:spPr>
          <a:xfrm>
            <a:off x="5251299" y="1998667"/>
            <a:ext cx="3664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укапа</a:t>
            </a:r>
            <a:endParaRPr lang="ru-RU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1AFB9E-2BBB-DE9A-141A-4362B3E43C35}"/>
              </a:ext>
            </a:extLst>
          </p:cNvPr>
          <p:cNvSpPr txBox="1"/>
          <p:nvPr/>
        </p:nvSpPr>
        <p:spPr>
          <a:xfrm>
            <a:off x="5735391" y="1998667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павпвп</a:t>
            </a:r>
            <a:endParaRPr lang="ru-RU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9ED9BF-33C4-DF2D-2494-69204BA11419}"/>
              </a:ext>
            </a:extLst>
          </p:cNvPr>
          <p:cNvSpPr txBox="1"/>
          <p:nvPr/>
        </p:nvSpPr>
        <p:spPr>
          <a:xfrm>
            <a:off x="6277663" y="1998667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пвапвп</a:t>
            </a:r>
            <a:endParaRPr lang="ru-RU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E826A1-36B6-A444-41CC-7D165C4333E7}"/>
              </a:ext>
            </a:extLst>
          </p:cNvPr>
          <p:cNvSpPr txBox="1"/>
          <p:nvPr/>
        </p:nvSpPr>
        <p:spPr>
          <a:xfrm>
            <a:off x="6954671" y="1998667"/>
            <a:ext cx="76142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пкроапртап</a:t>
            </a:r>
            <a:endParaRPr lang="ru-RU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AB9DF8-A212-4BA6-2D37-F70F293CDD25}"/>
              </a:ext>
            </a:extLst>
          </p:cNvPr>
          <p:cNvSpPr txBox="1"/>
          <p:nvPr/>
        </p:nvSpPr>
        <p:spPr>
          <a:xfrm>
            <a:off x="8756089" y="1998667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аврппвра</a:t>
            </a:r>
            <a:endParaRPr lang="ru-RU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948325-5413-2CD0-DB1A-519A769212AB}"/>
              </a:ext>
            </a:extLst>
          </p:cNvPr>
          <p:cNvSpPr txBox="1"/>
          <p:nvPr/>
        </p:nvSpPr>
        <p:spPr>
          <a:xfrm rot="5400000">
            <a:off x="11226338" y="1998667"/>
            <a:ext cx="12343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-&gt;</a:t>
            </a:r>
            <a:endParaRPr lang="ru-RU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8F402F-7769-502A-BBAD-9FF3FF4365B5}"/>
              </a:ext>
            </a:extLst>
          </p:cNvPr>
          <p:cNvSpPr txBox="1"/>
          <p:nvPr/>
        </p:nvSpPr>
        <p:spPr>
          <a:xfrm>
            <a:off x="9579151" y="1502222"/>
            <a:ext cx="113531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Доп</a:t>
            </a:r>
            <a:r>
              <a:rPr lang="ru-RU" sz="1200" dirty="0"/>
              <a:t> разрешения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9EF6E1-44AF-9359-1254-A507430CA0B0}"/>
              </a:ext>
            </a:extLst>
          </p:cNvPr>
          <p:cNvSpPr txBox="1"/>
          <p:nvPr/>
        </p:nvSpPr>
        <p:spPr>
          <a:xfrm rot="5400000">
            <a:off x="11585310" y="1998667"/>
            <a:ext cx="10579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…</a:t>
            </a:r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B50997D-183A-3357-2ACA-BE9E0ED07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8" y="4272378"/>
            <a:ext cx="4264954" cy="1568986"/>
          </a:xfrm>
          <a:prstGeom prst="rect">
            <a:avLst/>
          </a:prstGeom>
        </p:spPr>
      </p:pic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9257B151-ED3D-DA45-80FD-80CB9A719F35}"/>
              </a:ext>
            </a:extLst>
          </p:cNvPr>
          <p:cNvSpPr/>
          <p:nvPr/>
        </p:nvSpPr>
        <p:spPr>
          <a:xfrm>
            <a:off x="10386684" y="3417072"/>
            <a:ext cx="1614152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CABF3C-6A3E-58A5-C7DD-F07136B80B07}"/>
              </a:ext>
            </a:extLst>
          </p:cNvPr>
          <p:cNvSpPr txBox="1"/>
          <p:nvPr/>
        </p:nvSpPr>
        <p:spPr>
          <a:xfrm>
            <a:off x="10908405" y="3452367"/>
            <a:ext cx="48622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скачать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62C8C1-1EFB-360D-3F7E-6F2927B3CFAD}"/>
              </a:ext>
            </a:extLst>
          </p:cNvPr>
          <p:cNvSpPr txBox="1"/>
          <p:nvPr/>
        </p:nvSpPr>
        <p:spPr>
          <a:xfrm>
            <a:off x="10766617" y="1502222"/>
            <a:ext cx="8091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Блокировка</a:t>
            </a:r>
          </a:p>
        </p:txBody>
      </p:sp>
    </p:spTree>
    <p:extLst>
      <p:ext uri="{BB962C8B-B14F-4D97-AF65-F5344CB8AC3E}">
        <p14:creationId xmlns:p14="http://schemas.microsoft.com/office/powerpoint/2010/main" val="2678446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116 – СТРАНИЦА СТАРОСТА – ГРУППА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староста хочет видеть список группы и иметь возможность скачать его, скачивается в формате </a:t>
            </a:r>
            <a:r>
              <a:rPr lang="ru-RU" sz="1100" dirty="0" err="1"/>
              <a:t>ворд</a:t>
            </a:r>
            <a:r>
              <a:rPr lang="ru-RU" sz="1100" dirty="0"/>
              <a:t>, </a:t>
            </a:r>
            <a:r>
              <a:rPr lang="ru-RU" sz="1100" dirty="0" err="1"/>
              <a:t>пдф</a:t>
            </a:r>
            <a:r>
              <a:rPr lang="ru-RU" sz="1100" dirty="0"/>
              <a:t> </a:t>
            </a:r>
            <a:r>
              <a:rPr lang="ru-RU" sz="1100" dirty="0" err="1"/>
              <a:t>пнг</a:t>
            </a:r>
            <a:r>
              <a:rPr lang="ru-RU" sz="1100" dirty="0"/>
              <a:t> и </a:t>
            </a:r>
            <a:r>
              <a:rPr lang="en-US" sz="1100" dirty="0"/>
              <a:t>html</a:t>
            </a:r>
            <a:r>
              <a:rPr lang="ru-RU" sz="1100" dirty="0"/>
              <a:t> позже сделаем мы шаблоны и настроим на </a:t>
            </a:r>
            <a:r>
              <a:rPr lang="ru-RU" sz="1100" dirty="0" err="1"/>
              <a:t>бекенде</a:t>
            </a:r>
            <a:r>
              <a:rPr lang="ru-RU" sz="1100" dirty="0"/>
              <a:t> скачивание</a:t>
            </a:r>
          </a:p>
          <a:p>
            <a:endParaRPr lang="ru-RU" sz="1100" dirty="0"/>
          </a:p>
          <a:p>
            <a:r>
              <a:rPr lang="ru-RU" sz="1100" dirty="0"/>
              <a:t>2  - при нажатии на кнопку раскрыть или на строчку появляется статистика по студенту подробная как у него самого в личном кабинете</a:t>
            </a:r>
          </a:p>
          <a:p>
            <a:endParaRPr lang="ru-RU" sz="1100" dirty="0"/>
          </a:p>
          <a:p>
            <a:r>
              <a:rPr lang="ru-RU" sz="1100" dirty="0"/>
              <a:t>3 – староста может сбросить пароль и </a:t>
            </a:r>
            <a:r>
              <a:rPr lang="ru-RU" sz="1100" dirty="0" err="1"/>
              <a:t>сгенериуестся</a:t>
            </a:r>
            <a:r>
              <a:rPr lang="ru-RU" sz="1100" dirty="0"/>
              <a:t> новый, важно подписать старосте что пароль не при создании пользователя а сгенерирован старостой </a:t>
            </a:r>
          </a:p>
          <a:p>
            <a:endParaRPr lang="ru-RU" sz="1100" dirty="0"/>
          </a:p>
          <a:p>
            <a:r>
              <a:rPr lang="ru-RU" sz="1100" dirty="0"/>
              <a:t>4 – староста хочет видеть </a:t>
            </a:r>
            <a:r>
              <a:rPr lang="ru-RU" sz="1100" dirty="0" err="1"/>
              <a:t>своиж</a:t>
            </a:r>
            <a:r>
              <a:rPr lang="ru-RU" sz="1100" dirty="0"/>
              <a:t> </a:t>
            </a:r>
            <a:r>
              <a:rPr lang="ru-RU" sz="1100" dirty="0" err="1"/>
              <a:t>помошников</a:t>
            </a:r>
            <a:r>
              <a:rPr lang="ru-RU" sz="1100" dirty="0"/>
              <a:t> иметь возможность назначать новым студентам роли и </a:t>
            </a:r>
            <a:r>
              <a:rPr lang="ru-RU" sz="1100" dirty="0" err="1"/>
              <a:t>заирать</a:t>
            </a:r>
            <a:r>
              <a:rPr lang="ru-RU" sz="1100" dirty="0"/>
              <a:t> у существующих. Роли </a:t>
            </a:r>
            <a:r>
              <a:rPr lang="ru-RU" sz="1100" dirty="0" err="1"/>
              <a:t>человекочитаемые</a:t>
            </a:r>
            <a:endParaRPr lang="ru-RU" sz="1100" dirty="0"/>
          </a:p>
          <a:p>
            <a:endParaRPr lang="ru-RU" sz="1100" dirty="0"/>
          </a:p>
          <a:p>
            <a:r>
              <a:rPr lang="ru-RU" sz="1100" dirty="0"/>
              <a:t>5 – староста не добавляет к себе нового ученика это делает админ</a:t>
            </a:r>
          </a:p>
        </p:txBody>
      </p:sp>
    </p:spTree>
    <p:extLst>
      <p:ext uri="{BB962C8B-B14F-4D97-AF65-F5344CB8AC3E}">
        <p14:creationId xmlns:p14="http://schemas.microsoft.com/office/powerpoint/2010/main" val="1767666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F7D12841-AC75-6D63-CB4A-01C3D0082B72}"/>
              </a:ext>
            </a:extLst>
          </p:cNvPr>
          <p:cNvSpPr/>
          <p:nvPr/>
        </p:nvSpPr>
        <p:spPr>
          <a:xfrm>
            <a:off x="5002216" y="4284896"/>
            <a:ext cx="7073874" cy="237476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116.1 – СТРАНИЦА СТАРОСТА – ПРЕДМЕТЫ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</a:t>
            </a:r>
            <a:r>
              <a:rPr lang="en-US" sz="1100" dirty="0"/>
              <a:t> - </a:t>
            </a:r>
            <a:r>
              <a:rPr lang="ru-RU" sz="1100" dirty="0"/>
              <a:t>номер предмета даётся на название предмета, а тип предмета идёт следующей колонкой и если несколько типов одного предмета, то название и номер </a:t>
            </a:r>
            <a:r>
              <a:rPr lang="ru-RU" sz="1100" dirty="0" err="1"/>
              <a:t>растяшиваются</a:t>
            </a:r>
            <a:r>
              <a:rPr lang="ru-RU" sz="1100" dirty="0"/>
              <a:t> на то количество строк сколько типов данного </a:t>
            </a:r>
            <a:r>
              <a:rPr lang="ru-RU" sz="1100" dirty="0" err="1"/>
              <a:t>предета</a:t>
            </a:r>
            <a:r>
              <a:rPr lang="ru-RU" sz="1100" dirty="0"/>
              <a:t>). При этом номер и название предмета уникально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2 – </a:t>
            </a:r>
            <a:r>
              <a:rPr lang="ru-RU" sz="1100" dirty="0"/>
              <a:t>несколько преподавателей могут вести один предмет. При этом редактируется весь предмет а не отдельно тип предмета и при редактировании открывается форма по редактированию или добавлению предмета</a:t>
            </a:r>
          </a:p>
          <a:p>
            <a:endParaRPr lang="ru-RU" sz="1100" dirty="0"/>
          </a:p>
          <a:p>
            <a:r>
              <a:rPr lang="ru-RU" sz="1100" dirty="0"/>
              <a:t>3 – при регистрации </a:t>
            </a:r>
            <a:r>
              <a:rPr lang="ru-RU" sz="1100" dirty="0" err="1"/>
              <a:t>новго</a:t>
            </a:r>
            <a:r>
              <a:rPr lang="ru-RU" sz="1100" dirty="0"/>
              <a:t> предмета выделяются те виды занятий которые есть и от этого появляется то количество выборов преподавателя на тот или иной предмет</a:t>
            </a:r>
          </a:p>
          <a:p>
            <a:endParaRPr lang="ru-RU" sz="1100" dirty="0"/>
          </a:p>
          <a:p>
            <a:r>
              <a:rPr lang="ru-RU" sz="1100" dirty="0"/>
              <a:t>4 – количество пар считается исходя из расписания переносов и так далее автоматически обновляется</a:t>
            </a:r>
          </a:p>
          <a:p>
            <a:endParaRPr lang="ru-RU" sz="1100" dirty="0"/>
          </a:p>
          <a:p>
            <a:r>
              <a:rPr lang="ru-RU" sz="1100" dirty="0"/>
              <a:t>5 – форма редактирования </a:t>
            </a:r>
          </a:p>
          <a:p>
            <a:endParaRPr lang="ru-RU" sz="1100" dirty="0"/>
          </a:p>
          <a:p>
            <a:r>
              <a:rPr lang="ru-RU" sz="1100" dirty="0"/>
              <a:t>6 – есть смена преподавателя, тогда добавляется новый преподаватель а старый староста удаляет и вся информация сохраняется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EBA596A-C9DA-1E7E-62A1-72531E4593D7}"/>
              </a:ext>
            </a:extLst>
          </p:cNvPr>
          <p:cNvGrpSpPr/>
          <p:nvPr/>
        </p:nvGrpSpPr>
        <p:grpSpPr>
          <a:xfrm>
            <a:off x="4928315" y="96316"/>
            <a:ext cx="7180627" cy="1014386"/>
            <a:chOff x="4928315" y="96316"/>
            <a:chExt cx="7180627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4F52FD1A-805B-4938-B598-CB29606A43E0}"/>
                </a:ext>
              </a:extLst>
            </p:cNvPr>
            <p:cNvGrpSpPr/>
            <p:nvPr/>
          </p:nvGrpSpPr>
          <p:grpSpPr>
            <a:xfrm>
              <a:off x="4928315" y="128790"/>
              <a:ext cx="1614152" cy="287630"/>
              <a:chOff x="1803042" y="2137890"/>
              <a:chExt cx="1747234" cy="523744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F13EF494-8849-C2E2-7314-EB35461FF0E6}"/>
                  </a:ext>
                </a:extLst>
              </p:cNvPr>
              <p:cNvSpPr/>
              <p:nvPr/>
            </p:nvSpPr>
            <p:spPr>
              <a:xfrm>
                <a:off x="1803042" y="2137893"/>
                <a:ext cx="1747234" cy="52374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F1FE62C5-C09C-18F8-1006-3537BCAA30A3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1419940" cy="277001"/>
                <a:chOff x="2082085" y="1725766"/>
                <a:chExt cx="1419940" cy="277001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CBADB34-B7A9-5931-5EB7-3C576D82BE04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22C4188-7021-4F4D-05EA-EF08C4CCB599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DFCA0B4D-BE4C-45A6-2828-BFE66D1942BA}"/>
                </a:ext>
              </a:extLst>
            </p:cNvPr>
            <p:cNvGrpSpPr/>
            <p:nvPr/>
          </p:nvGrpSpPr>
          <p:grpSpPr>
            <a:xfrm>
              <a:off x="10908405" y="96316"/>
              <a:ext cx="1200537" cy="1014386"/>
              <a:chOff x="10908405" y="96316"/>
              <a:chExt cx="1200537" cy="1014386"/>
            </a:xfrm>
          </p:grpSpPr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06A3B7CC-03F7-7088-DA7E-87052E430780}"/>
                  </a:ext>
                </a:extLst>
              </p:cNvPr>
              <p:cNvSpPr/>
              <p:nvPr/>
            </p:nvSpPr>
            <p:spPr>
              <a:xfrm>
                <a:off x="11638209" y="96316"/>
                <a:ext cx="369194" cy="36919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E25153F-10B9-7E3D-A05B-86F2500575C9}"/>
                  </a:ext>
                </a:extLst>
              </p:cNvPr>
              <p:cNvSpPr txBox="1"/>
              <p:nvPr/>
            </p:nvSpPr>
            <p:spPr>
              <a:xfrm>
                <a:off x="11536669" y="188580"/>
                <a:ext cx="5722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профиль</a:t>
                </a:r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EA27A1E7-3A12-25F5-D4F3-74C92E8BE819}"/>
                  </a:ext>
                </a:extLst>
              </p:cNvPr>
              <p:cNvGrpSpPr/>
              <p:nvPr/>
            </p:nvGrpSpPr>
            <p:grpSpPr>
              <a:xfrm>
                <a:off x="10908405" y="513981"/>
                <a:ext cx="1167685" cy="596721"/>
                <a:chOff x="10908405" y="513981"/>
                <a:chExt cx="1167685" cy="596721"/>
              </a:xfrm>
            </p:grpSpPr>
            <p:sp>
              <p:nvSpPr>
                <p:cNvPr id="23" name="Прямоугольник 22">
                  <a:extLst>
                    <a:ext uri="{FF2B5EF4-FFF2-40B4-BE49-F238E27FC236}">
                      <a16:creationId xmlns:a16="http://schemas.microsoft.com/office/drawing/2014/main" id="{56B1FAE3-AA38-C26F-65C5-F0C4765C261D}"/>
                    </a:ext>
                  </a:extLst>
                </p:cNvPr>
                <p:cNvSpPr/>
                <p:nvPr/>
              </p:nvSpPr>
              <p:spPr>
                <a:xfrm>
                  <a:off x="10908405" y="513981"/>
                  <a:ext cx="1167685" cy="59672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542ADBF-B0B7-08C4-53E3-0AAC2C83EBF2}"/>
                    </a:ext>
                  </a:extLst>
                </p:cNvPr>
                <p:cNvSpPr txBox="1"/>
                <p:nvPr/>
              </p:nvSpPr>
              <p:spPr>
                <a:xfrm>
                  <a:off x="11032536" y="603721"/>
                  <a:ext cx="69570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ru-RU" sz="1200" dirty="0"/>
                    <a:t>Настройки</a:t>
                  </a:r>
                  <a:br>
                    <a:rPr lang="ru-RU" sz="1200" dirty="0"/>
                  </a:br>
                  <a:r>
                    <a:rPr lang="ru-RU" sz="1200" dirty="0"/>
                    <a:t>Выход</a:t>
                  </a:r>
                </a:p>
              </p:txBody>
            </p:sp>
          </p:grp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E12E3414-6F5F-B4E5-9792-416E6699A195}"/>
                </a:ext>
              </a:extLst>
            </p:cNvPr>
            <p:cNvGrpSpPr/>
            <p:nvPr/>
          </p:nvGrpSpPr>
          <p:grpSpPr>
            <a:xfrm>
              <a:off x="4928315" y="598868"/>
              <a:ext cx="5786147" cy="407865"/>
              <a:chOff x="4928315" y="598868"/>
              <a:chExt cx="5786147" cy="40786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778FFC-7E57-9E7B-5F1A-3374CC80B8D3}"/>
                  </a:ext>
                </a:extLst>
              </p:cNvPr>
              <p:cNvSpPr txBox="1"/>
              <p:nvPr/>
            </p:nvSpPr>
            <p:spPr>
              <a:xfrm>
                <a:off x="4928315" y="598868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FFBCCF-C7C6-5A58-59A4-8889CC9AD8CF}"/>
                  </a:ext>
                </a:extLst>
              </p:cNvPr>
              <p:cNvSpPr txBox="1"/>
              <p:nvPr/>
            </p:nvSpPr>
            <p:spPr>
              <a:xfrm>
                <a:off x="5622074" y="598868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10AA54-CF5E-56F4-B0F6-4B63409225F6}"/>
                  </a:ext>
                </a:extLst>
              </p:cNvPr>
              <p:cNvSpPr txBox="1"/>
              <p:nvPr/>
            </p:nvSpPr>
            <p:spPr>
              <a:xfrm>
                <a:off x="6766662" y="598868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7E9A15-15D9-4E99-3EDE-3718F57CABFB}"/>
                  </a:ext>
                </a:extLst>
              </p:cNvPr>
              <p:cNvSpPr txBox="1"/>
              <p:nvPr/>
            </p:nvSpPr>
            <p:spPr>
              <a:xfrm>
                <a:off x="7651369" y="598868"/>
                <a:ext cx="12697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домашнее задание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05D846-11EC-FBBA-A197-10EE0F4A8475}"/>
                  </a:ext>
                </a:extLst>
              </p:cNvPr>
              <p:cNvSpPr txBox="1"/>
              <p:nvPr/>
            </p:nvSpPr>
            <p:spPr>
              <a:xfrm>
                <a:off x="9112773" y="598868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85AD5E-237A-95F7-E556-391F032A7B7E}"/>
                  </a:ext>
                </a:extLst>
              </p:cNvPr>
              <p:cNvSpPr txBox="1"/>
              <p:nvPr/>
            </p:nvSpPr>
            <p:spPr>
              <a:xfrm>
                <a:off x="9666868" y="598868"/>
                <a:ext cx="10475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заявки и тикеты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A3CCE5-CA71-449E-BD97-399B18BE37DE}"/>
                  </a:ext>
                </a:extLst>
              </p:cNvPr>
              <p:cNvSpPr txBox="1"/>
              <p:nvPr/>
            </p:nvSpPr>
            <p:spPr>
              <a:xfrm>
                <a:off x="4928315" y="822067"/>
                <a:ext cx="43691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Группа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BB1505-8613-4C8E-C2F2-2FAE502E17D0}"/>
                  </a:ext>
                </a:extLst>
              </p:cNvPr>
              <p:cNvSpPr txBox="1"/>
              <p:nvPr/>
            </p:nvSpPr>
            <p:spPr>
              <a:xfrm>
                <a:off x="5829526" y="822067"/>
                <a:ext cx="680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Предметы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DD16609-82C7-E970-31BE-27794AE94828}"/>
                  </a:ext>
                </a:extLst>
              </p:cNvPr>
              <p:cNvSpPr txBox="1"/>
              <p:nvPr/>
            </p:nvSpPr>
            <p:spPr>
              <a:xfrm>
                <a:off x="6848393" y="822067"/>
                <a:ext cx="160595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Конструктор расписания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F45C07-07DF-BA22-0D1B-668B84A32A10}"/>
                  </a:ext>
                </a:extLst>
              </p:cNvPr>
              <p:cNvSpPr txBox="1"/>
              <p:nvPr/>
            </p:nvSpPr>
            <p:spPr>
              <a:xfrm>
                <a:off x="8687237" y="822067"/>
                <a:ext cx="134626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Управление парами</a:t>
                </a:r>
              </a:p>
            </p:txBody>
          </p:sp>
        </p:grp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D47A988-BBEE-C6C1-32E1-6B4DAD480BB6}"/>
              </a:ext>
            </a:extLst>
          </p:cNvPr>
          <p:cNvSpPr/>
          <p:nvPr/>
        </p:nvSpPr>
        <p:spPr>
          <a:xfrm>
            <a:off x="5002216" y="1316415"/>
            <a:ext cx="1614152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D893B1-9080-54CB-9BB3-728D1C2EAA7D}"/>
              </a:ext>
            </a:extLst>
          </p:cNvPr>
          <p:cNvSpPr txBox="1"/>
          <p:nvPr/>
        </p:nvSpPr>
        <p:spPr>
          <a:xfrm>
            <a:off x="5219134" y="1367896"/>
            <a:ext cx="122078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Добавить предмет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7830073-CD2B-1EFB-756F-F8AD1C500622}"/>
              </a:ext>
            </a:extLst>
          </p:cNvPr>
          <p:cNvSpPr/>
          <p:nvPr/>
        </p:nvSpPr>
        <p:spPr>
          <a:xfrm>
            <a:off x="5002216" y="1736481"/>
            <a:ext cx="7073874" cy="237476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4CE50D-3978-6153-7F65-DB9AB1ECD870}"/>
              </a:ext>
            </a:extLst>
          </p:cNvPr>
          <p:cNvSpPr txBox="1"/>
          <p:nvPr/>
        </p:nvSpPr>
        <p:spPr>
          <a:xfrm>
            <a:off x="5219134" y="1948500"/>
            <a:ext cx="157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9D967B-3B44-DBF5-4859-77A404D9ED8A}"/>
              </a:ext>
            </a:extLst>
          </p:cNvPr>
          <p:cNvSpPr txBox="1"/>
          <p:nvPr/>
        </p:nvSpPr>
        <p:spPr>
          <a:xfrm>
            <a:off x="5529751" y="1948500"/>
            <a:ext cx="62517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Название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AF3ED1-CC30-ADC9-C952-0697B9DC437B}"/>
              </a:ext>
            </a:extLst>
          </p:cNvPr>
          <p:cNvSpPr txBox="1"/>
          <p:nvPr/>
        </p:nvSpPr>
        <p:spPr>
          <a:xfrm>
            <a:off x="7043334" y="1948500"/>
            <a:ext cx="22781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Тип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CA3F00-9703-0079-6568-703A788838F0}"/>
              </a:ext>
            </a:extLst>
          </p:cNvPr>
          <p:cNvSpPr txBox="1"/>
          <p:nvPr/>
        </p:nvSpPr>
        <p:spPr>
          <a:xfrm>
            <a:off x="7778108" y="1948500"/>
            <a:ext cx="103650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Преподаватель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539C84-8C27-BA2F-CB02-B2A500294131}"/>
              </a:ext>
            </a:extLst>
          </p:cNvPr>
          <p:cNvSpPr txBox="1"/>
          <p:nvPr/>
        </p:nvSpPr>
        <p:spPr>
          <a:xfrm>
            <a:off x="9154163" y="1948500"/>
            <a:ext cx="249087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пар пройдено </a:t>
            </a:r>
            <a:r>
              <a:rPr lang="en-US" sz="1200" dirty="0"/>
              <a:t>/</a:t>
            </a:r>
            <a:r>
              <a:rPr lang="ru-RU" sz="1200" dirty="0"/>
              <a:t> всего пар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9ED97C-039E-4738-4D47-BDA3985ACDBB}"/>
              </a:ext>
            </a:extLst>
          </p:cNvPr>
          <p:cNvSpPr txBox="1"/>
          <p:nvPr/>
        </p:nvSpPr>
        <p:spPr>
          <a:xfrm rot="5400000">
            <a:off x="11785627" y="2391747"/>
            <a:ext cx="2115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……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467733-FF18-87AC-C8EC-D800C61D8975}"/>
              </a:ext>
            </a:extLst>
          </p:cNvPr>
          <p:cNvSpPr txBox="1"/>
          <p:nvPr/>
        </p:nvSpPr>
        <p:spPr>
          <a:xfrm>
            <a:off x="5219134" y="2441626"/>
            <a:ext cx="7854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25BD30-62AC-5525-64CA-B7C815810007}"/>
              </a:ext>
            </a:extLst>
          </p:cNvPr>
          <p:cNvSpPr txBox="1"/>
          <p:nvPr/>
        </p:nvSpPr>
        <p:spPr>
          <a:xfrm>
            <a:off x="5529751" y="2441626"/>
            <a:ext cx="41953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Матан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4FFDAA-8D1E-3A91-D085-AAFE0946C79B}"/>
              </a:ext>
            </a:extLst>
          </p:cNvPr>
          <p:cNvSpPr txBox="1"/>
          <p:nvPr/>
        </p:nvSpPr>
        <p:spPr>
          <a:xfrm>
            <a:off x="7043334" y="2216855"/>
            <a:ext cx="17793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ЛК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C1A189-91A4-B09C-2ED1-3044FC06282B}"/>
              </a:ext>
            </a:extLst>
          </p:cNvPr>
          <p:cNvSpPr txBox="1"/>
          <p:nvPr/>
        </p:nvSpPr>
        <p:spPr>
          <a:xfrm>
            <a:off x="7778108" y="2216855"/>
            <a:ext cx="12721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Преподаватель №1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3DE75B-0673-FD9F-4188-07783A09D703}"/>
              </a:ext>
            </a:extLst>
          </p:cNvPr>
          <p:cNvSpPr txBox="1"/>
          <p:nvPr/>
        </p:nvSpPr>
        <p:spPr>
          <a:xfrm>
            <a:off x="7043334" y="2441626"/>
            <a:ext cx="16831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ПЗ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B3C830-45E1-285A-B8AB-0ED05561A0A6}"/>
              </a:ext>
            </a:extLst>
          </p:cNvPr>
          <p:cNvSpPr txBox="1"/>
          <p:nvPr/>
        </p:nvSpPr>
        <p:spPr>
          <a:xfrm>
            <a:off x="7778108" y="2441626"/>
            <a:ext cx="12721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Преподаватель №2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704E83-13F1-5A10-DA5F-BEE43515B319}"/>
              </a:ext>
            </a:extLst>
          </p:cNvPr>
          <p:cNvSpPr txBox="1"/>
          <p:nvPr/>
        </p:nvSpPr>
        <p:spPr>
          <a:xfrm>
            <a:off x="7043334" y="2650881"/>
            <a:ext cx="1667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ЛЗ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87FF30-31A1-4855-1B2D-F134874727AD}"/>
              </a:ext>
            </a:extLst>
          </p:cNvPr>
          <p:cNvSpPr txBox="1"/>
          <p:nvPr/>
        </p:nvSpPr>
        <p:spPr>
          <a:xfrm>
            <a:off x="7778108" y="2650881"/>
            <a:ext cx="166167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Преподаватель №1 и №2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EF1CD8-C089-4C5E-4053-DF654ADB8DE7}"/>
              </a:ext>
            </a:extLst>
          </p:cNvPr>
          <p:cNvSpPr txBox="1"/>
          <p:nvPr/>
        </p:nvSpPr>
        <p:spPr>
          <a:xfrm>
            <a:off x="9983365" y="2216855"/>
            <a:ext cx="2949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0/16</a:t>
            </a:r>
            <a:endParaRPr lang="ru-RU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F01950-80A3-2165-100F-F81862F96C77}"/>
              </a:ext>
            </a:extLst>
          </p:cNvPr>
          <p:cNvSpPr txBox="1"/>
          <p:nvPr/>
        </p:nvSpPr>
        <p:spPr>
          <a:xfrm>
            <a:off x="9983365" y="2441626"/>
            <a:ext cx="2949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0/32</a:t>
            </a:r>
            <a:endParaRPr lang="ru-RU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8CB833-B22A-41C9-CE33-147DEB8F3C22}"/>
              </a:ext>
            </a:extLst>
          </p:cNvPr>
          <p:cNvSpPr txBox="1"/>
          <p:nvPr/>
        </p:nvSpPr>
        <p:spPr>
          <a:xfrm>
            <a:off x="9983365" y="2650881"/>
            <a:ext cx="21640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0/8</a:t>
            </a:r>
            <a:endParaRPr lang="ru-RU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6E73E1-5D26-197E-8147-F41CEB7B1F70}"/>
              </a:ext>
            </a:extLst>
          </p:cNvPr>
          <p:cNvSpPr txBox="1"/>
          <p:nvPr/>
        </p:nvSpPr>
        <p:spPr>
          <a:xfrm>
            <a:off x="5222923" y="4471161"/>
            <a:ext cx="335835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Название предмета (выбрать выпадающий список)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B419F3E7-F556-FBCD-9D2F-0025B3E9F695}"/>
              </a:ext>
            </a:extLst>
          </p:cNvPr>
          <p:cNvSpPr/>
          <p:nvPr/>
        </p:nvSpPr>
        <p:spPr>
          <a:xfrm>
            <a:off x="5148311" y="4733197"/>
            <a:ext cx="421616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B9FBBE-6D60-DBAA-2F93-445250744377}"/>
              </a:ext>
            </a:extLst>
          </p:cNvPr>
          <p:cNvSpPr txBox="1"/>
          <p:nvPr/>
        </p:nvSpPr>
        <p:spPr>
          <a:xfrm>
            <a:off x="5258408" y="4784678"/>
            <a:ext cx="17793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ЛК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019082DF-5816-BD9F-714C-D592A1EC2E9C}"/>
              </a:ext>
            </a:extLst>
          </p:cNvPr>
          <p:cNvSpPr/>
          <p:nvPr/>
        </p:nvSpPr>
        <p:spPr>
          <a:xfrm>
            <a:off x="5674384" y="4733197"/>
            <a:ext cx="421616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03418D-717F-7E7D-7A4F-E2C82BB0F62B}"/>
              </a:ext>
            </a:extLst>
          </p:cNvPr>
          <p:cNvSpPr txBox="1"/>
          <p:nvPr/>
        </p:nvSpPr>
        <p:spPr>
          <a:xfrm>
            <a:off x="5784481" y="4784678"/>
            <a:ext cx="16831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ПЗ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AE593796-0354-8AED-0B49-9AE7ED8C1768}"/>
              </a:ext>
            </a:extLst>
          </p:cNvPr>
          <p:cNvSpPr/>
          <p:nvPr/>
        </p:nvSpPr>
        <p:spPr>
          <a:xfrm>
            <a:off x="6246411" y="4733197"/>
            <a:ext cx="421616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762EAD-41AC-1401-1B50-E09C0C7568A1}"/>
              </a:ext>
            </a:extLst>
          </p:cNvPr>
          <p:cNvSpPr txBox="1"/>
          <p:nvPr/>
        </p:nvSpPr>
        <p:spPr>
          <a:xfrm>
            <a:off x="6356508" y="4784678"/>
            <a:ext cx="1667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ЛЗ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8B7F0F-8B9F-CEAD-23A5-DDA0CB805A5B}"/>
              </a:ext>
            </a:extLst>
          </p:cNvPr>
          <p:cNvSpPr txBox="1"/>
          <p:nvPr/>
        </p:nvSpPr>
        <p:spPr>
          <a:xfrm>
            <a:off x="5183869" y="5273787"/>
            <a:ext cx="50250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Преподаватель (выбрать или вводить </a:t>
            </a:r>
            <a:r>
              <a:rPr lang="ru-RU" sz="1200" dirty="0" err="1"/>
              <a:t>фио</a:t>
            </a:r>
            <a:r>
              <a:rPr lang="ru-RU" sz="1200" dirty="0"/>
              <a:t> или номер и будет высвечиваться)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4CAFEA-8BBB-2B0E-82D8-A691457598FE}"/>
              </a:ext>
            </a:extLst>
          </p:cNvPr>
          <p:cNvSpPr txBox="1"/>
          <p:nvPr/>
        </p:nvSpPr>
        <p:spPr>
          <a:xfrm>
            <a:off x="5183869" y="5597674"/>
            <a:ext cx="50250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Преподаватель (выбрать или вводить </a:t>
            </a:r>
            <a:r>
              <a:rPr lang="ru-RU" sz="1200" dirty="0" err="1"/>
              <a:t>фио</a:t>
            </a:r>
            <a:r>
              <a:rPr lang="ru-RU" sz="1200" dirty="0"/>
              <a:t> или номер и будет высвечиваться)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DC581D-D395-8403-FE3B-D4D458F685E1}"/>
              </a:ext>
            </a:extLst>
          </p:cNvPr>
          <p:cNvSpPr txBox="1"/>
          <p:nvPr/>
        </p:nvSpPr>
        <p:spPr>
          <a:xfrm>
            <a:off x="5183869" y="5921561"/>
            <a:ext cx="50250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Преподаватель (выбрать или вводить </a:t>
            </a:r>
            <a:r>
              <a:rPr lang="ru-RU" sz="1200" dirty="0" err="1"/>
              <a:t>фио</a:t>
            </a:r>
            <a:r>
              <a:rPr lang="ru-RU" sz="1200" dirty="0"/>
              <a:t> или номер и будет высвечиваться)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ACB9B5-6006-FD47-D404-995032D57B14}"/>
              </a:ext>
            </a:extLst>
          </p:cNvPr>
          <p:cNvSpPr txBox="1"/>
          <p:nvPr/>
        </p:nvSpPr>
        <p:spPr>
          <a:xfrm>
            <a:off x="10353621" y="5273787"/>
            <a:ext cx="72308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 добавить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70C01CD-5155-DDD3-5074-7445B5A47A83}"/>
              </a:ext>
            </a:extLst>
          </p:cNvPr>
          <p:cNvSpPr txBox="1"/>
          <p:nvPr/>
        </p:nvSpPr>
        <p:spPr>
          <a:xfrm>
            <a:off x="10353621" y="5597674"/>
            <a:ext cx="72308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 добавить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B64A57-80F8-052B-B085-3068A74B1762}"/>
              </a:ext>
            </a:extLst>
          </p:cNvPr>
          <p:cNvSpPr txBox="1"/>
          <p:nvPr/>
        </p:nvSpPr>
        <p:spPr>
          <a:xfrm>
            <a:off x="10353621" y="5921561"/>
            <a:ext cx="72308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 добавить</a:t>
            </a:r>
          </a:p>
        </p:txBody>
      </p:sp>
    </p:spTree>
    <p:extLst>
      <p:ext uri="{BB962C8B-B14F-4D97-AF65-F5344CB8AC3E}">
        <p14:creationId xmlns:p14="http://schemas.microsoft.com/office/powerpoint/2010/main" val="2112360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116.1 – СТРАНИЦА СТАРОСТА – ПРЕДМЕТЫ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староста </a:t>
            </a:r>
            <a:r>
              <a:rPr lang="ru-RU" sz="1100" dirty="0" err="1"/>
              <a:t>хочеть</a:t>
            </a:r>
            <a:r>
              <a:rPr lang="ru-RU" sz="1100" dirty="0"/>
              <a:t> иметь полное управление предметов создавать их себе в группе, при этом при удалении предмета удаляется вся информация и восстановить нельзя, поэтому удаление предмета сопровождается вводом пароля и вводом кода из бота, и каскадом удаляется всё и посещение и дз и всё </a:t>
            </a:r>
            <a:r>
              <a:rPr lang="ru-RU" sz="1100" dirty="0" err="1"/>
              <a:t>чт</a:t>
            </a:r>
            <a:r>
              <a:rPr lang="ru-RU" sz="1100" dirty="0"/>
              <a:t> связано с предметом</a:t>
            </a:r>
          </a:p>
          <a:p>
            <a:endParaRPr lang="ru-RU" sz="1100" dirty="0"/>
          </a:p>
          <a:p>
            <a:r>
              <a:rPr lang="ru-RU" sz="1100" dirty="0"/>
              <a:t>2 – один предмет могут вести несколько человек и один учитель может вести несколько предметов у разных групп с одинаковым названием</a:t>
            </a:r>
          </a:p>
          <a:p>
            <a:endParaRPr lang="ru-RU" sz="1100" dirty="0"/>
          </a:p>
          <a:p>
            <a:r>
              <a:rPr lang="ru-RU" sz="1100" dirty="0"/>
              <a:t>3 – староста может менять название предмета, преподавателей к нему</a:t>
            </a:r>
          </a:p>
        </p:txBody>
      </p:sp>
    </p:spTree>
    <p:extLst>
      <p:ext uri="{BB962C8B-B14F-4D97-AF65-F5344CB8AC3E}">
        <p14:creationId xmlns:p14="http://schemas.microsoft.com/office/powerpoint/2010/main" val="3036211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-2031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117 – СТРАНИЦА СТАРОСТА – КОНСТРУКТОР РАСПИСАНИЯ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4909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тут как бы плиткой, время пары берём из </a:t>
            </a:r>
            <a:r>
              <a:rPr lang="ru-RU" sz="1100" dirty="0" err="1"/>
              <a:t>бекенда</a:t>
            </a:r>
            <a:r>
              <a:rPr lang="ru-RU" sz="1100" dirty="0"/>
              <a:t> скорее всего надо будет завести </a:t>
            </a:r>
            <a:r>
              <a:rPr lang="en-US" sz="1100" dirty="0" err="1"/>
              <a:t>enum</a:t>
            </a:r>
            <a:r>
              <a:rPr lang="ru-RU" sz="1100" dirty="0"/>
              <a:t> те время всегда </a:t>
            </a:r>
            <a:r>
              <a:rPr lang="ru-RU" sz="1100" dirty="0" err="1"/>
              <a:t>одинакого</a:t>
            </a:r>
            <a:r>
              <a:rPr lang="ru-RU" sz="1100" dirty="0"/>
              <a:t>, при нажатии на +открывается окно с добавлением пары. При этом предмет должен быть уже заведён. При добавлении вначале выбирается на какую неделю его добавить чётную или нечётную (но в системе всегда фигурирует цифры 1 или 2 посмотри по </a:t>
            </a:r>
            <a:r>
              <a:rPr lang="ru-RU" sz="1100" dirty="0" err="1"/>
              <a:t>бекенду</a:t>
            </a:r>
            <a:r>
              <a:rPr lang="ru-RU" sz="1100" dirty="0"/>
              <a:t> что есть что) потом вводится название или выбирается из списка если вводится то по тексту ищутся подходящие предметы по названию полнотекстовый поиск. </a:t>
            </a:r>
          </a:p>
          <a:p>
            <a:endParaRPr lang="ru-RU" sz="1100" dirty="0"/>
          </a:p>
          <a:p>
            <a:r>
              <a:rPr lang="ru-RU" sz="1100" dirty="0"/>
              <a:t>2 – если предмет на обе недели, то он занимает всю ячейку и отображается как показано на форме в самом низу, если он по одной неделе, то ячейки делятся пополам горизонтально и сверху первый а снизу второй и можно добавить сразу на </a:t>
            </a:r>
            <a:r>
              <a:rPr lang="ru-RU" sz="1100" dirty="0" err="1"/>
              <a:t>другйю</a:t>
            </a:r>
            <a:r>
              <a:rPr lang="ru-RU" sz="1100" dirty="0"/>
              <a:t> неделю (те фильтр выбран противоположный по неделям. </a:t>
            </a:r>
          </a:p>
          <a:p>
            <a:endParaRPr lang="ru-RU" sz="1100" dirty="0"/>
          </a:p>
          <a:p>
            <a:r>
              <a:rPr lang="ru-RU" sz="1100" dirty="0"/>
              <a:t>3 – в конструкторе серым отображаются одноразовые пары (которые добавляются на следующем этапе (конструктор некое постоянное но изменения иногда вносить надо и поэтому 118 страницы про изменения))</a:t>
            </a:r>
          </a:p>
          <a:p>
            <a:endParaRPr lang="ru-RU" sz="1100" dirty="0"/>
          </a:p>
          <a:p>
            <a:r>
              <a:rPr lang="ru-RU" sz="1100" dirty="0"/>
              <a:t>4 – при этом высота и ширина не должна меняется есть ли предмет или нет. Предмет лучше будет сокращаться</a:t>
            </a:r>
          </a:p>
          <a:p>
            <a:endParaRPr lang="ru-RU" sz="1100" dirty="0"/>
          </a:p>
          <a:p>
            <a:r>
              <a:rPr lang="ru-RU" sz="1100" dirty="0"/>
              <a:t>5 – после выбора предмета появляются кнопки выбрать какой тип предмета и после есть место чтоб прописать какая аудитория</a:t>
            </a:r>
          </a:p>
          <a:p>
            <a:endParaRPr lang="ru-RU" sz="1100" dirty="0"/>
          </a:p>
          <a:p>
            <a:r>
              <a:rPr lang="ru-RU" sz="1100" dirty="0"/>
              <a:t>6 – если я нажимаю снова на пару эту то по умолчанию кнопка удалить пару (но при этом не удаляются данные по предмету этому) если меняю данные то кнопка сохранить, они меняются местами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DA66F57-3ED5-5E51-E73D-09B169429436}"/>
              </a:ext>
            </a:extLst>
          </p:cNvPr>
          <p:cNvGrpSpPr/>
          <p:nvPr/>
        </p:nvGrpSpPr>
        <p:grpSpPr>
          <a:xfrm>
            <a:off x="4928315" y="96316"/>
            <a:ext cx="7180627" cy="1014386"/>
            <a:chOff x="4928315" y="96316"/>
            <a:chExt cx="7180627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EEA52272-9C29-4FC6-463A-CAE9A30DA7B3}"/>
                </a:ext>
              </a:extLst>
            </p:cNvPr>
            <p:cNvGrpSpPr/>
            <p:nvPr/>
          </p:nvGrpSpPr>
          <p:grpSpPr>
            <a:xfrm>
              <a:off x="4928315" y="128790"/>
              <a:ext cx="1614152" cy="287630"/>
              <a:chOff x="1803042" y="2137890"/>
              <a:chExt cx="1747234" cy="523744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07F04904-FAB0-5643-E0D2-D9213B1D1ADF}"/>
                  </a:ext>
                </a:extLst>
              </p:cNvPr>
              <p:cNvSpPr/>
              <p:nvPr/>
            </p:nvSpPr>
            <p:spPr>
              <a:xfrm>
                <a:off x="1803042" y="2137893"/>
                <a:ext cx="1747234" cy="52374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82E57A7F-CE72-75DB-74D8-2E9D05200D01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1419940" cy="277001"/>
                <a:chOff x="2082085" y="1725766"/>
                <a:chExt cx="1419940" cy="277001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E5133EE-B3CF-2FA4-43BB-D6A3C4FC678E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2A8B2CC-FDF8-3DEC-2CA6-914330E8E0A5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3A860569-E28F-A7C5-D19F-FF1F902E1476}"/>
                </a:ext>
              </a:extLst>
            </p:cNvPr>
            <p:cNvGrpSpPr/>
            <p:nvPr/>
          </p:nvGrpSpPr>
          <p:grpSpPr>
            <a:xfrm>
              <a:off x="10908405" y="96316"/>
              <a:ext cx="1200537" cy="1014386"/>
              <a:chOff x="10908405" y="96316"/>
              <a:chExt cx="1200537" cy="1014386"/>
            </a:xfrm>
          </p:grpSpPr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950094F0-FBE5-1553-2176-E92EF44760FB}"/>
                  </a:ext>
                </a:extLst>
              </p:cNvPr>
              <p:cNvSpPr/>
              <p:nvPr/>
            </p:nvSpPr>
            <p:spPr>
              <a:xfrm>
                <a:off x="11638209" y="96316"/>
                <a:ext cx="369194" cy="36919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37F55E-7417-AC4F-9274-C9FB287366A5}"/>
                  </a:ext>
                </a:extLst>
              </p:cNvPr>
              <p:cNvSpPr txBox="1"/>
              <p:nvPr/>
            </p:nvSpPr>
            <p:spPr>
              <a:xfrm>
                <a:off x="11536669" y="188580"/>
                <a:ext cx="5722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профиль</a:t>
                </a:r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4E4B20FD-1790-0680-17CC-40DB1D16C1B9}"/>
                  </a:ext>
                </a:extLst>
              </p:cNvPr>
              <p:cNvGrpSpPr/>
              <p:nvPr/>
            </p:nvGrpSpPr>
            <p:grpSpPr>
              <a:xfrm>
                <a:off x="10908405" y="513981"/>
                <a:ext cx="1167685" cy="596721"/>
                <a:chOff x="10908405" y="513981"/>
                <a:chExt cx="1167685" cy="596721"/>
              </a:xfrm>
            </p:grpSpPr>
            <p:sp>
              <p:nvSpPr>
                <p:cNvPr id="23" name="Прямоугольник 22">
                  <a:extLst>
                    <a:ext uri="{FF2B5EF4-FFF2-40B4-BE49-F238E27FC236}">
                      <a16:creationId xmlns:a16="http://schemas.microsoft.com/office/drawing/2014/main" id="{B6D319AE-8DDE-7228-EA3F-948B5A015E68}"/>
                    </a:ext>
                  </a:extLst>
                </p:cNvPr>
                <p:cNvSpPr/>
                <p:nvPr/>
              </p:nvSpPr>
              <p:spPr>
                <a:xfrm>
                  <a:off x="10908405" y="513981"/>
                  <a:ext cx="1167685" cy="59672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A2C57E4-0C44-5D87-00C4-CDCC6C69A67D}"/>
                    </a:ext>
                  </a:extLst>
                </p:cNvPr>
                <p:cNvSpPr txBox="1"/>
                <p:nvPr/>
              </p:nvSpPr>
              <p:spPr>
                <a:xfrm>
                  <a:off x="11032536" y="603721"/>
                  <a:ext cx="69570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ru-RU" sz="1200" dirty="0"/>
                    <a:t>Настройки</a:t>
                  </a:r>
                  <a:br>
                    <a:rPr lang="ru-RU" sz="1200" dirty="0"/>
                  </a:br>
                  <a:r>
                    <a:rPr lang="ru-RU" sz="1200" dirty="0"/>
                    <a:t>Выход</a:t>
                  </a:r>
                </a:p>
              </p:txBody>
            </p:sp>
          </p:grp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6E521037-7542-ADCB-1D79-32E8E500A51E}"/>
                </a:ext>
              </a:extLst>
            </p:cNvPr>
            <p:cNvGrpSpPr/>
            <p:nvPr/>
          </p:nvGrpSpPr>
          <p:grpSpPr>
            <a:xfrm>
              <a:off x="4928315" y="598868"/>
              <a:ext cx="5786147" cy="407865"/>
              <a:chOff x="4928315" y="598868"/>
              <a:chExt cx="5786147" cy="40786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A83E98-2B7A-7661-C80E-A5D7BB8A4533}"/>
                  </a:ext>
                </a:extLst>
              </p:cNvPr>
              <p:cNvSpPr txBox="1"/>
              <p:nvPr/>
            </p:nvSpPr>
            <p:spPr>
              <a:xfrm>
                <a:off x="4928315" y="598868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F80F40-4A2B-723D-799E-A48EC9C4B198}"/>
                  </a:ext>
                </a:extLst>
              </p:cNvPr>
              <p:cNvSpPr txBox="1"/>
              <p:nvPr/>
            </p:nvSpPr>
            <p:spPr>
              <a:xfrm>
                <a:off x="5622074" y="598868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ADFDA2-DAE3-8EFB-8B7B-905EFC2B7EAC}"/>
                  </a:ext>
                </a:extLst>
              </p:cNvPr>
              <p:cNvSpPr txBox="1"/>
              <p:nvPr/>
            </p:nvSpPr>
            <p:spPr>
              <a:xfrm>
                <a:off x="6766662" y="598868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C859ED-305D-8618-5F1C-4D51B007772E}"/>
                  </a:ext>
                </a:extLst>
              </p:cNvPr>
              <p:cNvSpPr txBox="1"/>
              <p:nvPr/>
            </p:nvSpPr>
            <p:spPr>
              <a:xfrm>
                <a:off x="7651369" y="598868"/>
                <a:ext cx="12697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домашнее задание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D527F3-8838-84F0-9A49-29F3D284BED2}"/>
                  </a:ext>
                </a:extLst>
              </p:cNvPr>
              <p:cNvSpPr txBox="1"/>
              <p:nvPr/>
            </p:nvSpPr>
            <p:spPr>
              <a:xfrm>
                <a:off x="9112773" y="598868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8D2F63-1E57-8FA7-1F3B-D37554F58547}"/>
                  </a:ext>
                </a:extLst>
              </p:cNvPr>
              <p:cNvSpPr txBox="1"/>
              <p:nvPr/>
            </p:nvSpPr>
            <p:spPr>
              <a:xfrm>
                <a:off x="9666868" y="598868"/>
                <a:ext cx="10475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заявки и тикеты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D0DDBB-FF45-83E7-BB7E-BB46BFEEB9F3}"/>
                  </a:ext>
                </a:extLst>
              </p:cNvPr>
              <p:cNvSpPr txBox="1"/>
              <p:nvPr/>
            </p:nvSpPr>
            <p:spPr>
              <a:xfrm>
                <a:off x="4928315" y="822067"/>
                <a:ext cx="43691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Группа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4F2A03-A173-C039-055A-09FEF3B1A66B}"/>
                  </a:ext>
                </a:extLst>
              </p:cNvPr>
              <p:cNvSpPr txBox="1"/>
              <p:nvPr/>
            </p:nvSpPr>
            <p:spPr>
              <a:xfrm>
                <a:off x="5829526" y="822067"/>
                <a:ext cx="680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Предметы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9D08AC-3253-606C-CD8E-0F493AF00481}"/>
                  </a:ext>
                </a:extLst>
              </p:cNvPr>
              <p:cNvSpPr txBox="1"/>
              <p:nvPr/>
            </p:nvSpPr>
            <p:spPr>
              <a:xfrm>
                <a:off x="6848393" y="822067"/>
                <a:ext cx="160595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Конструктор расписания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B8BA2A-B118-11A9-48A8-DB9278214649}"/>
                  </a:ext>
                </a:extLst>
              </p:cNvPr>
              <p:cNvSpPr txBox="1"/>
              <p:nvPr/>
            </p:nvSpPr>
            <p:spPr>
              <a:xfrm>
                <a:off x="8687237" y="822067"/>
                <a:ext cx="134626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Управление парами</a:t>
                </a:r>
              </a:p>
            </p:txBody>
          </p:sp>
        </p:grp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30004FE-15EC-9FC6-8180-FAF036AE4CB2}"/>
              </a:ext>
            </a:extLst>
          </p:cNvPr>
          <p:cNvSpPr/>
          <p:nvPr/>
        </p:nvSpPr>
        <p:spPr>
          <a:xfrm>
            <a:off x="4928315" y="1195340"/>
            <a:ext cx="7147775" cy="40580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F99453-A595-1F09-C535-C42232D9E626}"/>
              </a:ext>
            </a:extLst>
          </p:cNvPr>
          <p:cNvSpPr txBox="1"/>
          <p:nvPr/>
        </p:nvSpPr>
        <p:spPr>
          <a:xfrm>
            <a:off x="5082988" y="1651814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№1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A420E3-56A9-2092-3915-D06206EA5071}"/>
              </a:ext>
            </a:extLst>
          </p:cNvPr>
          <p:cNvSpPr txBox="1"/>
          <p:nvPr/>
        </p:nvSpPr>
        <p:spPr>
          <a:xfrm>
            <a:off x="5082988" y="2091033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№2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F8D9E1-5D84-0CCE-AE80-AB81B0E46CD0}"/>
              </a:ext>
            </a:extLst>
          </p:cNvPr>
          <p:cNvSpPr txBox="1"/>
          <p:nvPr/>
        </p:nvSpPr>
        <p:spPr>
          <a:xfrm>
            <a:off x="5082988" y="2530252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№3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BEC714-B281-A7D7-F788-FCC4525EE2FA}"/>
              </a:ext>
            </a:extLst>
          </p:cNvPr>
          <p:cNvSpPr txBox="1"/>
          <p:nvPr/>
        </p:nvSpPr>
        <p:spPr>
          <a:xfrm>
            <a:off x="5082988" y="2969471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№4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AC90EC-E068-D021-7068-B2A87891E679}"/>
              </a:ext>
            </a:extLst>
          </p:cNvPr>
          <p:cNvSpPr txBox="1"/>
          <p:nvPr/>
        </p:nvSpPr>
        <p:spPr>
          <a:xfrm>
            <a:off x="5082988" y="3408690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№5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03C9FE-2932-375F-2B10-BD6A8F503C54}"/>
              </a:ext>
            </a:extLst>
          </p:cNvPr>
          <p:cNvSpPr txBox="1"/>
          <p:nvPr/>
        </p:nvSpPr>
        <p:spPr>
          <a:xfrm>
            <a:off x="5082988" y="3847909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№6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B6D067-9F29-8C64-556E-BC4498049961}"/>
              </a:ext>
            </a:extLst>
          </p:cNvPr>
          <p:cNvSpPr txBox="1"/>
          <p:nvPr/>
        </p:nvSpPr>
        <p:spPr>
          <a:xfrm>
            <a:off x="5082988" y="4287128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№7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7E79D7-7E93-9AD6-68B5-323DAB79927B}"/>
              </a:ext>
            </a:extLst>
          </p:cNvPr>
          <p:cNvSpPr txBox="1"/>
          <p:nvPr/>
        </p:nvSpPr>
        <p:spPr>
          <a:xfrm>
            <a:off x="5082988" y="4726349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№8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4C1C17-5DC1-6878-C5BA-5EFBF6A043A4}"/>
              </a:ext>
            </a:extLst>
          </p:cNvPr>
          <p:cNvSpPr txBox="1"/>
          <p:nvPr/>
        </p:nvSpPr>
        <p:spPr>
          <a:xfrm>
            <a:off x="6398019" y="172103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CC2D8F-F34B-2345-E829-A6A2313E44E3}"/>
              </a:ext>
            </a:extLst>
          </p:cNvPr>
          <p:cNvSpPr txBox="1"/>
          <p:nvPr/>
        </p:nvSpPr>
        <p:spPr>
          <a:xfrm>
            <a:off x="6423854" y="1279979"/>
            <a:ext cx="16190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пн</a:t>
            </a:r>
            <a:endParaRPr lang="ru-RU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AF33AE-3F5C-CF4D-658D-BAE97E835E98}"/>
              </a:ext>
            </a:extLst>
          </p:cNvPr>
          <p:cNvSpPr txBox="1"/>
          <p:nvPr/>
        </p:nvSpPr>
        <p:spPr>
          <a:xfrm>
            <a:off x="7184389" y="1279979"/>
            <a:ext cx="13305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вт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884A95-902C-892C-21AD-FF521E1F714D}"/>
              </a:ext>
            </a:extLst>
          </p:cNvPr>
          <p:cNvSpPr txBox="1"/>
          <p:nvPr/>
        </p:nvSpPr>
        <p:spPr>
          <a:xfrm>
            <a:off x="7863972" y="1279979"/>
            <a:ext cx="14587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9EA1B8-4E7B-3CDE-D29D-A0ECE7801CFF}"/>
              </a:ext>
            </a:extLst>
          </p:cNvPr>
          <p:cNvSpPr txBox="1"/>
          <p:nvPr/>
        </p:nvSpPr>
        <p:spPr>
          <a:xfrm>
            <a:off x="8687237" y="1279979"/>
            <a:ext cx="13144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чт</a:t>
            </a:r>
            <a:endParaRPr lang="ru-RU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F0DCD3-554D-8FFC-B9A3-F0FB50651D06}"/>
              </a:ext>
            </a:extLst>
          </p:cNvPr>
          <p:cNvSpPr txBox="1"/>
          <p:nvPr/>
        </p:nvSpPr>
        <p:spPr>
          <a:xfrm>
            <a:off x="9343885" y="1279979"/>
            <a:ext cx="13946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пт</a:t>
            </a:r>
            <a:endParaRPr lang="ru-RU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A584D2-2C90-7C5C-09FA-F3D32113D4B9}"/>
              </a:ext>
            </a:extLst>
          </p:cNvPr>
          <p:cNvSpPr txBox="1"/>
          <p:nvPr/>
        </p:nvSpPr>
        <p:spPr>
          <a:xfrm>
            <a:off x="10148381" y="1279979"/>
            <a:ext cx="14747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сб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120780-A2A0-02AB-A1F4-CDAF8321FD9E}"/>
              </a:ext>
            </a:extLst>
          </p:cNvPr>
          <p:cNvSpPr txBox="1"/>
          <p:nvPr/>
        </p:nvSpPr>
        <p:spPr>
          <a:xfrm>
            <a:off x="6398019" y="2161009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448B75-B633-880E-929A-734E5E137EB7}"/>
              </a:ext>
            </a:extLst>
          </p:cNvPr>
          <p:cNvSpPr txBox="1"/>
          <p:nvPr/>
        </p:nvSpPr>
        <p:spPr>
          <a:xfrm>
            <a:off x="6398019" y="2600988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56E087-B205-BD7C-C84B-10842889873E}"/>
              </a:ext>
            </a:extLst>
          </p:cNvPr>
          <p:cNvSpPr txBox="1"/>
          <p:nvPr/>
        </p:nvSpPr>
        <p:spPr>
          <a:xfrm>
            <a:off x="6398019" y="3040967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80A5BF-3B85-40EB-A395-3EDDE157612E}"/>
              </a:ext>
            </a:extLst>
          </p:cNvPr>
          <p:cNvSpPr txBox="1"/>
          <p:nvPr/>
        </p:nvSpPr>
        <p:spPr>
          <a:xfrm>
            <a:off x="6398019" y="3480946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673974-D347-4C05-B0AD-A7F99050A88C}"/>
              </a:ext>
            </a:extLst>
          </p:cNvPr>
          <p:cNvSpPr txBox="1"/>
          <p:nvPr/>
        </p:nvSpPr>
        <p:spPr>
          <a:xfrm>
            <a:off x="6398019" y="3920925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62E4AC-400E-6FE9-34DC-F84022704209}"/>
              </a:ext>
            </a:extLst>
          </p:cNvPr>
          <p:cNvSpPr txBox="1"/>
          <p:nvPr/>
        </p:nvSpPr>
        <p:spPr>
          <a:xfrm>
            <a:off x="6398019" y="4360904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ED6379-32C7-C1C6-4A2D-4ADC313B5C17}"/>
              </a:ext>
            </a:extLst>
          </p:cNvPr>
          <p:cNvSpPr txBox="1"/>
          <p:nvPr/>
        </p:nvSpPr>
        <p:spPr>
          <a:xfrm>
            <a:off x="6398019" y="4800886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4AF63D-38FC-BD76-436C-1A00A9226812}"/>
              </a:ext>
            </a:extLst>
          </p:cNvPr>
          <p:cNvSpPr txBox="1"/>
          <p:nvPr/>
        </p:nvSpPr>
        <p:spPr>
          <a:xfrm>
            <a:off x="7208279" y="172103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F3C0A2-87E7-D355-AFD3-C372FAC6A5BA}"/>
              </a:ext>
            </a:extLst>
          </p:cNvPr>
          <p:cNvSpPr txBox="1"/>
          <p:nvPr/>
        </p:nvSpPr>
        <p:spPr>
          <a:xfrm>
            <a:off x="7208279" y="2161009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75D96A-9965-59A4-85C9-B81E7C3E6E77}"/>
              </a:ext>
            </a:extLst>
          </p:cNvPr>
          <p:cNvSpPr txBox="1"/>
          <p:nvPr/>
        </p:nvSpPr>
        <p:spPr>
          <a:xfrm>
            <a:off x="7208279" y="2600988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7CE452-4567-0E8E-FB8B-DFE6A8E77B49}"/>
              </a:ext>
            </a:extLst>
          </p:cNvPr>
          <p:cNvSpPr txBox="1"/>
          <p:nvPr/>
        </p:nvSpPr>
        <p:spPr>
          <a:xfrm>
            <a:off x="7208279" y="3040967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1F9D229-5748-0401-2F2E-1B7DAA4CADF2}"/>
              </a:ext>
            </a:extLst>
          </p:cNvPr>
          <p:cNvSpPr txBox="1"/>
          <p:nvPr/>
        </p:nvSpPr>
        <p:spPr>
          <a:xfrm>
            <a:off x="7208279" y="3480946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C2F67D-6969-E768-B570-9AC11F7866E0}"/>
              </a:ext>
            </a:extLst>
          </p:cNvPr>
          <p:cNvSpPr txBox="1"/>
          <p:nvPr/>
        </p:nvSpPr>
        <p:spPr>
          <a:xfrm>
            <a:off x="7208279" y="3920925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935D2B8-AD9D-351B-EE52-350A57B80C8E}"/>
              </a:ext>
            </a:extLst>
          </p:cNvPr>
          <p:cNvSpPr txBox="1"/>
          <p:nvPr/>
        </p:nvSpPr>
        <p:spPr>
          <a:xfrm>
            <a:off x="7208279" y="4360904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BABD380-3021-FB58-A49A-002CB193DCA3}"/>
              </a:ext>
            </a:extLst>
          </p:cNvPr>
          <p:cNvSpPr txBox="1"/>
          <p:nvPr/>
        </p:nvSpPr>
        <p:spPr>
          <a:xfrm>
            <a:off x="7208279" y="4800886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E7BF18-9277-0DD4-AEA5-62206EE3C0B4}"/>
              </a:ext>
            </a:extLst>
          </p:cNvPr>
          <p:cNvSpPr txBox="1"/>
          <p:nvPr/>
        </p:nvSpPr>
        <p:spPr>
          <a:xfrm>
            <a:off x="7833622" y="1721030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3CCB89-F1BF-FE2F-F249-0517D71A56E7}"/>
              </a:ext>
            </a:extLst>
          </p:cNvPr>
          <p:cNvSpPr txBox="1"/>
          <p:nvPr/>
        </p:nvSpPr>
        <p:spPr>
          <a:xfrm>
            <a:off x="7833622" y="2161009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498C2C-7851-2BBB-CD73-E6783337C847}"/>
              </a:ext>
            </a:extLst>
          </p:cNvPr>
          <p:cNvSpPr txBox="1"/>
          <p:nvPr/>
        </p:nvSpPr>
        <p:spPr>
          <a:xfrm>
            <a:off x="7833622" y="2600988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B8AE2C1-4B76-0D55-E315-89DF85E2061E}"/>
              </a:ext>
            </a:extLst>
          </p:cNvPr>
          <p:cNvSpPr txBox="1"/>
          <p:nvPr/>
        </p:nvSpPr>
        <p:spPr>
          <a:xfrm>
            <a:off x="7833622" y="3040967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5831A1-4578-9D72-7881-8C569C470FA8}"/>
              </a:ext>
            </a:extLst>
          </p:cNvPr>
          <p:cNvSpPr txBox="1"/>
          <p:nvPr/>
        </p:nvSpPr>
        <p:spPr>
          <a:xfrm>
            <a:off x="7833622" y="3480946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7E3E617-027C-2CAD-E386-22CB8EA3691B}"/>
              </a:ext>
            </a:extLst>
          </p:cNvPr>
          <p:cNvSpPr txBox="1"/>
          <p:nvPr/>
        </p:nvSpPr>
        <p:spPr>
          <a:xfrm>
            <a:off x="7833622" y="3920925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2D596C9-2C20-16AF-FC7D-841467E1552F}"/>
              </a:ext>
            </a:extLst>
          </p:cNvPr>
          <p:cNvSpPr txBox="1"/>
          <p:nvPr/>
        </p:nvSpPr>
        <p:spPr>
          <a:xfrm>
            <a:off x="7833622" y="4360904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6C8782-F434-B288-888A-C7CB6F982D57}"/>
              </a:ext>
            </a:extLst>
          </p:cNvPr>
          <p:cNvSpPr txBox="1"/>
          <p:nvPr/>
        </p:nvSpPr>
        <p:spPr>
          <a:xfrm>
            <a:off x="7833622" y="4800886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804973B-CAA4-1A73-56CE-C987A3216CEB}"/>
              </a:ext>
            </a:extLst>
          </p:cNvPr>
          <p:cNvSpPr txBox="1"/>
          <p:nvPr/>
        </p:nvSpPr>
        <p:spPr>
          <a:xfrm>
            <a:off x="8654583" y="1721030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6CEDC98-23AC-27E7-F201-D7F54940F575}"/>
              </a:ext>
            </a:extLst>
          </p:cNvPr>
          <p:cNvSpPr txBox="1"/>
          <p:nvPr/>
        </p:nvSpPr>
        <p:spPr>
          <a:xfrm>
            <a:off x="8654583" y="2161009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539EE08-C6C4-2359-A14B-1919D382C346}"/>
              </a:ext>
            </a:extLst>
          </p:cNvPr>
          <p:cNvSpPr txBox="1"/>
          <p:nvPr/>
        </p:nvSpPr>
        <p:spPr>
          <a:xfrm>
            <a:off x="8654583" y="2600988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244DD9C-0A9B-1094-2393-6FB130A88FAB}"/>
              </a:ext>
            </a:extLst>
          </p:cNvPr>
          <p:cNvSpPr txBox="1"/>
          <p:nvPr/>
        </p:nvSpPr>
        <p:spPr>
          <a:xfrm>
            <a:off x="8654583" y="3040967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E0A7A71-D8CE-C83F-31DA-F321C9911A3B}"/>
              </a:ext>
            </a:extLst>
          </p:cNvPr>
          <p:cNvSpPr txBox="1"/>
          <p:nvPr/>
        </p:nvSpPr>
        <p:spPr>
          <a:xfrm>
            <a:off x="8654583" y="3480946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60DB1BA-D971-39CD-4365-74E1C6FA36A3}"/>
              </a:ext>
            </a:extLst>
          </p:cNvPr>
          <p:cNvSpPr txBox="1"/>
          <p:nvPr/>
        </p:nvSpPr>
        <p:spPr>
          <a:xfrm>
            <a:off x="8654583" y="3920925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3282E0C-698D-C7A5-B81B-6E26F308C23D}"/>
              </a:ext>
            </a:extLst>
          </p:cNvPr>
          <p:cNvSpPr txBox="1"/>
          <p:nvPr/>
        </p:nvSpPr>
        <p:spPr>
          <a:xfrm>
            <a:off x="8654583" y="4360904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FE4761A-1847-B690-6C8F-B93CD1278F7A}"/>
              </a:ext>
            </a:extLst>
          </p:cNvPr>
          <p:cNvSpPr txBox="1"/>
          <p:nvPr/>
        </p:nvSpPr>
        <p:spPr>
          <a:xfrm>
            <a:off x="8654583" y="4800886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5B09885-BC02-2D81-A7F5-15B0B2B5B622}"/>
              </a:ext>
            </a:extLst>
          </p:cNvPr>
          <p:cNvSpPr txBox="1"/>
          <p:nvPr/>
        </p:nvSpPr>
        <p:spPr>
          <a:xfrm>
            <a:off x="9307363" y="1721030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811FC0C-9601-9B4F-2209-B8CDA279182F}"/>
              </a:ext>
            </a:extLst>
          </p:cNvPr>
          <p:cNvSpPr txBox="1"/>
          <p:nvPr/>
        </p:nvSpPr>
        <p:spPr>
          <a:xfrm>
            <a:off x="9307363" y="2161009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E4BD8F6-C0CA-67D8-CAFF-D856962DFF99}"/>
              </a:ext>
            </a:extLst>
          </p:cNvPr>
          <p:cNvSpPr txBox="1"/>
          <p:nvPr/>
        </p:nvSpPr>
        <p:spPr>
          <a:xfrm>
            <a:off x="9307363" y="2600988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1F36C91-1455-67D1-4B00-26402B4A4F28}"/>
              </a:ext>
            </a:extLst>
          </p:cNvPr>
          <p:cNvSpPr txBox="1"/>
          <p:nvPr/>
        </p:nvSpPr>
        <p:spPr>
          <a:xfrm>
            <a:off x="9307363" y="3040967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36B322E-D221-98EF-A1CE-9D51BA34650C}"/>
              </a:ext>
            </a:extLst>
          </p:cNvPr>
          <p:cNvSpPr txBox="1"/>
          <p:nvPr/>
        </p:nvSpPr>
        <p:spPr>
          <a:xfrm>
            <a:off x="9307363" y="3480946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96D5004-C124-5FA3-6972-E3BC8C55780B}"/>
              </a:ext>
            </a:extLst>
          </p:cNvPr>
          <p:cNvSpPr txBox="1"/>
          <p:nvPr/>
        </p:nvSpPr>
        <p:spPr>
          <a:xfrm>
            <a:off x="9307363" y="3920925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02B70CF-4BD6-E079-BBAE-9546572AECE3}"/>
              </a:ext>
            </a:extLst>
          </p:cNvPr>
          <p:cNvSpPr txBox="1"/>
          <p:nvPr/>
        </p:nvSpPr>
        <p:spPr>
          <a:xfrm>
            <a:off x="9307363" y="4360904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9D49315-FA53-D948-965C-8F4473961F73}"/>
              </a:ext>
            </a:extLst>
          </p:cNvPr>
          <p:cNvSpPr txBox="1"/>
          <p:nvPr/>
        </p:nvSpPr>
        <p:spPr>
          <a:xfrm>
            <a:off x="9307363" y="4800886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D53A5AE-948A-78C6-CE57-C86C62C2EC16}"/>
              </a:ext>
            </a:extLst>
          </p:cNvPr>
          <p:cNvSpPr txBox="1"/>
          <p:nvPr/>
        </p:nvSpPr>
        <p:spPr>
          <a:xfrm>
            <a:off x="10120163" y="1721030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DB2C83E-497F-FBE4-F049-3327B0C99E04}"/>
              </a:ext>
            </a:extLst>
          </p:cNvPr>
          <p:cNvSpPr txBox="1"/>
          <p:nvPr/>
        </p:nvSpPr>
        <p:spPr>
          <a:xfrm>
            <a:off x="10120163" y="2161009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1C7A023-AAC6-EA11-1765-E2E9436F8062}"/>
              </a:ext>
            </a:extLst>
          </p:cNvPr>
          <p:cNvSpPr txBox="1"/>
          <p:nvPr/>
        </p:nvSpPr>
        <p:spPr>
          <a:xfrm>
            <a:off x="10120163" y="2600988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B8BAF07-791D-CCAA-93A7-DA4668671AE9}"/>
              </a:ext>
            </a:extLst>
          </p:cNvPr>
          <p:cNvSpPr txBox="1"/>
          <p:nvPr/>
        </p:nvSpPr>
        <p:spPr>
          <a:xfrm>
            <a:off x="10120163" y="3040967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963D7B0-82C5-44C5-AE34-9F07305CF00E}"/>
              </a:ext>
            </a:extLst>
          </p:cNvPr>
          <p:cNvSpPr txBox="1"/>
          <p:nvPr/>
        </p:nvSpPr>
        <p:spPr>
          <a:xfrm>
            <a:off x="10120163" y="3480946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F4316B6-E567-2CF8-2604-3F91702BC700}"/>
              </a:ext>
            </a:extLst>
          </p:cNvPr>
          <p:cNvSpPr txBox="1"/>
          <p:nvPr/>
        </p:nvSpPr>
        <p:spPr>
          <a:xfrm>
            <a:off x="10120163" y="3920925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89A6DB2-1D74-3500-4A4E-8B70BDD9FC87}"/>
              </a:ext>
            </a:extLst>
          </p:cNvPr>
          <p:cNvSpPr txBox="1"/>
          <p:nvPr/>
        </p:nvSpPr>
        <p:spPr>
          <a:xfrm>
            <a:off x="10120163" y="4360904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1EA96D3-4814-9D7D-8871-32A747A2B928}"/>
              </a:ext>
            </a:extLst>
          </p:cNvPr>
          <p:cNvSpPr txBox="1"/>
          <p:nvPr/>
        </p:nvSpPr>
        <p:spPr>
          <a:xfrm>
            <a:off x="10120163" y="4800886"/>
            <a:ext cx="2130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/>
              <a:t>+</a:t>
            </a: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010CFF30-F2C5-8912-C205-AEFC72854B31}"/>
              </a:ext>
            </a:extLst>
          </p:cNvPr>
          <p:cNvSpPr/>
          <p:nvPr/>
        </p:nvSpPr>
        <p:spPr>
          <a:xfrm>
            <a:off x="4998427" y="5460023"/>
            <a:ext cx="2319012" cy="12397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92241345-13B9-7B25-7881-B265756BD203}"/>
              </a:ext>
            </a:extLst>
          </p:cNvPr>
          <p:cNvSpPr/>
          <p:nvPr/>
        </p:nvSpPr>
        <p:spPr>
          <a:xfrm>
            <a:off x="5080715" y="5566064"/>
            <a:ext cx="436458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3803D6D1-1529-3052-4ED6-75EBAC0DFFFA}"/>
              </a:ext>
            </a:extLst>
          </p:cNvPr>
          <p:cNvSpPr/>
          <p:nvPr/>
        </p:nvSpPr>
        <p:spPr>
          <a:xfrm>
            <a:off x="5757967" y="5566064"/>
            <a:ext cx="436458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F1A2268E-1A8D-2CB7-A692-A0B540633381}"/>
              </a:ext>
            </a:extLst>
          </p:cNvPr>
          <p:cNvSpPr/>
          <p:nvPr/>
        </p:nvSpPr>
        <p:spPr>
          <a:xfrm>
            <a:off x="6384241" y="5566064"/>
            <a:ext cx="657350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71A71BA-51F9-02E4-A7E5-118957D19E94}"/>
              </a:ext>
            </a:extLst>
          </p:cNvPr>
          <p:cNvSpPr txBox="1"/>
          <p:nvPr/>
        </p:nvSpPr>
        <p:spPr>
          <a:xfrm>
            <a:off x="5247764" y="5618529"/>
            <a:ext cx="7854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1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1B0440B-6250-5027-9177-03C8119E8C90}"/>
              </a:ext>
            </a:extLst>
          </p:cNvPr>
          <p:cNvSpPr txBox="1"/>
          <p:nvPr/>
        </p:nvSpPr>
        <p:spPr>
          <a:xfrm>
            <a:off x="5925017" y="5618529"/>
            <a:ext cx="7854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2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24657BC-DF7B-1446-9693-A832D3C8A155}"/>
              </a:ext>
            </a:extLst>
          </p:cNvPr>
          <p:cNvSpPr txBox="1"/>
          <p:nvPr/>
        </p:nvSpPr>
        <p:spPr>
          <a:xfrm>
            <a:off x="6673642" y="5618529"/>
            <a:ext cx="24045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обе</a:t>
            </a: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3A29A959-6A3D-A446-FE61-D79B2FB59014}"/>
              </a:ext>
            </a:extLst>
          </p:cNvPr>
          <p:cNvSpPr/>
          <p:nvPr/>
        </p:nvSpPr>
        <p:spPr>
          <a:xfrm>
            <a:off x="5080715" y="5916497"/>
            <a:ext cx="844302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AFC49CB-820A-74B7-5ADA-9FBB6A0FC570}"/>
              </a:ext>
            </a:extLst>
          </p:cNvPr>
          <p:cNvSpPr txBox="1"/>
          <p:nvPr/>
        </p:nvSpPr>
        <p:spPr>
          <a:xfrm>
            <a:off x="5132796" y="5968962"/>
            <a:ext cx="62517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Название</a:t>
            </a: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9C2881B6-9B22-469B-9C77-B72583AEADB9}"/>
              </a:ext>
            </a:extLst>
          </p:cNvPr>
          <p:cNvSpPr/>
          <p:nvPr/>
        </p:nvSpPr>
        <p:spPr>
          <a:xfrm>
            <a:off x="5998187" y="5916497"/>
            <a:ext cx="1210091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06192CD-3AE0-FF65-A8A0-8AF86C1C3E15}"/>
              </a:ext>
            </a:extLst>
          </p:cNvPr>
          <p:cNvSpPr txBox="1"/>
          <p:nvPr/>
        </p:nvSpPr>
        <p:spPr>
          <a:xfrm>
            <a:off x="6050269" y="5968962"/>
            <a:ext cx="10824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Доступнве</a:t>
            </a:r>
            <a:r>
              <a:rPr lang="ru-RU" sz="1200" dirty="0"/>
              <a:t> типы</a:t>
            </a:r>
          </a:p>
        </p:txBody>
      </p:sp>
      <p:sp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3486A2AF-44B3-54E3-1FB0-7B7DEBC8BDA6}"/>
              </a:ext>
            </a:extLst>
          </p:cNvPr>
          <p:cNvSpPr/>
          <p:nvPr/>
        </p:nvSpPr>
        <p:spPr>
          <a:xfrm>
            <a:off x="5080714" y="6256590"/>
            <a:ext cx="101528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DCD3C05-BAD4-EA67-5773-CDEC89469D8E}"/>
              </a:ext>
            </a:extLst>
          </p:cNvPr>
          <p:cNvSpPr txBox="1"/>
          <p:nvPr/>
        </p:nvSpPr>
        <p:spPr>
          <a:xfrm>
            <a:off x="5132796" y="6309055"/>
            <a:ext cx="88428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 аудитории</a:t>
            </a:r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F14BD04F-3CE9-F8F6-A27A-2DAFD82F9D85}"/>
              </a:ext>
            </a:extLst>
          </p:cNvPr>
          <p:cNvSpPr/>
          <p:nvPr/>
        </p:nvSpPr>
        <p:spPr>
          <a:xfrm>
            <a:off x="6146233" y="6256590"/>
            <a:ext cx="101528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2E6392C-60CF-8CB2-A823-2959057786FC}"/>
              </a:ext>
            </a:extLst>
          </p:cNvPr>
          <p:cNvSpPr txBox="1"/>
          <p:nvPr/>
        </p:nvSpPr>
        <p:spPr>
          <a:xfrm>
            <a:off x="6198315" y="6309055"/>
            <a:ext cx="6794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Сохранить</a:t>
            </a:r>
          </a:p>
        </p:txBody>
      </p:sp>
    </p:spTree>
    <p:extLst>
      <p:ext uri="{BB962C8B-B14F-4D97-AF65-F5344CB8AC3E}">
        <p14:creationId xmlns:p14="http://schemas.microsoft.com/office/powerpoint/2010/main" val="310469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117 – СТРАНИЦА СТАРОСТА – КОНСТРУКТОР РАСПИСАНИЯ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данные по доступным предметам берутся после внесения данных в страницу предмет, при этом мы делаем удобное добавление староста хочет быстро добавить данные по расписанию. Он может удалить предмет и добавить такой же с такими же значениями и они связываются и пересчитывается расписание и всё связанное</a:t>
            </a:r>
          </a:p>
        </p:txBody>
      </p:sp>
    </p:spTree>
    <p:extLst>
      <p:ext uri="{BB962C8B-B14F-4D97-AF65-F5344CB8AC3E}">
        <p14:creationId xmlns:p14="http://schemas.microsoft.com/office/powerpoint/2010/main" val="3314621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118 – СТРАНИЦА СТАРОСТА – УПРАВЛЕНИЕ ПАРАМИ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28777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тут управление парами оно понедельное сверху переключение. Данные подтягиваются из конструктора и если пара есть то она отображается тут серым как </a:t>
            </a:r>
            <a:r>
              <a:rPr lang="ru-RU" sz="1100" dirty="0" err="1"/>
              <a:t>посмотянная</a:t>
            </a:r>
            <a:r>
              <a:rPr lang="ru-RU" sz="1100" dirty="0"/>
              <a:t>, что можно сделать с парой из конструктора – отменить на конкретный день и то с подтверждением </a:t>
            </a:r>
            <a:r>
              <a:rPr lang="ru-RU" sz="1100" dirty="0" err="1"/>
              <a:t>модалки</a:t>
            </a:r>
            <a:r>
              <a:rPr lang="ru-RU" sz="1100" dirty="0"/>
              <a:t> удалить ли.</a:t>
            </a:r>
          </a:p>
          <a:p>
            <a:endParaRPr lang="ru-RU" sz="1100" dirty="0"/>
          </a:p>
          <a:p>
            <a:r>
              <a:rPr lang="ru-RU" sz="1100" dirty="0"/>
              <a:t>2 – если поле свободно или вначале удалили на этот день расписание то там появляется плюсик и можно добавить пару тут уже выбора недель нет тк мы добавляем на конкретный день один раз и это всё привязывается к предмету</a:t>
            </a:r>
          </a:p>
          <a:p>
            <a:endParaRPr lang="ru-RU" sz="1100" dirty="0"/>
          </a:p>
          <a:p>
            <a:r>
              <a:rPr lang="ru-RU" sz="1100" dirty="0"/>
              <a:t>3 – отменяется пара всегда с причиной после этого она продолжает отображаться в этот день но как бы зачёркнута но можно добавить пару</a:t>
            </a:r>
          </a:p>
          <a:p>
            <a:endParaRPr lang="ru-RU" sz="1100" dirty="0"/>
          </a:p>
          <a:p>
            <a:r>
              <a:rPr lang="ru-RU" sz="1100" dirty="0"/>
              <a:t>4 – я вижу это не как </a:t>
            </a:r>
            <a:r>
              <a:rPr lang="ru-RU" sz="1100" dirty="0" err="1"/>
              <a:t>модалку</a:t>
            </a:r>
            <a:r>
              <a:rPr lang="ru-RU" sz="1100" dirty="0"/>
              <a:t> а как от пары открывается окно и сдвигаются строки вниз и появляется форма </a:t>
            </a:r>
            <a:r>
              <a:rPr lang="ru-RU" sz="1100" dirty="0" err="1"/>
              <a:t>модалка</a:t>
            </a:r>
            <a:r>
              <a:rPr lang="ru-RU" sz="1100" dirty="0"/>
              <a:t> неудобно не видна вся картина 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D9895C5-42A8-FBEA-7F78-D4B6412DD304}"/>
              </a:ext>
            </a:extLst>
          </p:cNvPr>
          <p:cNvGrpSpPr/>
          <p:nvPr/>
        </p:nvGrpSpPr>
        <p:grpSpPr>
          <a:xfrm>
            <a:off x="4928315" y="96316"/>
            <a:ext cx="7180627" cy="1014386"/>
            <a:chOff x="4928315" y="96316"/>
            <a:chExt cx="7180627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C0DB6A95-B12C-14D0-27AC-D2FD4C8BBC3F}"/>
                </a:ext>
              </a:extLst>
            </p:cNvPr>
            <p:cNvGrpSpPr/>
            <p:nvPr/>
          </p:nvGrpSpPr>
          <p:grpSpPr>
            <a:xfrm>
              <a:off x="4928315" y="128790"/>
              <a:ext cx="1614152" cy="287630"/>
              <a:chOff x="1803042" y="2137890"/>
              <a:chExt cx="1747234" cy="523744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280BF476-C2B1-12C8-1D93-6098D059F50F}"/>
                  </a:ext>
                </a:extLst>
              </p:cNvPr>
              <p:cNvSpPr/>
              <p:nvPr/>
            </p:nvSpPr>
            <p:spPr>
              <a:xfrm>
                <a:off x="1803042" y="2137893"/>
                <a:ext cx="1747234" cy="52374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1FE05912-1C87-AB87-3642-652C64453CEF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1419940" cy="277001"/>
                <a:chOff x="2082085" y="1725766"/>
                <a:chExt cx="1419940" cy="277001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10F54B8-1593-9421-1490-22502FABE743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8AACD47-A345-6330-7029-83A87F7F490E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6EF745BD-7CA3-69CC-B2CF-EC392B27847B}"/>
                </a:ext>
              </a:extLst>
            </p:cNvPr>
            <p:cNvGrpSpPr/>
            <p:nvPr/>
          </p:nvGrpSpPr>
          <p:grpSpPr>
            <a:xfrm>
              <a:off x="10908405" y="96316"/>
              <a:ext cx="1200537" cy="1014386"/>
              <a:chOff x="10908405" y="96316"/>
              <a:chExt cx="1200537" cy="1014386"/>
            </a:xfrm>
          </p:grpSpPr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71204DB0-30C1-D3B7-1E26-BB216D862A22}"/>
                  </a:ext>
                </a:extLst>
              </p:cNvPr>
              <p:cNvSpPr/>
              <p:nvPr/>
            </p:nvSpPr>
            <p:spPr>
              <a:xfrm>
                <a:off x="11638209" y="96316"/>
                <a:ext cx="369194" cy="36919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5084867-FAB3-081F-C26F-27EFF01F8981}"/>
                  </a:ext>
                </a:extLst>
              </p:cNvPr>
              <p:cNvSpPr txBox="1"/>
              <p:nvPr/>
            </p:nvSpPr>
            <p:spPr>
              <a:xfrm>
                <a:off x="11536669" y="188580"/>
                <a:ext cx="5722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профиль</a:t>
                </a:r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CAD7A616-00A2-B335-4D83-2D0ABD46B319}"/>
                  </a:ext>
                </a:extLst>
              </p:cNvPr>
              <p:cNvGrpSpPr/>
              <p:nvPr/>
            </p:nvGrpSpPr>
            <p:grpSpPr>
              <a:xfrm>
                <a:off x="10908405" y="513981"/>
                <a:ext cx="1167685" cy="596721"/>
                <a:chOff x="10908405" y="513981"/>
                <a:chExt cx="1167685" cy="596721"/>
              </a:xfrm>
            </p:grpSpPr>
            <p:sp>
              <p:nvSpPr>
                <p:cNvPr id="23" name="Прямоугольник 22">
                  <a:extLst>
                    <a:ext uri="{FF2B5EF4-FFF2-40B4-BE49-F238E27FC236}">
                      <a16:creationId xmlns:a16="http://schemas.microsoft.com/office/drawing/2014/main" id="{789C61D8-53AD-954B-C5FE-5DDF8A30C3F3}"/>
                    </a:ext>
                  </a:extLst>
                </p:cNvPr>
                <p:cNvSpPr/>
                <p:nvPr/>
              </p:nvSpPr>
              <p:spPr>
                <a:xfrm>
                  <a:off x="10908405" y="513981"/>
                  <a:ext cx="1167685" cy="59672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F54A943-5B3F-EEB2-B69C-193E09DFDE9C}"/>
                    </a:ext>
                  </a:extLst>
                </p:cNvPr>
                <p:cNvSpPr txBox="1"/>
                <p:nvPr/>
              </p:nvSpPr>
              <p:spPr>
                <a:xfrm>
                  <a:off x="11032536" y="603721"/>
                  <a:ext cx="69570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ru-RU" sz="1200" dirty="0"/>
                    <a:t>Настройки</a:t>
                  </a:r>
                  <a:br>
                    <a:rPr lang="ru-RU" sz="1200" dirty="0"/>
                  </a:br>
                  <a:r>
                    <a:rPr lang="ru-RU" sz="1200" dirty="0"/>
                    <a:t>Выход</a:t>
                  </a:r>
                </a:p>
              </p:txBody>
            </p:sp>
          </p:grp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5839C57B-8F97-5986-353C-C4962C49F3B1}"/>
                </a:ext>
              </a:extLst>
            </p:cNvPr>
            <p:cNvGrpSpPr/>
            <p:nvPr/>
          </p:nvGrpSpPr>
          <p:grpSpPr>
            <a:xfrm>
              <a:off x="4928315" y="598868"/>
              <a:ext cx="5786147" cy="407865"/>
              <a:chOff x="4928315" y="598868"/>
              <a:chExt cx="5786147" cy="40786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646B70-615B-08B7-D230-1C6791AE8298}"/>
                  </a:ext>
                </a:extLst>
              </p:cNvPr>
              <p:cNvSpPr txBox="1"/>
              <p:nvPr/>
            </p:nvSpPr>
            <p:spPr>
              <a:xfrm>
                <a:off x="4928315" y="598868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4B885E-A3CC-2B03-3C41-0EF4AA81C571}"/>
                  </a:ext>
                </a:extLst>
              </p:cNvPr>
              <p:cNvSpPr txBox="1"/>
              <p:nvPr/>
            </p:nvSpPr>
            <p:spPr>
              <a:xfrm>
                <a:off x="5622074" y="598868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C3F5F8-C802-9513-5571-EDB658304E19}"/>
                  </a:ext>
                </a:extLst>
              </p:cNvPr>
              <p:cNvSpPr txBox="1"/>
              <p:nvPr/>
            </p:nvSpPr>
            <p:spPr>
              <a:xfrm>
                <a:off x="6766662" y="598868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E80672-14CE-C5AE-F522-7551B286809F}"/>
                  </a:ext>
                </a:extLst>
              </p:cNvPr>
              <p:cNvSpPr txBox="1"/>
              <p:nvPr/>
            </p:nvSpPr>
            <p:spPr>
              <a:xfrm>
                <a:off x="7651369" y="598868"/>
                <a:ext cx="12697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домашнее задание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035A8E-978C-9BA8-D10F-32F84EE17014}"/>
                  </a:ext>
                </a:extLst>
              </p:cNvPr>
              <p:cNvSpPr txBox="1"/>
              <p:nvPr/>
            </p:nvSpPr>
            <p:spPr>
              <a:xfrm>
                <a:off x="9112773" y="598868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9F579B6-2944-7756-A5DE-0EB825ADDEF2}"/>
                  </a:ext>
                </a:extLst>
              </p:cNvPr>
              <p:cNvSpPr txBox="1"/>
              <p:nvPr/>
            </p:nvSpPr>
            <p:spPr>
              <a:xfrm>
                <a:off x="9666868" y="598868"/>
                <a:ext cx="10475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заявки и тикеты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C992EA-ED9B-0ACE-C8A8-AABB491D4FDC}"/>
                  </a:ext>
                </a:extLst>
              </p:cNvPr>
              <p:cNvSpPr txBox="1"/>
              <p:nvPr/>
            </p:nvSpPr>
            <p:spPr>
              <a:xfrm>
                <a:off x="4928315" y="822067"/>
                <a:ext cx="43691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Группа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1393CD-A9B8-CFEE-3767-5B204DE33719}"/>
                  </a:ext>
                </a:extLst>
              </p:cNvPr>
              <p:cNvSpPr txBox="1"/>
              <p:nvPr/>
            </p:nvSpPr>
            <p:spPr>
              <a:xfrm>
                <a:off x="5829526" y="822067"/>
                <a:ext cx="680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Предметы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BB61E14-6158-B35D-451E-FC4F16C52CFD}"/>
                  </a:ext>
                </a:extLst>
              </p:cNvPr>
              <p:cNvSpPr txBox="1"/>
              <p:nvPr/>
            </p:nvSpPr>
            <p:spPr>
              <a:xfrm>
                <a:off x="6848393" y="822067"/>
                <a:ext cx="160595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Конструктор расписания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52B1D1-62F2-BF49-228D-3CE285AD1427}"/>
                  </a:ext>
                </a:extLst>
              </p:cNvPr>
              <p:cNvSpPr txBox="1"/>
              <p:nvPr/>
            </p:nvSpPr>
            <p:spPr>
              <a:xfrm>
                <a:off x="8687237" y="822067"/>
                <a:ext cx="134626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Управление парами</a:t>
                </a:r>
              </a:p>
            </p:txBody>
          </p:sp>
        </p:grpSp>
      </p:grp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48630AD7-5A05-95F1-CEA5-59EFE5049E3B}"/>
              </a:ext>
            </a:extLst>
          </p:cNvPr>
          <p:cNvSpPr/>
          <p:nvPr/>
        </p:nvSpPr>
        <p:spPr>
          <a:xfrm>
            <a:off x="4928315" y="1772198"/>
            <a:ext cx="7147775" cy="40580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A61152E-1300-0292-330D-E0FCDFD72655}"/>
              </a:ext>
            </a:extLst>
          </p:cNvPr>
          <p:cNvSpPr txBox="1"/>
          <p:nvPr/>
        </p:nvSpPr>
        <p:spPr>
          <a:xfrm>
            <a:off x="5082988" y="2228672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№1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9AE7AB8-4175-9836-8442-0ADF819D41ED}"/>
              </a:ext>
            </a:extLst>
          </p:cNvPr>
          <p:cNvSpPr txBox="1"/>
          <p:nvPr/>
        </p:nvSpPr>
        <p:spPr>
          <a:xfrm>
            <a:off x="5082988" y="2667891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№2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C0ABD85-046D-7C8F-B92B-BD42DEEF1941}"/>
              </a:ext>
            </a:extLst>
          </p:cNvPr>
          <p:cNvSpPr txBox="1"/>
          <p:nvPr/>
        </p:nvSpPr>
        <p:spPr>
          <a:xfrm>
            <a:off x="5082988" y="3107110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№3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ACC96F2-6995-CB2C-7EA2-9D0DC1802091}"/>
              </a:ext>
            </a:extLst>
          </p:cNvPr>
          <p:cNvSpPr txBox="1"/>
          <p:nvPr/>
        </p:nvSpPr>
        <p:spPr>
          <a:xfrm>
            <a:off x="5082988" y="3546329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№4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60DB0CE-7CC4-762A-4201-82AF8BF4E0E1}"/>
              </a:ext>
            </a:extLst>
          </p:cNvPr>
          <p:cNvSpPr txBox="1"/>
          <p:nvPr/>
        </p:nvSpPr>
        <p:spPr>
          <a:xfrm>
            <a:off x="5082988" y="3985548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№5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194A845-5660-0A50-8663-A018B6B831BC}"/>
              </a:ext>
            </a:extLst>
          </p:cNvPr>
          <p:cNvSpPr txBox="1"/>
          <p:nvPr/>
        </p:nvSpPr>
        <p:spPr>
          <a:xfrm>
            <a:off x="5082988" y="4424767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№6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059B32D-B507-1135-10A8-54D09E0D59A3}"/>
              </a:ext>
            </a:extLst>
          </p:cNvPr>
          <p:cNvSpPr txBox="1"/>
          <p:nvPr/>
        </p:nvSpPr>
        <p:spPr>
          <a:xfrm>
            <a:off x="5082988" y="4863986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№7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CC8FBD8-4C22-0C4C-9706-B817BD77D6E1}"/>
              </a:ext>
            </a:extLst>
          </p:cNvPr>
          <p:cNvSpPr txBox="1"/>
          <p:nvPr/>
        </p:nvSpPr>
        <p:spPr>
          <a:xfrm>
            <a:off x="5082988" y="5303207"/>
            <a:ext cx="7893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№8</a:t>
            </a:r>
          </a:p>
          <a:p>
            <a:r>
              <a:rPr lang="ru-RU" sz="1200" dirty="0"/>
              <a:t>Время пары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68AC9F4-3864-6A61-C018-80B318818FC3}"/>
              </a:ext>
            </a:extLst>
          </p:cNvPr>
          <p:cNvSpPr txBox="1"/>
          <p:nvPr/>
        </p:nvSpPr>
        <p:spPr>
          <a:xfrm>
            <a:off x="6423854" y="1856837"/>
            <a:ext cx="16190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пн</a:t>
            </a:r>
            <a:endParaRPr lang="ru-RU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E1F56FE-3769-D582-CF7D-1A7A346ADA06}"/>
              </a:ext>
            </a:extLst>
          </p:cNvPr>
          <p:cNvSpPr txBox="1"/>
          <p:nvPr/>
        </p:nvSpPr>
        <p:spPr>
          <a:xfrm>
            <a:off x="7184389" y="1856837"/>
            <a:ext cx="13305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вт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24EC661-967E-EB39-00A8-35D62DF91ED9}"/>
              </a:ext>
            </a:extLst>
          </p:cNvPr>
          <p:cNvSpPr txBox="1"/>
          <p:nvPr/>
        </p:nvSpPr>
        <p:spPr>
          <a:xfrm>
            <a:off x="7863972" y="1856837"/>
            <a:ext cx="14587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ср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67F1E53-65E3-BA73-1782-AE14FC0C69BE}"/>
              </a:ext>
            </a:extLst>
          </p:cNvPr>
          <p:cNvSpPr txBox="1"/>
          <p:nvPr/>
        </p:nvSpPr>
        <p:spPr>
          <a:xfrm>
            <a:off x="8687237" y="1856837"/>
            <a:ext cx="13144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чт</a:t>
            </a:r>
            <a:endParaRPr lang="ru-RU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E1EDE8E-C716-631E-A94B-D355901355AB}"/>
              </a:ext>
            </a:extLst>
          </p:cNvPr>
          <p:cNvSpPr txBox="1"/>
          <p:nvPr/>
        </p:nvSpPr>
        <p:spPr>
          <a:xfrm>
            <a:off x="9343885" y="1856837"/>
            <a:ext cx="13946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пт</a:t>
            </a:r>
            <a:endParaRPr lang="ru-RU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4BB8197-13F1-305E-B6C1-B6383A9C596C}"/>
              </a:ext>
            </a:extLst>
          </p:cNvPr>
          <p:cNvSpPr txBox="1"/>
          <p:nvPr/>
        </p:nvSpPr>
        <p:spPr>
          <a:xfrm>
            <a:off x="10148381" y="1856837"/>
            <a:ext cx="14747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сб</a:t>
            </a:r>
          </a:p>
        </p:txBody>
      </p:sp>
      <p:grpSp>
        <p:nvGrpSpPr>
          <p:cNvPr id="155" name="Группа 154">
            <a:extLst>
              <a:ext uri="{FF2B5EF4-FFF2-40B4-BE49-F238E27FC236}">
                <a16:creationId xmlns:a16="http://schemas.microsoft.com/office/drawing/2014/main" id="{435F4DCB-240D-7733-44A4-F5E122B29C55}"/>
              </a:ext>
            </a:extLst>
          </p:cNvPr>
          <p:cNvGrpSpPr/>
          <p:nvPr/>
        </p:nvGrpSpPr>
        <p:grpSpPr>
          <a:xfrm>
            <a:off x="6345080" y="2297888"/>
            <a:ext cx="4141416" cy="184666"/>
            <a:chOff x="6345080" y="1721030"/>
            <a:chExt cx="4141416" cy="184666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0742F5-D392-DE75-A361-37B8614D70FB}"/>
                </a:ext>
              </a:extLst>
            </p:cNvPr>
            <p:cNvSpPr txBox="1"/>
            <p:nvPr/>
          </p:nvSpPr>
          <p:spPr>
            <a:xfrm>
              <a:off x="6345080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222BA08-DEAD-24C2-2971-33653D737513}"/>
                </a:ext>
              </a:extLst>
            </p:cNvPr>
            <p:cNvSpPr txBox="1"/>
            <p:nvPr/>
          </p:nvSpPr>
          <p:spPr>
            <a:xfrm>
              <a:off x="7044118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9A031FA-C586-5D05-E6B3-340400CD0ACC}"/>
                </a:ext>
              </a:extLst>
            </p:cNvPr>
            <p:cNvSpPr txBox="1"/>
            <p:nvPr/>
          </p:nvSpPr>
          <p:spPr>
            <a:xfrm>
              <a:off x="7743156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ru-RU" sz="1200" dirty="0"/>
                <a:t>====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C4C2FF9-2640-38FB-0BAB-6CB99C9E4BD6}"/>
                </a:ext>
              </a:extLst>
            </p:cNvPr>
            <p:cNvSpPr txBox="1"/>
            <p:nvPr/>
          </p:nvSpPr>
          <p:spPr>
            <a:xfrm>
              <a:off x="8599872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2CA1BD6-D42F-2AA0-931F-004197C2C13C}"/>
                </a:ext>
              </a:extLst>
            </p:cNvPr>
            <p:cNvSpPr txBox="1"/>
            <p:nvPr/>
          </p:nvSpPr>
          <p:spPr>
            <a:xfrm>
              <a:off x="9288236" y="1721030"/>
              <a:ext cx="42572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9EF1D9CE-F10C-6C9E-2FF9-0BCAEA411F9E}"/>
                </a:ext>
              </a:extLst>
            </p:cNvPr>
            <p:cNvSpPr txBox="1"/>
            <p:nvPr/>
          </p:nvSpPr>
          <p:spPr>
            <a:xfrm>
              <a:off x="10105217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</p:grpSp>
      <p:grpSp>
        <p:nvGrpSpPr>
          <p:cNvPr id="156" name="Группа 155">
            <a:extLst>
              <a:ext uri="{FF2B5EF4-FFF2-40B4-BE49-F238E27FC236}">
                <a16:creationId xmlns:a16="http://schemas.microsoft.com/office/drawing/2014/main" id="{445B8E56-39C3-F25C-6E7F-8FBAEB5E314D}"/>
              </a:ext>
            </a:extLst>
          </p:cNvPr>
          <p:cNvGrpSpPr/>
          <p:nvPr/>
        </p:nvGrpSpPr>
        <p:grpSpPr>
          <a:xfrm>
            <a:off x="6345080" y="2742856"/>
            <a:ext cx="4141416" cy="184666"/>
            <a:chOff x="6345080" y="1721030"/>
            <a:chExt cx="4141416" cy="184666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81E6BC1-64DA-6170-50DA-5093363CEE4B}"/>
                </a:ext>
              </a:extLst>
            </p:cNvPr>
            <p:cNvSpPr txBox="1"/>
            <p:nvPr/>
          </p:nvSpPr>
          <p:spPr>
            <a:xfrm>
              <a:off x="6345080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67A33CF-DBA4-5A96-D553-9FD01C027340}"/>
                </a:ext>
              </a:extLst>
            </p:cNvPr>
            <p:cNvSpPr txBox="1"/>
            <p:nvPr/>
          </p:nvSpPr>
          <p:spPr>
            <a:xfrm>
              <a:off x="7044118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B8EC1143-848B-D93A-FB16-043C2607C045}"/>
                </a:ext>
              </a:extLst>
            </p:cNvPr>
            <p:cNvSpPr txBox="1"/>
            <p:nvPr/>
          </p:nvSpPr>
          <p:spPr>
            <a:xfrm>
              <a:off x="7743156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ru-RU" sz="1200" dirty="0"/>
                <a:t>====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8BB1BE6-C7B7-70D9-9FAD-E82CCEEE1B4B}"/>
                </a:ext>
              </a:extLst>
            </p:cNvPr>
            <p:cNvSpPr txBox="1"/>
            <p:nvPr/>
          </p:nvSpPr>
          <p:spPr>
            <a:xfrm>
              <a:off x="8599872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1D53975E-7647-F5D9-BB18-E56F3713C1B7}"/>
                </a:ext>
              </a:extLst>
            </p:cNvPr>
            <p:cNvSpPr txBox="1"/>
            <p:nvPr/>
          </p:nvSpPr>
          <p:spPr>
            <a:xfrm>
              <a:off x="9288236" y="1721030"/>
              <a:ext cx="42572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EAF21A44-DDE9-2CF0-E935-E6F9FE6EF54C}"/>
                </a:ext>
              </a:extLst>
            </p:cNvPr>
            <p:cNvSpPr txBox="1"/>
            <p:nvPr/>
          </p:nvSpPr>
          <p:spPr>
            <a:xfrm>
              <a:off x="10105217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</p:grpSp>
      <p:grpSp>
        <p:nvGrpSpPr>
          <p:cNvPr id="179" name="Группа 178">
            <a:extLst>
              <a:ext uri="{FF2B5EF4-FFF2-40B4-BE49-F238E27FC236}">
                <a16:creationId xmlns:a16="http://schemas.microsoft.com/office/drawing/2014/main" id="{111CBE64-B5F1-D7C5-7D8F-D6AABFFE71DF}"/>
              </a:ext>
            </a:extLst>
          </p:cNvPr>
          <p:cNvGrpSpPr/>
          <p:nvPr/>
        </p:nvGrpSpPr>
        <p:grpSpPr>
          <a:xfrm>
            <a:off x="6345080" y="3187824"/>
            <a:ext cx="4141416" cy="184666"/>
            <a:chOff x="6345080" y="1721030"/>
            <a:chExt cx="4141416" cy="184666"/>
          </a:xfrm>
        </p:grpSpPr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C2295FDB-CC71-1931-05AE-B307D6FCAFF3}"/>
                </a:ext>
              </a:extLst>
            </p:cNvPr>
            <p:cNvSpPr txBox="1"/>
            <p:nvPr/>
          </p:nvSpPr>
          <p:spPr>
            <a:xfrm>
              <a:off x="6345080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EAA017C6-D74B-4D9E-5492-D88D02A03D27}"/>
                </a:ext>
              </a:extLst>
            </p:cNvPr>
            <p:cNvSpPr txBox="1"/>
            <p:nvPr/>
          </p:nvSpPr>
          <p:spPr>
            <a:xfrm>
              <a:off x="7044118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C66F6DFB-86C2-4938-0D13-3CE6DDA5945A}"/>
                </a:ext>
              </a:extLst>
            </p:cNvPr>
            <p:cNvSpPr txBox="1"/>
            <p:nvPr/>
          </p:nvSpPr>
          <p:spPr>
            <a:xfrm>
              <a:off x="7743156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ru-RU" sz="1200" dirty="0"/>
                <a:t>====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E5840DD9-6511-B1DF-D49B-C6844E97A5B5}"/>
                </a:ext>
              </a:extLst>
            </p:cNvPr>
            <p:cNvSpPr txBox="1"/>
            <p:nvPr/>
          </p:nvSpPr>
          <p:spPr>
            <a:xfrm>
              <a:off x="8599872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074D67B3-1D51-CEA3-AA66-A1287B6469BB}"/>
                </a:ext>
              </a:extLst>
            </p:cNvPr>
            <p:cNvSpPr txBox="1"/>
            <p:nvPr/>
          </p:nvSpPr>
          <p:spPr>
            <a:xfrm>
              <a:off x="9288236" y="1721030"/>
              <a:ext cx="42572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AE739D52-4D33-6CC5-0F75-E45E4BBEA77A}"/>
                </a:ext>
              </a:extLst>
            </p:cNvPr>
            <p:cNvSpPr txBox="1"/>
            <p:nvPr/>
          </p:nvSpPr>
          <p:spPr>
            <a:xfrm>
              <a:off x="10105217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</p:grpSp>
      <p:grpSp>
        <p:nvGrpSpPr>
          <p:cNvPr id="186" name="Группа 185">
            <a:extLst>
              <a:ext uri="{FF2B5EF4-FFF2-40B4-BE49-F238E27FC236}">
                <a16:creationId xmlns:a16="http://schemas.microsoft.com/office/drawing/2014/main" id="{60B1A5F3-8A23-9F4E-E136-B3E8F4B7A91D}"/>
              </a:ext>
            </a:extLst>
          </p:cNvPr>
          <p:cNvGrpSpPr/>
          <p:nvPr/>
        </p:nvGrpSpPr>
        <p:grpSpPr>
          <a:xfrm>
            <a:off x="6345080" y="3632792"/>
            <a:ext cx="4141416" cy="184666"/>
            <a:chOff x="6345080" y="1721030"/>
            <a:chExt cx="4141416" cy="184666"/>
          </a:xfrm>
        </p:grpSpPr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A353E5D5-B50F-62A7-35AB-C0A188457988}"/>
                </a:ext>
              </a:extLst>
            </p:cNvPr>
            <p:cNvSpPr txBox="1"/>
            <p:nvPr/>
          </p:nvSpPr>
          <p:spPr>
            <a:xfrm>
              <a:off x="6345080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191ABBFA-E5A1-8BE1-E143-2919C8DE5673}"/>
                </a:ext>
              </a:extLst>
            </p:cNvPr>
            <p:cNvSpPr txBox="1"/>
            <p:nvPr/>
          </p:nvSpPr>
          <p:spPr>
            <a:xfrm>
              <a:off x="7044118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3FEEE809-601E-F2E6-5555-E57862C48E20}"/>
                </a:ext>
              </a:extLst>
            </p:cNvPr>
            <p:cNvSpPr txBox="1"/>
            <p:nvPr/>
          </p:nvSpPr>
          <p:spPr>
            <a:xfrm>
              <a:off x="7743156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ru-RU" sz="1200" dirty="0"/>
                <a:t>====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8240108F-C303-4B26-2DD8-29019E8BAABE}"/>
                </a:ext>
              </a:extLst>
            </p:cNvPr>
            <p:cNvSpPr txBox="1"/>
            <p:nvPr/>
          </p:nvSpPr>
          <p:spPr>
            <a:xfrm>
              <a:off x="8599872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E80BB22-B2AD-19F9-0EE2-447D9758A067}"/>
                </a:ext>
              </a:extLst>
            </p:cNvPr>
            <p:cNvSpPr txBox="1"/>
            <p:nvPr/>
          </p:nvSpPr>
          <p:spPr>
            <a:xfrm>
              <a:off x="9288236" y="1721030"/>
              <a:ext cx="42572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6A61762C-03F2-A4F6-2885-367673661C51}"/>
                </a:ext>
              </a:extLst>
            </p:cNvPr>
            <p:cNvSpPr txBox="1"/>
            <p:nvPr/>
          </p:nvSpPr>
          <p:spPr>
            <a:xfrm>
              <a:off x="10105217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</p:grpSp>
      <p:grpSp>
        <p:nvGrpSpPr>
          <p:cNvPr id="193" name="Группа 192">
            <a:extLst>
              <a:ext uri="{FF2B5EF4-FFF2-40B4-BE49-F238E27FC236}">
                <a16:creationId xmlns:a16="http://schemas.microsoft.com/office/drawing/2014/main" id="{294DF002-BA53-C1C0-AB6A-1F6ACF5E5A69}"/>
              </a:ext>
            </a:extLst>
          </p:cNvPr>
          <p:cNvGrpSpPr/>
          <p:nvPr/>
        </p:nvGrpSpPr>
        <p:grpSpPr>
          <a:xfrm>
            <a:off x="6345080" y="4077760"/>
            <a:ext cx="4141416" cy="184666"/>
            <a:chOff x="6345080" y="1721030"/>
            <a:chExt cx="4141416" cy="184666"/>
          </a:xfrm>
        </p:grpSpPr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B67B445-41D6-56A4-7DA3-681199150366}"/>
                </a:ext>
              </a:extLst>
            </p:cNvPr>
            <p:cNvSpPr txBox="1"/>
            <p:nvPr/>
          </p:nvSpPr>
          <p:spPr>
            <a:xfrm>
              <a:off x="6345080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E94AE193-D7E6-C679-74E8-6CC9038018D0}"/>
                </a:ext>
              </a:extLst>
            </p:cNvPr>
            <p:cNvSpPr txBox="1"/>
            <p:nvPr/>
          </p:nvSpPr>
          <p:spPr>
            <a:xfrm>
              <a:off x="7044118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4F5F3740-8600-7E2F-DC80-3CFE2E9D0416}"/>
                </a:ext>
              </a:extLst>
            </p:cNvPr>
            <p:cNvSpPr txBox="1"/>
            <p:nvPr/>
          </p:nvSpPr>
          <p:spPr>
            <a:xfrm>
              <a:off x="7743156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ru-RU" sz="1200" dirty="0"/>
                <a:t>====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4B1C6C4-CA57-3066-0AF1-578D28E10B9F}"/>
                </a:ext>
              </a:extLst>
            </p:cNvPr>
            <p:cNvSpPr txBox="1"/>
            <p:nvPr/>
          </p:nvSpPr>
          <p:spPr>
            <a:xfrm>
              <a:off x="8599872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8FBB9CB9-496F-C2BC-0836-BFC8AC97FEB8}"/>
                </a:ext>
              </a:extLst>
            </p:cNvPr>
            <p:cNvSpPr txBox="1"/>
            <p:nvPr/>
          </p:nvSpPr>
          <p:spPr>
            <a:xfrm>
              <a:off x="9288236" y="1721030"/>
              <a:ext cx="42572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14553A6C-90C9-6B1D-514A-CA00A77B4138}"/>
                </a:ext>
              </a:extLst>
            </p:cNvPr>
            <p:cNvSpPr txBox="1"/>
            <p:nvPr/>
          </p:nvSpPr>
          <p:spPr>
            <a:xfrm>
              <a:off x="10105217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</p:grpSp>
      <p:grpSp>
        <p:nvGrpSpPr>
          <p:cNvPr id="200" name="Группа 199">
            <a:extLst>
              <a:ext uri="{FF2B5EF4-FFF2-40B4-BE49-F238E27FC236}">
                <a16:creationId xmlns:a16="http://schemas.microsoft.com/office/drawing/2014/main" id="{94AA4B18-073D-4362-A3C9-CE6D5C080F40}"/>
              </a:ext>
            </a:extLst>
          </p:cNvPr>
          <p:cNvGrpSpPr/>
          <p:nvPr/>
        </p:nvGrpSpPr>
        <p:grpSpPr>
          <a:xfrm>
            <a:off x="6345080" y="4522728"/>
            <a:ext cx="4141416" cy="184666"/>
            <a:chOff x="6345080" y="1721030"/>
            <a:chExt cx="4141416" cy="184666"/>
          </a:xfrm>
        </p:grpSpPr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388F2990-5F92-AD98-AFA2-EA17AC4AE0E9}"/>
                </a:ext>
              </a:extLst>
            </p:cNvPr>
            <p:cNvSpPr txBox="1"/>
            <p:nvPr/>
          </p:nvSpPr>
          <p:spPr>
            <a:xfrm>
              <a:off x="6345080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9983AA6A-A90B-9BED-2477-BC926A61FD9D}"/>
                </a:ext>
              </a:extLst>
            </p:cNvPr>
            <p:cNvSpPr txBox="1"/>
            <p:nvPr/>
          </p:nvSpPr>
          <p:spPr>
            <a:xfrm>
              <a:off x="7044118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721C48DC-C30D-5C09-FED2-0291B7C4876C}"/>
                </a:ext>
              </a:extLst>
            </p:cNvPr>
            <p:cNvSpPr txBox="1"/>
            <p:nvPr/>
          </p:nvSpPr>
          <p:spPr>
            <a:xfrm>
              <a:off x="7743156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ru-RU" sz="1200" dirty="0"/>
                <a:t>====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8E715FD0-AF02-D4CC-FBCA-ACBDAD86A2A8}"/>
                </a:ext>
              </a:extLst>
            </p:cNvPr>
            <p:cNvSpPr txBox="1"/>
            <p:nvPr/>
          </p:nvSpPr>
          <p:spPr>
            <a:xfrm>
              <a:off x="8599872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23F0EEAC-097E-266B-DA74-F54536AB44D3}"/>
                </a:ext>
              </a:extLst>
            </p:cNvPr>
            <p:cNvSpPr txBox="1"/>
            <p:nvPr/>
          </p:nvSpPr>
          <p:spPr>
            <a:xfrm>
              <a:off x="9288236" y="1721030"/>
              <a:ext cx="42572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4C2AA046-079E-847A-070F-786572A75675}"/>
                </a:ext>
              </a:extLst>
            </p:cNvPr>
            <p:cNvSpPr txBox="1"/>
            <p:nvPr/>
          </p:nvSpPr>
          <p:spPr>
            <a:xfrm>
              <a:off x="10105217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</p:grpSp>
      <p:grpSp>
        <p:nvGrpSpPr>
          <p:cNvPr id="207" name="Группа 206">
            <a:extLst>
              <a:ext uri="{FF2B5EF4-FFF2-40B4-BE49-F238E27FC236}">
                <a16:creationId xmlns:a16="http://schemas.microsoft.com/office/drawing/2014/main" id="{EF3DA5A0-ADE1-FAF6-F8C3-54B0C805FF85}"/>
              </a:ext>
            </a:extLst>
          </p:cNvPr>
          <p:cNvGrpSpPr/>
          <p:nvPr/>
        </p:nvGrpSpPr>
        <p:grpSpPr>
          <a:xfrm>
            <a:off x="6345080" y="4967696"/>
            <a:ext cx="4141416" cy="184666"/>
            <a:chOff x="6345080" y="1721030"/>
            <a:chExt cx="4141416" cy="184666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46251FDC-EE7E-E6AE-6E27-C19F2B8CDCC5}"/>
                </a:ext>
              </a:extLst>
            </p:cNvPr>
            <p:cNvSpPr txBox="1"/>
            <p:nvPr/>
          </p:nvSpPr>
          <p:spPr>
            <a:xfrm>
              <a:off x="6345080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7AD6D180-5E50-4328-443C-399EFDC05D85}"/>
                </a:ext>
              </a:extLst>
            </p:cNvPr>
            <p:cNvSpPr txBox="1"/>
            <p:nvPr/>
          </p:nvSpPr>
          <p:spPr>
            <a:xfrm>
              <a:off x="7044118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F5B3BD77-0C0A-D4C6-F0BD-21093E94230D}"/>
                </a:ext>
              </a:extLst>
            </p:cNvPr>
            <p:cNvSpPr txBox="1"/>
            <p:nvPr/>
          </p:nvSpPr>
          <p:spPr>
            <a:xfrm>
              <a:off x="7743156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ru-RU" sz="1200" dirty="0"/>
                <a:t>====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38BB3D54-E5E1-1E8F-AC04-33D62EE8A0E7}"/>
                </a:ext>
              </a:extLst>
            </p:cNvPr>
            <p:cNvSpPr txBox="1"/>
            <p:nvPr/>
          </p:nvSpPr>
          <p:spPr>
            <a:xfrm>
              <a:off x="8599872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2B974FB2-B1D0-38BA-9D9E-F46D752FB6E7}"/>
                </a:ext>
              </a:extLst>
            </p:cNvPr>
            <p:cNvSpPr txBox="1"/>
            <p:nvPr/>
          </p:nvSpPr>
          <p:spPr>
            <a:xfrm>
              <a:off x="9288236" y="1721030"/>
              <a:ext cx="42572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7386F0FC-73D2-6F40-5984-C2AB1F8D8A4E}"/>
                </a:ext>
              </a:extLst>
            </p:cNvPr>
            <p:cNvSpPr txBox="1"/>
            <p:nvPr/>
          </p:nvSpPr>
          <p:spPr>
            <a:xfrm>
              <a:off x="10105217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58B1AEB8-68F9-3E49-EE3C-60CB41CD4AB6}"/>
              </a:ext>
            </a:extLst>
          </p:cNvPr>
          <p:cNvGrpSpPr/>
          <p:nvPr/>
        </p:nvGrpSpPr>
        <p:grpSpPr>
          <a:xfrm>
            <a:off x="6345080" y="5412664"/>
            <a:ext cx="4141416" cy="184666"/>
            <a:chOff x="6345080" y="1721030"/>
            <a:chExt cx="4141416" cy="184666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C08ACF1F-33F2-557F-0C12-5CBDE6988F0F}"/>
                </a:ext>
              </a:extLst>
            </p:cNvPr>
            <p:cNvSpPr txBox="1"/>
            <p:nvPr/>
          </p:nvSpPr>
          <p:spPr>
            <a:xfrm>
              <a:off x="6345080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ED9BAC8F-BEC2-EE1B-41D8-9CD5385CAC1C}"/>
                </a:ext>
              </a:extLst>
            </p:cNvPr>
            <p:cNvSpPr txBox="1"/>
            <p:nvPr/>
          </p:nvSpPr>
          <p:spPr>
            <a:xfrm>
              <a:off x="7044118" y="1721030"/>
              <a:ext cx="3077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1A1B8FEA-6606-CD8A-59AD-F1A85830446B}"/>
                </a:ext>
              </a:extLst>
            </p:cNvPr>
            <p:cNvSpPr txBox="1"/>
            <p:nvPr/>
          </p:nvSpPr>
          <p:spPr>
            <a:xfrm>
              <a:off x="7743156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ru-RU" sz="1200" dirty="0"/>
                <a:t>====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5AC47456-07B9-0049-D876-7927E349AB5A}"/>
                </a:ext>
              </a:extLst>
            </p:cNvPr>
            <p:cNvSpPr txBox="1"/>
            <p:nvPr/>
          </p:nvSpPr>
          <p:spPr>
            <a:xfrm>
              <a:off x="8599872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7D7C88DC-8073-B175-7018-1927D9D2CBAD}"/>
                </a:ext>
              </a:extLst>
            </p:cNvPr>
            <p:cNvSpPr txBox="1"/>
            <p:nvPr/>
          </p:nvSpPr>
          <p:spPr>
            <a:xfrm>
              <a:off x="9288236" y="1721030"/>
              <a:ext cx="42572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51CCB954-37F2-D7B2-380D-215E50E072E3}"/>
                </a:ext>
              </a:extLst>
            </p:cNvPr>
            <p:cNvSpPr txBox="1"/>
            <p:nvPr/>
          </p:nvSpPr>
          <p:spPr>
            <a:xfrm>
              <a:off x="10105217" y="1721030"/>
              <a:ext cx="38127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1200" dirty="0"/>
                <a:t>====</a:t>
              </a:r>
            </a:p>
          </p:txBody>
        </p:sp>
      </p:grpSp>
      <p:sp>
        <p:nvSpPr>
          <p:cNvPr id="221" name="Прямоугольник 220">
            <a:extLst>
              <a:ext uri="{FF2B5EF4-FFF2-40B4-BE49-F238E27FC236}">
                <a16:creationId xmlns:a16="http://schemas.microsoft.com/office/drawing/2014/main" id="{EC573857-A0AB-B640-EA96-868C5B8100A8}"/>
              </a:ext>
            </a:extLst>
          </p:cNvPr>
          <p:cNvSpPr/>
          <p:nvPr/>
        </p:nvSpPr>
        <p:spPr>
          <a:xfrm>
            <a:off x="4928315" y="1312824"/>
            <a:ext cx="7147774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DB4A59A7-E7E5-B108-ACA2-11BB131C4A40}"/>
              </a:ext>
            </a:extLst>
          </p:cNvPr>
          <p:cNvSpPr txBox="1"/>
          <p:nvPr/>
        </p:nvSpPr>
        <p:spPr>
          <a:xfrm>
            <a:off x="5082988" y="1358148"/>
            <a:ext cx="607820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&lt;-                              </a:t>
            </a:r>
            <a:r>
              <a:rPr lang="ru-RU" sz="1200" dirty="0"/>
              <a:t>дата       /       чётность недели         /         № недели по порядку                    -</a:t>
            </a:r>
            <a:r>
              <a:rPr lang="en-US" sz="1200" dirty="0"/>
              <a:t>&gt;</a:t>
            </a:r>
            <a:endParaRPr lang="ru-RU" sz="1200" dirty="0"/>
          </a:p>
        </p:txBody>
      </p:sp>
      <p:sp>
        <p:nvSpPr>
          <p:cNvPr id="223" name="Прямоугольник 222">
            <a:extLst>
              <a:ext uri="{FF2B5EF4-FFF2-40B4-BE49-F238E27FC236}">
                <a16:creationId xmlns:a16="http://schemas.microsoft.com/office/drawing/2014/main" id="{163A654B-95E2-5EE9-989D-F2481B50FF8C}"/>
              </a:ext>
            </a:extLst>
          </p:cNvPr>
          <p:cNvSpPr/>
          <p:nvPr/>
        </p:nvSpPr>
        <p:spPr>
          <a:xfrm>
            <a:off x="4941827" y="6002008"/>
            <a:ext cx="1964531" cy="7646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B93628A-E28C-65EA-3D27-EA31A53282D4}"/>
              </a:ext>
            </a:extLst>
          </p:cNvPr>
          <p:cNvSpPr txBox="1"/>
          <p:nvPr/>
        </p:nvSpPr>
        <p:spPr>
          <a:xfrm>
            <a:off x="5082988" y="6102070"/>
            <a:ext cx="32380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Пара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88BD41C1-9BE7-11E3-5537-D554663D5ACF}"/>
              </a:ext>
            </a:extLst>
          </p:cNvPr>
          <p:cNvSpPr txBox="1"/>
          <p:nvPr/>
        </p:nvSpPr>
        <p:spPr>
          <a:xfrm>
            <a:off x="5082988" y="6342015"/>
            <a:ext cx="57066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Причина</a:t>
            </a:r>
          </a:p>
        </p:txBody>
      </p:sp>
      <p:sp>
        <p:nvSpPr>
          <p:cNvPr id="226" name="Прямоугольник 225">
            <a:extLst>
              <a:ext uri="{FF2B5EF4-FFF2-40B4-BE49-F238E27FC236}">
                <a16:creationId xmlns:a16="http://schemas.microsoft.com/office/drawing/2014/main" id="{640BC22F-7E40-7072-8D8C-7194D9675A06}"/>
              </a:ext>
            </a:extLst>
          </p:cNvPr>
          <p:cNvSpPr/>
          <p:nvPr/>
        </p:nvSpPr>
        <p:spPr>
          <a:xfrm>
            <a:off x="5806382" y="6337162"/>
            <a:ext cx="941713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E8807799-AD96-3674-6854-FFBA1A7EDACE}"/>
              </a:ext>
            </a:extLst>
          </p:cNvPr>
          <p:cNvSpPr txBox="1"/>
          <p:nvPr/>
        </p:nvSpPr>
        <p:spPr>
          <a:xfrm>
            <a:off x="5886549" y="6393478"/>
            <a:ext cx="61677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отменить</a:t>
            </a:r>
          </a:p>
        </p:txBody>
      </p:sp>
      <p:sp>
        <p:nvSpPr>
          <p:cNvPr id="228" name="Прямоугольник 227">
            <a:extLst>
              <a:ext uri="{FF2B5EF4-FFF2-40B4-BE49-F238E27FC236}">
                <a16:creationId xmlns:a16="http://schemas.microsoft.com/office/drawing/2014/main" id="{F4DDCE8C-A86E-4A28-BFB9-AE0EB84354B2}"/>
              </a:ext>
            </a:extLst>
          </p:cNvPr>
          <p:cNvSpPr/>
          <p:nvPr/>
        </p:nvSpPr>
        <p:spPr>
          <a:xfrm>
            <a:off x="7184389" y="6002008"/>
            <a:ext cx="4663246" cy="7646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2324FC36-8846-D8AD-B604-ABD3F656DA3C}"/>
              </a:ext>
            </a:extLst>
          </p:cNvPr>
          <p:cNvSpPr txBox="1"/>
          <p:nvPr/>
        </p:nvSpPr>
        <p:spPr>
          <a:xfrm>
            <a:off x="7325550" y="6102070"/>
            <a:ext cx="5775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Предмет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9F21AD4-48A3-CF1D-0060-0E59178117B1}"/>
              </a:ext>
            </a:extLst>
          </p:cNvPr>
          <p:cNvSpPr txBox="1"/>
          <p:nvPr/>
        </p:nvSpPr>
        <p:spPr>
          <a:xfrm>
            <a:off x="7325550" y="6342015"/>
            <a:ext cx="16142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Причина (опционально) </a:t>
            </a:r>
          </a:p>
        </p:txBody>
      </p:sp>
      <p:sp>
        <p:nvSpPr>
          <p:cNvPr id="231" name="Прямоугольник 230">
            <a:extLst>
              <a:ext uri="{FF2B5EF4-FFF2-40B4-BE49-F238E27FC236}">
                <a16:creationId xmlns:a16="http://schemas.microsoft.com/office/drawing/2014/main" id="{7D897C6D-EA05-E0CD-D767-5E596D82D4B7}"/>
              </a:ext>
            </a:extLst>
          </p:cNvPr>
          <p:cNvSpPr/>
          <p:nvPr/>
        </p:nvSpPr>
        <p:spPr>
          <a:xfrm>
            <a:off x="10642675" y="6337162"/>
            <a:ext cx="941713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67E9FE9-12E5-240C-F9C6-5B044F68B808}"/>
              </a:ext>
            </a:extLst>
          </p:cNvPr>
          <p:cNvSpPr txBox="1"/>
          <p:nvPr/>
        </p:nvSpPr>
        <p:spPr>
          <a:xfrm>
            <a:off x="10722842" y="6393478"/>
            <a:ext cx="66338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сохранить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E208842C-0F8A-E56B-2891-37617B1CA5D7}"/>
              </a:ext>
            </a:extLst>
          </p:cNvPr>
          <p:cNvSpPr txBox="1"/>
          <p:nvPr/>
        </p:nvSpPr>
        <p:spPr>
          <a:xfrm>
            <a:off x="8136036" y="6102070"/>
            <a:ext cx="311264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Тут дублируется данные куда добавляется пара</a:t>
            </a:r>
          </a:p>
        </p:txBody>
      </p:sp>
    </p:spTree>
    <p:extLst>
      <p:ext uri="{BB962C8B-B14F-4D97-AF65-F5344CB8AC3E}">
        <p14:creationId xmlns:p14="http://schemas.microsoft.com/office/powerpoint/2010/main" val="1712974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СТАРОСТА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</a:t>
            </a:r>
            <a:r>
              <a:rPr lang="ru-RU" sz="1100" dirty="0" err="1"/>
              <a:t>конструктуор</a:t>
            </a:r>
            <a:r>
              <a:rPr lang="ru-RU" sz="1100" dirty="0"/>
              <a:t> расписания – официальное фиксированное расписание на семестр но иногда бывают изменения и </a:t>
            </a:r>
            <a:r>
              <a:rPr lang="ru-RU" sz="1100" dirty="0" err="1"/>
              <a:t>лтмены</a:t>
            </a:r>
            <a:r>
              <a:rPr lang="ru-RU" sz="1100" dirty="0"/>
              <a:t> надо разово что-то отменить или добавить сверх или не сверх. Поставить пару мы можем только на пустую дату так что нам надо отменить или выбирать пустое</a:t>
            </a:r>
          </a:p>
          <a:p>
            <a:endParaRPr lang="ru-RU" sz="1100" dirty="0"/>
          </a:p>
          <a:p>
            <a:r>
              <a:rPr lang="ru-RU" sz="1100" dirty="0"/>
              <a:t>2 – все данные сохраняются к паре (ДЗ отметки посещение)</a:t>
            </a:r>
          </a:p>
        </p:txBody>
      </p:sp>
    </p:spTree>
    <p:extLst>
      <p:ext uri="{BB962C8B-B14F-4D97-AF65-F5344CB8AC3E}">
        <p14:creationId xmlns:p14="http://schemas.microsoft.com/office/powerpoint/2010/main" val="3786796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119 – СТРАНИЦА СТАРОСТА – ЗАЯВКИ и ТИКЕТЫ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в архиве аналогичные формы только нет кнопок отклонить и </a:t>
            </a:r>
            <a:r>
              <a:rPr lang="ru-RU" sz="1100" dirty="0" err="1"/>
              <a:t>подлтверить</a:t>
            </a:r>
            <a:r>
              <a:rPr lang="ru-RU" sz="1100" dirty="0"/>
              <a:t> вместо этого статус решения и дата решения</a:t>
            </a:r>
          </a:p>
          <a:p>
            <a:endParaRPr lang="ru-RU" sz="1100" dirty="0"/>
          </a:p>
          <a:p>
            <a:r>
              <a:rPr lang="ru-RU" sz="1100" dirty="0"/>
              <a:t>2 – тикет на «у» может содержать несколько пар и они списком отображаются</a:t>
            </a:r>
            <a:br>
              <a:rPr lang="ru-RU" sz="1100" dirty="0"/>
            </a:br>
            <a:br>
              <a:rPr lang="ru-RU" sz="1100" dirty="0"/>
            </a:br>
            <a:r>
              <a:rPr lang="ru-RU" sz="1100" dirty="0"/>
              <a:t>3 – тикет на «н» содержит только одну пару</a:t>
            </a:r>
          </a:p>
          <a:p>
            <a:endParaRPr lang="ru-RU" sz="1100" dirty="0"/>
          </a:p>
          <a:p>
            <a:r>
              <a:rPr lang="ru-RU" sz="1100" dirty="0"/>
              <a:t>4 – в архиве есть фильтры по типу тикета, по </a:t>
            </a:r>
            <a:r>
              <a:rPr lang="ru-RU" sz="1100" dirty="0" err="1"/>
              <a:t>фио</a:t>
            </a:r>
            <a:r>
              <a:rPr lang="ru-RU" sz="1100" dirty="0"/>
              <a:t> и по дате (если она в промежутке тикета)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EF7294B-531C-92B2-6271-A0A432958763}"/>
              </a:ext>
            </a:extLst>
          </p:cNvPr>
          <p:cNvGrpSpPr/>
          <p:nvPr/>
        </p:nvGrpSpPr>
        <p:grpSpPr>
          <a:xfrm>
            <a:off x="4928315" y="96316"/>
            <a:ext cx="7180627" cy="1014386"/>
            <a:chOff x="4928315" y="96316"/>
            <a:chExt cx="7180627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48C5093A-CA89-15B9-182A-29E932789C0D}"/>
                </a:ext>
              </a:extLst>
            </p:cNvPr>
            <p:cNvGrpSpPr/>
            <p:nvPr/>
          </p:nvGrpSpPr>
          <p:grpSpPr>
            <a:xfrm>
              <a:off x="4928315" y="128790"/>
              <a:ext cx="1614152" cy="287630"/>
              <a:chOff x="1803042" y="2137890"/>
              <a:chExt cx="1747234" cy="523744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9F419EE8-79FF-B072-E95B-CCB34EBB2F94}"/>
                  </a:ext>
                </a:extLst>
              </p:cNvPr>
              <p:cNvSpPr/>
              <p:nvPr/>
            </p:nvSpPr>
            <p:spPr>
              <a:xfrm>
                <a:off x="1803042" y="2137893"/>
                <a:ext cx="1747234" cy="523741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0A6CEE44-1F58-CF5F-839F-79DEFCE084B3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1419940" cy="277001"/>
                <a:chOff x="2082085" y="1725766"/>
                <a:chExt cx="1419940" cy="277001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7DA8F2A-8E94-F78F-1C1E-EB7AC361A48B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AD236FA-4142-9BFD-FF3C-068FF0C2BA6B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9F78BEE6-9566-9113-5F1A-FA8091BFFEFB}"/>
                </a:ext>
              </a:extLst>
            </p:cNvPr>
            <p:cNvGrpSpPr/>
            <p:nvPr/>
          </p:nvGrpSpPr>
          <p:grpSpPr>
            <a:xfrm>
              <a:off x="10908405" y="96316"/>
              <a:ext cx="1200537" cy="1014386"/>
              <a:chOff x="10908405" y="96316"/>
              <a:chExt cx="1200537" cy="1014386"/>
            </a:xfrm>
          </p:grpSpPr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F936DFB5-6E97-4B9B-E778-38FE1E7B9A29}"/>
                  </a:ext>
                </a:extLst>
              </p:cNvPr>
              <p:cNvSpPr/>
              <p:nvPr/>
            </p:nvSpPr>
            <p:spPr>
              <a:xfrm>
                <a:off x="11638209" y="96316"/>
                <a:ext cx="369194" cy="36919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2216124-5ADB-25CB-3F59-2CFB3CEEF729}"/>
                  </a:ext>
                </a:extLst>
              </p:cNvPr>
              <p:cNvSpPr txBox="1"/>
              <p:nvPr/>
            </p:nvSpPr>
            <p:spPr>
              <a:xfrm>
                <a:off x="11536669" y="188580"/>
                <a:ext cx="57227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профиль</a:t>
                </a:r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2F765722-DEF7-F8E3-669B-A735A51C094E}"/>
                  </a:ext>
                </a:extLst>
              </p:cNvPr>
              <p:cNvGrpSpPr/>
              <p:nvPr/>
            </p:nvGrpSpPr>
            <p:grpSpPr>
              <a:xfrm>
                <a:off x="10908405" y="513981"/>
                <a:ext cx="1167685" cy="596721"/>
                <a:chOff x="10908405" y="513981"/>
                <a:chExt cx="1167685" cy="596721"/>
              </a:xfrm>
            </p:grpSpPr>
            <p:sp>
              <p:nvSpPr>
                <p:cNvPr id="23" name="Прямоугольник 22">
                  <a:extLst>
                    <a:ext uri="{FF2B5EF4-FFF2-40B4-BE49-F238E27FC236}">
                      <a16:creationId xmlns:a16="http://schemas.microsoft.com/office/drawing/2014/main" id="{6B2BAF71-1E4E-EF18-C4A0-2324AAC11D83}"/>
                    </a:ext>
                  </a:extLst>
                </p:cNvPr>
                <p:cNvSpPr/>
                <p:nvPr/>
              </p:nvSpPr>
              <p:spPr>
                <a:xfrm>
                  <a:off x="10908405" y="513981"/>
                  <a:ext cx="1167685" cy="59672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42AC439-2AD3-FE2B-7F4D-58A7A70E3017}"/>
                    </a:ext>
                  </a:extLst>
                </p:cNvPr>
                <p:cNvSpPr txBox="1"/>
                <p:nvPr/>
              </p:nvSpPr>
              <p:spPr>
                <a:xfrm>
                  <a:off x="11032536" y="603721"/>
                  <a:ext cx="69570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ru-RU" sz="1200" dirty="0"/>
                    <a:t>Настройки</a:t>
                  </a:r>
                  <a:br>
                    <a:rPr lang="ru-RU" sz="1200" dirty="0"/>
                  </a:br>
                  <a:r>
                    <a:rPr lang="ru-RU" sz="1200" dirty="0"/>
                    <a:t>Выход</a:t>
                  </a:r>
                </a:p>
              </p:txBody>
            </p:sp>
          </p:grp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16B3AF0D-613C-E704-E229-422A44A6C5E4}"/>
                </a:ext>
              </a:extLst>
            </p:cNvPr>
            <p:cNvGrpSpPr/>
            <p:nvPr/>
          </p:nvGrpSpPr>
          <p:grpSpPr>
            <a:xfrm>
              <a:off x="4928315" y="598868"/>
              <a:ext cx="5786147" cy="407865"/>
              <a:chOff x="4928315" y="598868"/>
              <a:chExt cx="5786147" cy="40786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D6BCA7-D293-199D-26E7-2BF37B3767CD}"/>
                  </a:ext>
                </a:extLst>
              </p:cNvPr>
              <p:cNvSpPr txBox="1"/>
              <p:nvPr/>
            </p:nvSpPr>
            <p:spPr>
              <a:xfrm>
                <a:off x="4928315" y="598868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B4B6C2-152D-FE43-8E71-7352A8B31819}"/>
                  </a:ext>
                </a:extLst>
              </p:cNvPr>
              <p:cNvSpPr txBox="1"/>
              <p:nvPr/>
            </p:nvSpPr>
            <p:spPr>
              <a:xfrm>
                <a:off x="5622074" y="598868"/>
                <a:ext cx="95289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посещаемость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76C678-D60C-B764-A5DA-4B997C28F2B6}"/>
                  </a:ext>
                </a:extLst>
              </p:cNvPr>
              <p:cNvSpPr txBox="1"/>
              <p:nvPr/>
            </p:nvSpPr>
            <p:spPr>
              <a:xfrm>
                <a:off x="6766662" y="598868"/>
                <a:ext cx="6930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статистика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388A03-2A79-9CCC-2958-FE0B478BA046}"/>
                  </a:ext>
                </a:extLst>
              </p:cNvPr>
              <p:cNvSpPr txBox="1"/>
              <p:nvPr/>
            </p:nvSpPr>
            <p:spPr>
              <a:xfrm>
                <a:off x="7651369" y="598868"/>
                <a:ext cx="12697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домашнее задание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449B9E-74FB-E777-B520-E636091222D4}"/>
                  </a:ext>
                </a:extLst>
              </p:cNvPr>
              <p:cNvSpPr txBox="1"/>
              <p:nvPr/>
            </p:nvSpPr>
            <p:spPr>
              <a:xfrm>
                <a:off x="9112773" y="598868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966CF0-EB61-F1F8-CE0B-234DF3915694}"/>
                  </a:ext>
                </a:extLst>
              </p:cNvPr>
              <p:cNvSpPr txBox="1"/>
              <p:nvPr/>
            </p:nvSpPr>
            <p:spPr>
              <a:xfrm>
                <a:off x="9666868" y="598868"/>
                <a:ext cx="104759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заявки и тикеты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2E53FA-D243-40C1-FBD5-AC266B9B292E}"/>
                  </a:ext>
                </a:extLst>
              </p:cNvPr>
              <p:cNvSpPr txBox="1"/>
              <p:nvPr/>
            </p:nvSpPr>
            <p:spPr>
              <a:xfrm>
                <a:off x="4928315" y="822067"/>
                <a:ext cx="43691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Группа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027901-D7C3-6BA5-7274-DD50A33E2511}"/>
                  </a:ext>
                </a:extLst>
              </p:cNvPr>
              <p:cNvSpPr txBox="1"/>
              <p:nvPr/>
            </p:nvSpPr>
            <p:spPr>
              <a:xfrm>
                <a:off x="5829526" y="822067"/>
                <a:ext cx="68018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Предметы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50D21A-9915-26CB-3969-958B18E5DD36}"/>
                  </a:ext>
                </a:extLst>
              </p:cNvPr>
              <p:cNvSpPr txBox="1"/>
              <p:nvPr/>
            </p:nvSpPr>
            <p:spPr>
              <a:xfrm>
                <a:off x="6848393" y="822067"/>
                <a:ext cx="160595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Конструктор расписания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D9E8FC-B320-9730-EF99-5355856EF328}"/>
                  </a:ext>
                </a:extLst>
              </p:cNvPr>
              <p:cNvSpPr txBox="1"/>
              <p:nvPr/>
            </p:nvSpPr>
            <p:spPr>
              <a:xfrm>
                <a:off x="8687237" y="822067"/>
                <a:ext cx="134626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Управление парами</a:t>
                </a:r>
              </a:p>
            </p:txBody>
          </p:sp>
        </p:grpSp>
      </p:grp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4E9C9D1D-2ACB-1E57-694D-0B762B159880}"/>
              </a:ext>
            </a:extLst>
          </p:cNvPr>
          <p:cNvSpPr/>
          <p:nvPr/>
        </p:nvSpPr>
        <p:spPr>
          <a:xfrm>
            <a:off x="4960812" y="1279979"/>
            <a:ext cx="1614152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7D5150-B3E5-98A2-B778-CF992D94A6AE}"/>
              </a:ext>
            </a:extLst>
          </p:cNvPr>
          <p:cNvSpPr txBox="1"/>
          <p:nvPr/>
        </p:nvSpPr>
        <p:spPr>
          <a:xfrm>
            <a:off x="5515415" y="1331460"/>
            <a:ext cx="63959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Активные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F558E804-0F04-A736-93BD-E3A3254A1BB8}"/>
              </a:ext>
            </a:extLst>
          </p:cNvPr>
          <p:cNvSpPr/>
          <p:nvPr/>
        </p:nvSpPr>
        <p:spPr>
          <a:xfrm>
            <a:off x="6848393" y="1279979"/>
            <a:ext cx="1614152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92EF05-6C49-BF04-D7B1-B208C0B814ED}"/>
              </a:ext>
            </a:extLst>
          </p:cNvPr>
          <p:cNvSpPr txBox="1"/>
          <p:nvPr/>
        </p:nvSpPr>
        <p:spPr>
          <a:xfrm>
            <a:off x="7402996" y="1331460"/>
            <a:ext cx="39286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Архив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4D96D73-DF85-DB82-C857-18F847530D87}"/>
              </a:ext>
            </a:extLst>
          </p:cNvPr>
          <p:cNvSpPr/>
          <p:nvPr/>
        </p:nvSpPr>
        <p:spPr>
          <a:xfrm>
            <a:off x="4960812" y="1727688"/>
            <a:ext cx="7046591" cy="131884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35A733-0E8C-66EB-B35A-4C1BAAFD7FDD}"/>
              </a:ext>
            </a:extLst>
          </p:cNvPr>
          <p:cNvSpPr txBox="1"/>
          <p:nvPr/>
        </p:nvSpPr>
        <p:spPr>
          <a:xfrm>
            <a:off x="5179345" y="1823935"/>
            <a:ext cx="8057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Тикет на «у»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34F81C-0075-89C3-09E4-2FB2A131283F}"/>
              </a:ext>
            </a:extLst>
          </p:cNvPr>
          <p:cNvSpPr txBox="1"/>
          <p:nvPr/>
        </p:nvSpPr>
        <p:spPr>
          <a:xfrm>
            <a:off x="5179345" y="2040779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94D13D-2697-7FC9-6C2A-4BC976E44B91}"/>
              </a:ext>
            </a:extLst>
          </p:cNvPr>
          <p:cNvSpPr txBox="1"/>
          <p:nvPr/>
        </p:nvSpPr>
        <p:spPr>
          <a:xfrm>
            <a:off x="5595911" y="2040779"/>
            <a:ext cx="57066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Причина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6B16D2-8858-E517-35AF-8E97ED694DC2}"/>
              </a:ext>
            </a:extLst>
          </p:cNvPr>
          <p:cNvSpPr txBox="1"/>
          <p:nvPr/>
        </p:nvSpPr>
        <p:spPr>
          <a:xfrm>
            <a:off x="6326792" y="2040779"/>
            <a:ext cx="206120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Период дат покрытия </a:t>
            </a:r>
          </a:p>
          <a:p>
            <a:r>
              <a:rPr lang="ru-RU" sz="1200" dirty="0"/>
              <a:t>(даже если с пропусками дней)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B35B1E9D-EFFD-CC14-C733-A58CBCA17DBD}"/>
              </a:ext>
            </a:extLst>
          </p:cNvPr>
          <p:cNvSpPr/>
          <p:nvPr/>
        </p:nvSpPr>
        <p:spPr>
          <a:xfrm>
            <a:off x="5451855" y="2431166"/>
            <a:ext cx="6276384" cy="487974"/>
          </a:xfrm>
          <a:prstGeom prst="rect">
            <a:avLst/>
          </a:prstGeom>
          <a:solidFill>
            <a:srgbClr val="D1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D9E1BF-74C3-CE37-0802-00072DDD4AE1}"/>
              </a:ext>
            </a:extLst>
          </p:cNvPr>
          <p:cNvSpPr txBox="1"/>
          <p:nvPr/>
        </p:nvSpPr>
        <p:spPr>
          <a:xfrm>
            <a:off x="5609914" y="2527502"/>
            <a:ext cx="5775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Предмет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55B904-DF0F-E9B0-F0A6-EF6C9B670377}"/>
              </a:ext>
            </a:extLst>
          </p:cNvPr>
          <p:cNvSpPr txBox="1"/>
          <p:nvPr/>
        </p:nvSpPr>
        <p:spPr>
          <a:xfrm>
            <a:off x="6371561" y="2527502"/>
            <a:ext cx="7744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Тип занятия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BB24C57-AEB4-F28D-6980-19C3BFC87375}"/>
              </a:ext>
            </a:extLst>
          </p:cNvPr>
          <p:cNvSpPr txBox="1"/>
          <p:nvPr/>
        </p:nvSpPr>
        <p:spPr>
          <a:xfrm>
            <a:off x="7330057" y="2527502"/>
            <a:ext cx="8523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 занятия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9A999F9E-FD62-0F40-1DD3-79C462C23B84}"/>
              </a:ext>
            </a:extLst>
          </p:cNvPr>
          <p:cNvSpPr/>
          <p:nvPr/>
        </p:nvSpPr>
        <p:spPr>
          <a:xfrm>
            <a:off x="9240715" y="1899406"/>
            <a:ext cx="1037737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65F2BCD-9450-D44E-CCCA-0D7E428E0370}"/>
              </a:ext>
            </a:extLst>
          </p:cNvPr>
          <p:cNvSpPr txBox="1"/>
          <p:nvPr/>
        </p:nvSpPr>
        <p:spPr>
          <a:xfrm>
            <a:off x="9306658" y="1950887"/>
            <a:ext cx="90776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Подтвердить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7C6FEA6D-85D3-4CEE-96D0-0BEBEB23120F}"/>
              </a:ext>
            </a:extLst>
          </p:cNvPr>
          <p:cNvSpPr/>
          <p:nvPr/>
        </p:nvSpPr>
        <p:spPr>
          <a:xfrm>
            <a:off x="10468116" y="1899406"/>
            <a:ext cx="1037737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EC900C-3F9D-7944-1185-C3EDFAB92562}"/>
              </a:ext>
            </a:extLst>
          </p:cNvPr>
          <p:cNvSpPr txBox="1"/>
          <p:nvPr/>
        </p:nvSpPr>
        <p:spPr>
          <a:xfrm>
            <a:off x="10582119" y="1950887"/>
            <a:ext cx="76435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отклонить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B95B0E0D-D0FB-7DBE-9860-3847616A2B6A}"/>
              </a:ext>
            </a:extLst>
          </p:cNvPr>
          <p:cNvSpPr/>
          <p:nvPr/>
        </p:nvSpPr>
        <p:spPr>
          <a:xfrm>
            <a:off x="4960812" y="3324927"/>
            <a:ext cx="7046591" cy="131884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A644F2-27F5-08DA-3327-464A05D429CE}"/>
              </a:ext>
            </a:extLst>
          </p:cNvPr>
          <p:cNvSpPr txBox="1"/>
          <p:nvPr/>
        </p:nvSpPr>
        <p:spPr>
          <a:xfrm>
            <a:off x="5179345" y="3421174"/>
            <a:ext cx="8185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Тикет на «н»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4A4F478-6754-A600-9CEE-71B42D62570A}"/>
              </a:ext>
            </a:extLst>
          </p:cNvPr>
          <p:cNvSpPr txBox="1"/>
          <p:nvPr/>
        </p:nvSpPr>
        <p:spPr>
          <a:xfrm>
            <a:off x="5179345" y="3638018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90E4D5-D2C3-6129-C85D-8C51EACCE613}"/>
              </a:ext>
            </a:extLst>
          </p:cNvPr>
          <p:cNvSpPr txBox="1"/>
          <p:nvPr/>
        </p:nvSpPr>
        <p:spPr>
          <a:xfrm>
            <a:off x="5592806" y="3638018"/>
            <a:ext cx="3057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</a:t>
            </a: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5347221D-E586-23F5-DDBC-AB08F51A71D0}"/>
              </a:ext>
            </a:extLst>
          </p:cNvPr>
          <p:cNvSpPr/>
          <p:nvPr/>
        </p:nvSpPr>
        <p:spPr>
          <a:xfrm>
            <a:off x="5451855" y="4028405"/>
            <a:ext cx="6276384" cy="487974"/>
          </a:xfrm>
          <a:prstGeom prst="rect">
            <a:avLst/>
          </a:prstGeom>
          <a:solidFill>
            <a:srgbClr val="D1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B38A030-2AF7-55AF-9936-AC6A08CE67B4}"/>
              </a:ext>
            </a:extLst>
          </p:cNvPr>
          <p:cNvSpPr txBox="1"/>
          <p:nvPr/>
        </p:nvSpPr>
        <p:spPr>
          <a:xfrm>
            <a:off x="5609914" y="4173657"/>
            <a:ext cx="5775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Предмет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C2AA79F-5E1A-2093-38A0-DA4172F8B5CB}"/>
              </a:ext>
            </a:extLst>
          </p:cNvPr>
          <p:cNvSpPr txBox="1"/>
          <p:nvPr/>
        </p:nvSpPr>
        <p:spPr>
          <a:xfrm>
            <a:off x="6371561" y="4173657"/>
            <a:ext cx="7744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Тип занятия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2EADF9E-1EEA-165D-62AE-4A07F70CD6B2}"/>
              </a:ext>
            </a:extLst>
          </p:cNvPr>
          <p:cNvSpPr txBox="1"/>
          <p:nvPr/>
        </p:nvSpPr>
        <p:spPr>
          <a:xfrm>
            <a:off x="7330057" y="4173657"/>
            <a:ext cx="8523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 занятия</a:t>
            </a: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A34C579C-67DD-D718-B257-240679C43231}"/>
              </a:ext>
            </a:extLst>
          </p:cNvPr>
          <p:cNvSpPr/>
          <p:nvPr/>
        </p:nvSpPr>
        <p:spPr>
          <a:xfrm>
            <a:off x="9240715" y="3496645"/>
            <a:ext cx="1037737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15D21D4-0941-BA46-CEC1-394F5F996174}"/>
              </a:ext>
            </a:extLst>
          </p:cNvPr>
          <p:cNvSpPr txBox="1"/>
          <p:nvPr/>
        </p:nvSpPr>
        <p:spPr>
          <a:xfrm>
            <a:off x="9306658" y="3548126"/>
            <a:ext cx="90776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Подтвердить</a:t>
            </a: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BE3693F2-3C5B-2CFA-C829-5349CE706432}"/>
              </a:ext>
            </a:extLst>
          </p:cNvPr>
          <p:cNvSpPr/>
          <p:nvPr/>
        </p:nvSpPr>
        <p:spPr>
          <a:xfrm>
            <a:off x="10468116" y="3496645"/>
            <a:ext cx="1037737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B170D3B-CDDB-B9ED-1F6A-9738CB8D8E7B}"/>
              </a:ext>
            </a:extLst>
          </p:cNvPr>
          <p:cNvSpPr txBox="1"/>
          <p:nvPr/>
        </p:nvSpPr>
        <p:spPr>
          <a:xfrm>
            <a:off x="10582119" y="3548126"/>
            <a:ext cx="76435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200" dirty="0"/>
              <a:t>отклонить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EA182A9-2BC6-5A63-50FE-A0CE298803A8}"/>
              </a:ext>
            </a:extLst>
          </p:cNvPr>
          <p:cNvSpPr txBox="1"/>
          <p:nvPr/>
        </p:nvSpPr>
        <p:spPr>
          <a:xfrm>
            <a:off x="5609914" y="2684614"/>
            <a:ext cx="5775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Предмет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E0CED6C-B34F-A579-DF0A-9FF3407EF0BA}"/>
              </a:ext>
            </a:extLst>
          </p:cNvPr>
          <p:cNvSpPr txBox="1"/>
          <p:nvPr/>
        </p:nvSpPr>
        <p:spPr>
          <a:xfrm>
            <a:off x="6371561" y="2684614"/>
            <a:ext cx="7744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Тип занятия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23AEE2F-E5E5-1BCD-2C07-F0A6A7C74B52}"/>
              </a:ext>
            </a:extLst>
          </p:cNvPr>
          <p:cNvSpPr txBox="1"/>
          <p:nvPr/>
        </p:nvSpPr>
        <p:spPr>
          <a:xfrm>
            <a:off x="7330057" y="2684614"/>
            <a:ext cx="8523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Дата занятия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E7088EB-4762-2D88-7DD4-FDBF704867FC}"/>
              </a:ext>
            </a:extLst>
          </p:cNvPr>
          <p:cNvSpPr txBox="1"/>
          <p:nvPr/>
        </p:nvSpPr>
        <p:spPr>
          <a:xfrm>
            <a:off x="8439734" y="2040779"/>
            <a:ext cx="78681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</a:t>
            </a:r>
          </a:p>
          <a:p>
            <a:r>
              <a:rPr lang="ru-RU" sz="1200" dirty="0"/>
              <a:t>пар</a:t>
            </a:r>
          </a:p>
        </p:txBody>
      </p:sp>
    </p:spTree>
    <p:extLst>
      <p:ext uri="{BB962C8B-B14F-4D97-AF65-F5344CB8AC3E}">
        <p14:creationId xmlns:p14="http://schemas.microsoft.com/office/powerpoint/2010/main" val="248940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119 – СТРАНИЦА СТАРОСТА – ЗАЯВКИ и ТИКЕТЫ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староста хочет отслеживать актуальные тикеты и </a:t>
            </a:r>
            <a:r>
              <a:rPr lang="ru-RU" sz="1100" dirty="0" err="1"/>
              <a:t>сомтреть</a:t>
            </a:r>
            <a:r>
              <a:rPr lang="ru-RU" sz="1100" dirty="0"/>
              <a:t> архивные </a:t>
            </a:r>
            <a:r>
              <a:rPr lang="ru-RU" sz="1100" dirty="0" err="1"/>
              <a:t>архивные</a:t>
            </a:r>
            <a:r>
              <a:rPr lang="ru-RU" sz="1100" dirty="0"/>
              <a:t> сортировать </a:t>
            </a:r>
            <a:r>
              <a:rPr lang="ru-RU" sz="1100"/>
              <a:t>и фильтровать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9024680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4108</Words>
  <Application>Microsoft Office PowerPoint</Application>
  <PresentationFormat>Широкоэкранный</PresentationFormat>
  <Paragraphs>672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keysoft.store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Дитковский</dc:creator>
  <cp:lastModifiedBy>Максим Дитковский</cp:lastModifiedBy>
  <cp:revision>145</cp:revision>
  <dcterms:created xsi:type="dcterms:W3CDTF">2026-07-26T18:25:54Z</dcterms:created>
  <dcterms:modified xsi:type="dcterms:W3CDTF">2026-07-29T17:11:30Z</dcterms:modified>
</cp:coreProperties>
</file>