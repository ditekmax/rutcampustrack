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" id="{4DD11FBA-B191-4B1E-971F-D97CDC2B6974}">
          <p14:sldIdLst>
            <p14:sldId id="266"/>
            <p14:sldId id="267"/>
          </p14:sldIdLst>
        </p14:section>
        <p14:section name="Основное" id="{CC88E232-BA83-4225-8890-46513D80396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37" autoAdjust="0"/>
    <p:restoredTop sz="94660"/>
  </p:normalViewPr>
  <p:slideViewPr>
    <p:cSldViewPr snapToGrid="0" showGuides="1">
      <p:cViewPr varScale="1">
        <p:scale>
          <a:sx n="148" d="100"/>
          <a:sy n="148" d="100"/>
        </p:scale>
        <p:origin x="1084" y="80"/>
      </p:cViewPr>
      <p:guideLst>
        <p:guide orient="horz" pos="2160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569F4-EA2A-B274-9068-9C3FD820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86F417E-E8CF-0F59-D7FC-A4E94612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E05DD81-22AC-451A-0742-A4BA8D88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F7D94C-3AFD-260A-82F1-AA0B88B39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692FD4-9453-257E-C141-F08B51FB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137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5E8FDA-CC55-8607-8E11-2E4B9B0E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091937-6B20-29E5-15E7-BC48618D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8CE2E3-F7E7-5625-F292-0150960B4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FD9E9-E8AB-7C62-AE72-F38759BB3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21C42C-59A7-70EF-F9C6-BE2FD5804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017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65528-1992-AF4B-5B19-C8B13FB4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724451-E787-604A-56F2-B27B2E608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24E030-8B97-8144-5AAB-FDE966E0B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242DA1-D14D-F6D3-6A1C-34CDDC59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E2E281-92B4-CF94-C040-E1026345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5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FD110-692D-530C-4215-A11E9FC0F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607DB8-3A30-9518-06BB-9E917D12F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B89088-2C18-D458-72AE-93660425E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C9D276-DC2C-B324-D2A2-A6535379F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29F3A-C942-FB7C-3A24-1B5821E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953408-2055-33DC-1D8F-618C657B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165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E0A29B-3F48-934B-4B8D-BC9DD7C7E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923FF0-5FF5-DDDB-9843-D6BFDE675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987B02-CB4B-9F6D-06CD-341256686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23254D-71DA-0F8B-91AA-BAB5E8BE2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767F756-2892-F272-45B1-E30E1D58FE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74BE57D-50EC-E511-D2D6-FBAD005B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77B8031-E378-CC53-4D2D-48ACEEEA5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48247F-F0CE-FCD3-7565-CB2C40F1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8021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F2E0E1-69E2-13BD-990E-52A1533B3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C748F94-3E74-02BD-7185-2CB0B132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115B8B2-46CD-775E-7A40-5F6A35C9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864C014-E834-3FC4-10E2-EC0714FE7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70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BD2EAD2-0655-E14D-880B-B45EC1B15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B16F70-4866-DD38-A2DB-7208D286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A4F78C-8361-1FD2-422A-87F40F45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750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C2F0E-59A8-7476-180B-5F211613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93A0F-BCC9-F5D2-3736-6D6BE1E86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782033-0C85-16BC-26DD-B16479737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32DE48-88DD-B8DA-5909-29F36D96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0066BF1-1304-B99A-87D6-AD3EA37E0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DC220F-FA37-166B-9437-2D64DC209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943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4A1543-9368-2EA2-045D-730F85B3B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74A546D-9B5F-A07C-DEE1-BFB1A9E2B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5C69CBE-C764-A103-D40C-84AAA6A49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7AD4AA0-124A-9A38-52FF-10A08308C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4CE48B-36AC-8223-B743-271CF1C68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21E882-15B5-F6EA-583A-5CEC10C51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363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4D03E-87AD-0FD3-01D7-429DAE0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19B4D04-1567-AC48-1C7B-EF72FDD6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55B488-9029-6DDA-617E-03241ECF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B3449D-2E69-D639-8689-8C483B3A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F6E826-B435-84AA-7369-F1CC503C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971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141BAA4-0D15-ABF8-B9D7-926BC4C78E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888BD4-C4BD-3EC9-E75C-D10FCB408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A7A7A5-1CBF-D669-F7F1-ECC6C69F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810F88-E32F-BF23-2C81-A93B81C71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685E8B-9B4A-07DF-6376-F153348A8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2124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087D8-D170-D99B-0714-1CB210746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813D0-E2B7-AEAE-3E85-6D26BF65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39790-1451-154C-C658-47CE211D54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EE0D0-FC15-4AD6-B0F2-4DCC61B8EC95}" type="datetimeFigureOut">
              <a:rPr lang="ru-RU" smtClean="0"/>
              <a:t>29.07.2026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E0483D-FA3F-FBAF-5D41-B11D03C48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D949BC-D067-73FF-27E8-06E65C8B29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61CA36-006B-4870-A2AD-5B71E5DE63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262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АДМИН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6119088" y="4708553"/>
            <a:ext cx="5049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пример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7861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АДМИН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/>
              <a:t>-------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637869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131 – СТРАНИЦА АДМИН – ГЛАВНАЯ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где статистика по системе – там так же показывается прирост от прошлого дня чтоб смотреть статистику </a:t>
            </a:r>
          </a:p>
          <a:p>
            <a:endParaRPr lang="ru-RU" sz="1100" dirty="0"/>
          </a:p>
          <a:p>
            <a:r>
              <a:rPr lang="ru-RU" sz="1100" dirty="0"/>
              <a:t>2 – админ должен видеть реальную картину по системе 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5F56F69-F51D-C2E3-654A-DFB4543FEF4E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0B0973E3-4195-103E-F810-EFD9F42CF9FD}"/>
                </a:ext>
              </a:extLst>
            </p:cNvPr>
            <p:cNvGrpSpPr/>
            <p:nvPr/>
          </p:nvGrpSpPr>
          <p:grpSpPr>
            <a:xfrm>
              <a:off x="4928314" y="128790"/>
              <a:ext cx="3112396" cy="287630"/>
              <a:chOff x="1803041" y="2137890"/>
              <a:chExt cx="3369003" cy="523744"/>
            </a:xfrm>
          </p:grpSpPr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EC618E0D-82E1-1C53-4717-4F60EACB0A91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33690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1" name="Группа 20">
                <a:extLst>
                  <a:ext uri="{FF2B5EF4-FFF2-40B4-BE49-F238E27FC236}">
                    <a16:creationId xmlns:a16="http://schemas.microsoft.com/office/drawing/2014/main" id="{4E21A425-06A1-3640-C3FE-81B47FE2DA31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891795" cy="504387"/>
                <a:chOff x="2082085" y="1725766"/>
                <a:chExt cx="2891795" cy="504387"/>
              </a:xfrm>
            </p:grpSpPr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F7B28C8-5D74-23FC-8036-E45CD61CD6E7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0A0583C-FB86-DF1F-12BC-7FCFEA5316BF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3BE6749-9F84-233A-0525-DAA21AD40208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BE21764-6CC2-D5B8-6B4D-8EA61A23C9AE}"/>
                    </a:ext>
                  </a:extLst>
                </p:cNvPr>
                <p:cNvSpPr txBox="1"/>
                <p:nvPr/>
              </p:nvSpPr>
              <p:spPr>
                <a:xfrm>
                  <a:off x="4308964" y="1725766"/>
                  <a:ext cx="664916" cy="5043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админ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AC4E178-2F30-3E83-A3A1-465F7EAEBFCF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AA19063-CC7F-F938-AABF-1D6530DB4D8B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AB5C22-AFEF-FCC6-3270-FCD0668F7AEF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89845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пользователи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73CC022-CC04-3834-1C2B-D6FC836E4083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463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группы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F11E06A-A974-1015-04F3-A59E61E2BBE9}"/>
                  </a:ext>
                </a:extLst>
              </p:cNvPr>
              <p:cNvSpPr txBox="1"/>
              <p:nvPr/>
            </p:nvSpPr>
            <p:spPr>
              <a:xfrm>
                <a:off x="6156695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99ED836-B5A6-00A4-A090-3895C9FF8E7B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0F0A7EB-FD46-7C69-FFB6-7CD034860D8E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C508B20-3B3F-A08A-B300-FC8D39CB241A}"/>
                  </a:ext>
                </a:extLst>
              </p:cNvPr>
              <p:cNvSpPr txBox="1"/>
              <p:nvPr/>
            </p:nvSpPr>
            <p:spPr>
              <a:xfrm>
                <a:off x="5307408" y="2814035"/>
                <a:ext cx="6467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Семестры</a:t>
                </a:r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C6A5DD4C-E900-562A-6C2E-B1821BAAB2BE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2D232F5-84FF-7872-6846-C509843ECD55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22C0EF5-A69D-CC89-CBD7-20D12A7FA53B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955EB635-FDC0-C9B7-E9DA-C21994372545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8EA8A2-FA08-A78F-30D4-33EAEAEDDC93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6E044EE-66A3-38F6-E02C-4EF490DAF0D8}"/>
              </a:ext>
            </a:extLst>
          </p:cNvPr>
          <p:cNvSpPr/>
          <p:nvPr/>
        </p:nvSpPr>
        <p:spPr>
          <a:xfrm>
            <a:off x="4928313" y="1211735"/>
            <a:ext cx="2086379" cy="8299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2894B37-E425-1A3F-E0DC-E6A243D04F5E}"/>
              </a:ext>
            </a:extLst>
          </p:cNvPr>
          <p:cNvSpPr txBox="1"/>
          <p:nvPr/>
        </p:nvSpPr>
        <p:spPr>
          <a:xfrm>
            <a:off x="5076574" y="1257051"/>
            <a:ext cx="146700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студентов </a:t>
            </a:r>
          </a:p>
          <a:p>
            <a:r>
              <a:rPr lang="ru-RU" sz="1200" dirty="0"/>
              <a:t>в системе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89FA24A-8A5E-ABAB-1D46-C5D9F4B8F4EF}"/>
              </a:ext>
            </a:extLst>
          </p:cNvPr>
          <p:cNvSpPr/>
          <p:nvPr/>
        </p:nvSpPr>
        <p:spPr>
          <a:xfrm>
            <a:off x="7166959" y="1211735"/>
            <a:ext cx="2086379" cy="8299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226DF8-7B6F-B63B-1402-766E75575B81}"/>
              </a:ext>
            </a:extLst>
          </p:cNvPr>
          <p:cNvSpPr txBox="1"/>
          <p:nvPr/>
        </p:nvSpPr>
        <p:spPr>
          <a:xfrm>
            <a:off x="7315220" y="1257051"/>
            <a:ext cx="189545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преподавателей</a:t>
            </a:r>
          </a:p>
          <a:p>
            <a:r>
              <a:rPr lang="ru-RU" sz="1200" dirty="0"/>
              <a:t>в системе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014F7815-B6AC-D74B-2C42-E38B91997C18}"/>
              </a:ext>
            </a:extLst>
          </p:cNvPr>
          <p:cNvSpPr/>
          <p:nvPr/>
        </p:nvSpPr>
        <p:spPr>
          <a:xfrm>
            <a:off x="9518607" y="1211735"/>
            <a:ext cx="2086379" cy="82998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9FC275-FD4F-A09E-21CD-48A17948C73B}"/>
              </a:ext>
            </a:extLst>
          </p:cNvPr>
          <p:cNvSpPr txBox="1"/>
          <p:nvPr/>
        </p:nvSpPr>
        <p:spPr>
          <a:xfrm>
            <a:off x="9666868" y="1257051"/>
            <a:ext cx="11479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групп</a:t>
            </a:r>
          </a:p>
          <a:p>
            <a:r>
              <a:rPr lang="ru-RU" sz="1200" dirty="0"/>
              <a:t>в системе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ADEEE9F-1164-4A1B-3D91-2B9978A7E7F7}"/>
              </a:ext>
            </a:extLst>
          </p:cNvPr>
          <p:cNvSpPr/>
          <p:nvPr/>
        </p:nvSpPr>
        <p:spPr>
          <a:xfrm>
            <a:off x="4988417" y="2120721"/>
            <a:ext cx="6616569" cy="155834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37EAAF-CC31-66A5-FFF9-F39A14725303}"/>
              </a:ext>
            </a:extLst>
          </p:cNvPr>
          <p:cNvSpPr txBox="1"/>
          <p:nvPr/>
        </p:nvSpPr>
        <p:spPr>
          <a:xfrm>
            <a:off x="5102102" y="2216969"/>
            <a:ext cx="158722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отметок «+»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1E0D99-0585-9197-FA1B-86DAC5C0EE03}"/>
              </a:ext>
            </a:extLst>
          </p:cNvPr>
          <p:cNvSpPr txBox="1"/>
          <p:nvPr/>
        </p:nvSpPr>
        <p:spPr>
          <a:xfrm>
            <a:off x="5102102" y="2526829"/>
            <a:ext cx="58629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успешных отметок в процентах от общего (это когда по </a:t>
            </a:r>
            <a:r>
              <a:rPr lang="ru-RU" sz="1200" dirty="0" err="1"/>
              <a:t>гео</a:t>
            </a:r>
            <a:r>
              <a:rPr lang="ru-RU" sz="1200" dirty="0"/>
              <a:t> отметились сами)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1AC5A1-A4A7-4BF4-D052-0E475BBCE60D}"/>
              </a:ext>
            </a:extLst>
          </p:cNvPr>
          <p:cNvSpPr txBox="1"/>
          <p:nvPr/>
        </p:nvSpPr>
        <p:spPr>
          <a:xfrm>
            <a:off x="5102102" y="2824046"/>
            <a:ext cx="203055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просмотров карты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F3BC5B-1005-BF50-9ACE-CF17D3BA1403}"/>
              </a:ext>
            </a:extLst>
          </p:cNvPr>
          <p:cNvSpPr txBox="1"/>
          <p:nvPr/>
        </p:nvSpPr>
        <p:spPr>
          <a:xfrm>
            <a:off x="5102102" y="3133906"/>
            <a:ext cx="19192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заявок и тикетов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666DA8-F9BB-91BA-437E-A9EC4DD7DC96}"/>
              </a:ext>
            </a:extLst>
          </p:cNvPr>
          <p:cNvSpPr txBox="1"/>
          <p:nvPr/>
        </p:nvSpPr>
        <p:spPr>
          <a:xfrm>
            <a:off x="5102102" y="3446525"/>
            <a:ext cx="9743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дз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63F5DD6-376E-9920-5458-B9554385B32D}"/>
              </a:ext>
            </a:extLst>
          </p:cNvPr>
          <p:cNvSpPr/>
          <p:nvPr/>
        </p:nvSpPr>
        <p:spPr>
          <a:xfrm>
            <a:off x="10260169" y="2159963"/>
            <a:ext cx="127650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BA0638E-69CB-0EA0-2BB5-1FFE24AF7861}"/>
              </a:ext>
            </a:extLst>
          </p:cNvPr>
          <p:cNvSpPr/>
          <p:nvPr/>
        </p:nvSpPr>
        <p:spPr>
          <a:xfrm>
            <a:off x="8813443" y="2159963"/>
            <a:ext cx="127650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5ED51A-3EB4-1B1D-95FE-BC460370B705}"/>
              </a:ext>
            </a:extLst>
          </p:cNvPr>
          <p:cNvSpPr txBox="1"/>
          <p:nvPr/>
        </p:nvSpPr>
        <p:spPr>
          <a:xfrm>
            <a:off x="9112773" y="2216147"/>
            <a:ext cx="5133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сегодня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D075A7D-56CB-EC5D-1BFF-89095A3DC5C2}"/>
              </a:ext>
            </a:extLst>
          </p:cNvPr>
          <p:cNvSpPr txBox="1"/>
          <p:nvPr/>
        </p:nvSpPr>
        <p:spPr>
          <a:xfrm>
            <a:off x="10651732" y="2216147"/>
            <a:ext cx="6691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Всё время</a:t>
            </a:r>
          </a:p>
        </p:txBody>
      </p:sp>
    </p:spTree>
    <p:extLst>
      <p:ext uri="{BB962C8B-B14F-4D97-AF65-F5344CB8AC3E}">
        <p14:creationId xmlns:p14="http://schemas.microsoft.com/office/powerpoint/2010/main" val="996670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131 – СТРАНИЦА АДМИН – ГЛАВНАЯ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админ хочет видеть статистику по системе по количеству пользователей (при этом если человек является и учителем и студентов то считается и то и то) </a:t>
            </a:r>
          </a:p>
        </p:txBody>
      </p:sp>
    </p:spTree>
    <p:extLst>
      <p:ext uri="{BB962C8B-B14F-4D97-AF65-F5344CB8AC3E}">
        <p14:creationId xmlns:p14="http://schemas.microsoft.com/office/powerpoint/2010/main" val="190346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132 – СТРАНИЦА АДМИН – ПОЛЬЗОВАТЕЛИ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5069958" y="2980129"/>
            <a:ext cx="145616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Если создают админа</a:t>
            </a:r>
            <a:r>
              <a:rPr lang="en-US" sz="1200" dirty="0"/>
              <a:t>: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11849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студент может быть отчислен или выпустился но в системе он остаётся или препод уволен</a:t>
            </a:r>
          </a:p>
          <a:p>
            <a:endParaRPr lang="ru-RU" sz="1100" dirty="0"/>
          </a:p>
          <a:p>
            <a:r>
              <a:rPr lang="ru-RU" sz="1100" dirty="0"/>
              <a:t>2 – каждого пользователя можно отредактировать вплоть до добавления ему роли в меню есть кнопка добавить роль и добавляется роль и заполняются только незаполненные поля. Так же можно удалить так у студента можно перенести его в другую группу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33E665-C0F3-C1E7-0316-BE0C7D60D5C1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6C824C33-C5AA-D150-B2B9-A0F51038B6CA}"/>
                </a:ext>
              </a:extLst>
            </p:cNvPr>
            <p:cNvGrpSpPr/>
            <p:nvPr/>
          </p:nvGrpSpPr>
          <p:grpSpPr>
            <a:xfrm>
              <a:off x="4928314" y="128790"/>
              <a:ext cx="3112396" cy="287630"/>
              <a:chOff x="1803041" y="2137890"/>
              <a:chExt cx="3369003" cy="523744"/>
            </a:xfrm>
          </p:grpSpPr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08A2014D-4892-3C79-982B-58A70D6EDF53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33690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4C8B4C7F-0FCC-EB9F-F21F-2B2D7D41F029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891795" cy="504387"/>
                <a:chOff x="2082085" y="1725766"/>
                <a:chExt cx="2891795" cy="504387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BB6A645-B688-EEB2-13F6-3272C05CC099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352D95D-FACB-D820-9B60-B9ECFDF0EA76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669792C-53E4-35BC-BC52-296F34A6314A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C358C84-3599-1BBA-2C98-5F6773AC36E4}"/>
                    </a:ext>
                  </a:extLst>
                </p:cNvPr>
                <p:cNvSpPr txBox="1"/>
                <p:nvPr/>
              </p:nvSpPr>
              <p:spPr>
                <a:xfrm>
                  <a:off x="4308964" y="1725766"/>
                  <a:ext cx="664916" cy="5043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админ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AB4BB925-6F32-AB4D-1186-48D68D6FC8AC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36B4358-EF15-0D71-26C3-EC1ACA9F8D50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6AE8DBC-2321-0B7B-C7E8-44BAA9D520B7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89845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пользователи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3E8E8E-E23B-73DA-EF8C-ACB20BC35A9A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463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группы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664E56-2686-0691-0486-10D009158A50}"/>
                  </a:ext>
                </a:extLst>
              </p:cNvPr>
              <p:cNvSpPr txBox="1"/>
              <p:nvPr/>
            </p:nvSpPr>
            <p:spPr>
              <a:xfrm>
                <a:off x="6156695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149DFA-EF93-A79C-4348-74311BE4FF57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8BCA06-4970-6D36-655A-9D424F63FE06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C9986C8-1490-5963-FD67-4206A2C4740F}"/>
                  </a:ext>
                </a:extLst>
              </p:cNvPr>
              <p:cNvSpPr txBox="1"/>
              <p:nvPr/>
            </p:nvSpPr>
            <p:spPr>
              <a:xfrm>
                <a:off x="5307408" y="2814035"/>
                <a:ext cx="6467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Семестры</a:t>
                </a:r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4280908D-B551-457A-E39D-F7B85979F7BB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44701D-6DF5-C9C7-CDE1-C8361F06C6E7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873378A2-6AEB-1383-9285-1532D03213F7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50379873-C867-970E-34CF-825BAE819ACC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5B17BA-1703-862D-E8ED-C04E7AC00F7D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F65A244-8AFC-F497-3279-505C7F625DDD}"/>
              </a:ext>
            </a:extLst>
          </p:cNvPr>
          <p:cNvSpPr/>
          <p:nvPr/>
        </p:nvSpPr>
        <p:spPr>
          <a:xfrm>
            <a:off x="4964327" y="1186513"/>
            <a:ext cx="311239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8274FE-6D7A-7F22-27C5-4CB9F1761037}"/>
              </a:ext>
            </a:extLst>
          </p:cNvPr>
          <p:cNvSpPr txBox="1"/>
          <p:nvPr/>
        </p:nvSpPr>
        <p:spPr>
          <a:xfrm>
            <a:off x="5020091" y="1237994"/>
            <a:ext cx="14786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Создать пользователя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AA1639EC-7834-4944-AF54-0172C4C8F917}"/>
              </a:ext>
            </a:extLst>
          </p:cNvPr>
          <p:cNvSpPr/>
          <p:nvPr/>
        </p:nvSpPr>
        <p:spPr>
          <a:xfrm>
            <a:off x="4964327" y="2075631"/>
            <a:ext cx="7111568" cy="8726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D5438E-3B88-BF66-01C4-5FA47C8BB03C}"/>
              </a:ext>
            </a:extLst>
          </p:cNvPr>
          <p:cNvSpPr txBox="1"/>
          <p:nvPr/>
        </p:nvSpPr>
        <p:spPr>
          <a:xfrm>
            <a:off x="5160052" y="2171879"/>
            <a:ext cx="3943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Логин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AF1AE0-2B3B-CD52-2B7D-1C014F089181}"/>
              </a:ext>
            </a:extLst>
          </p:cNvPr>
          <p:cNvSpPr txBox="1"/>
          <p:nvPr/>
        </p:nvSpPr>
        <p:spPr>
          <a:xfrm>
            <a:off x="5622074" y="2171879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B1B6D07-6A07-2A34-1691-2EC0A4C3527D}"/>
              </a:ext>
            </a:extLst>
          </p:cNvPr>
          <p:cNvSpPr/>
          <p:nvPr/>
        </p:nvSpPr>
        <p:spPr>
          <a:xfrm>
            <a:off x="4964327" y="1525622"/>
            <a:ext cx="311239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377A0D-95C4-6361-C099-0D484C7E45FF}"/>
              </a:ext>
            </a:extLst>
          </p:cNvPr>
          <p:cNvSpPr txBox="1"/>
          <p:nvPr/>
        </p:nvSpPr>
        <p:spPr>
          <a:xfrm>
            <a:off x="5020091" y="1577103"/>
            <a:ext cx="260032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Поиск (полнотекстовый по всем полям)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2DC02F-F5EA-6A2C-9DFC-938EAA48A233}"/>
              </a:ext>
            </a:extLst>
          </p:cNvPr>
          <p:cNvSpPr txBox="1"/>
          <p:nvPr/>
        </p:nvSpPr>
        <p:spPr>
          <a:xfrm>
            <a:off x="6023687" y="2171879"/>
            <a:ext cx="30745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Роль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92B676-BCCC-9AC1-93CC-FE337C54E777}"/>
              </a:ext>
            </a:extLst>
          </p:cNvPr>
          <p:cNvSpPr txBox="1"/>
          <p:nvPr/>
        </p:nvSpPr>
        <p:spPr>
          <a:xfrm>
            <a:off x="6483652" y="2171879"/>
            <a:ext cx="70692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Группа </a:t>
            </a:r>
          </a:p>
          <a:p>
            <a:r>
              <a:rPr lang="ru-RU" sz="1200" dirty="0"/>
              <a:t>(если есть)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EC152C-FDFA-5AF4-2C26-F351C29E0FAF}"/>
              </a:ext>
            </a:extLst>
          </p:cNvPr>
          <p:cNvSpPr txBox="1"/>
          <p:nvPr/>
        </p:nvSpPr>
        <p:spPr>
          <a:xfrm>
            <a:off x="7327932" y="2171879"/>
            <a:ext cx="407740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Статус</a:t>
            </a:r>
            <a:br>
              <a:rPr lang="ru-RU" sz="1200" dirty="0"/>
            </a:br>
            <a:endParaRPr lang="ru-RU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163A1B-EAB4-7D04-48E0-C7DBDD6ADECB}"/>
              </a:ext>
            </a:extLst>
          </p:cNvPr>
          <p:cNvSpPr txBox="1"/>
          <p:nvPr/>
        </p:nvSpPr>
        <p:spPr>
          <a:xfrm>
            <a:off x="7969502" y="2171879"/>
            <a:ext cx="81272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Пароль </a:t>
            </a:r>
            <a:br>
              <a:rPr lang="ru-RU" sz="1200" dirty="0"/>
            </a:br>
            <a:r>
              <a:rPr lang="ru-RU" sz="1200" dirty="0"/>
              <a:t>(начальный)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323CC9-385B-B592-C14C-0FD423AA0C16}"/>
              </a:ext>
            </a:extLst>
          </p:cNvPr>
          <p:cNvSpPr txBox="1"/>
          <p:nvPr/>
        </p:nvSpPr>
        <p:spPr>
          <a:xfrm>
            <a:off x="8887858" y="2171879"/>
            <a:ext cx="117262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Табельный номер</a:t>
            </a:r>
            <a:br>
              <a:rPr lang="ru-RU" sz="1200" dirty="0"/>
            </a:br>
            <a:r>
              <a:rPr lang="ru-RU" sz="1200" dirty="0"/>
              <a:t>(препод)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2B584E0-6970-BDF4-2B5A-4AF5278FBA0C}"/>
              </a:ext>
            </a:extLst>
          </p:cNvPr>
          <p:cNvSpPr/>
          <p:nvPr/>
        </p:nvSpPr>
        <p:spPr>
          <a:xfrm>
            <a:off x="8222825" y="1525622"/>
            <a:ext cx="3112396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66628A-27D7-090F-91BC-FDAFEE63E6C2}"/>
              </a:ext>
            </a:extLst>
          </p:cNvPr>
          <p:cNvSpPr txBox="1"/>
          <p:nvPr/>
        </p:nvSpPr>
        <p:spPr>
          <a:xfrm>
            <a:off x="8278589" y="1577103"/>
            <a:ext cx="221220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Фильтры по роли, группе, статусу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9769231-C9D7-CF46-5044-D3DB5E694479}"/>
              </a:ext>
            </a:extLst>
          </p:cNvPr>
          <p:cNvSpPr txBox="1"/>
          <p:nvPr/>
        </p:nvSpPr>
        <p:spPr>
          <a:xfrm>
            <a:off x="10166120" y="2171879"/>
            <a:ext cx="2678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Тг</a:t>
            </a:r>
            <a:r>
              <a:rPr lang="ru-RU" sz="1200" dirty="0"/>
              <a:t> </a:t>
            </a:r>
            <a:r>
              <a:rPr lang="en-US" sz="1200" dirty="0"/>
              <a:t>id</a:t>
            </a:r>
            <a:endParaRPr lang="ru-RU" sz="1200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A054F33-F97D-4BD8-F8E2-5EC8BA7345C3}"/>
              </a:ext>
            </a:extLst>
          </p:cNvPr>
          <p:cNvSpPr/>
          <p:nvPr/>
        </p:nvSpPr>
        <p:spPr>
          <a:xfrm>
            <a:off x="4964327" y="3179297"/>
            <a:ext cx="7111568" cy="8726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4BABB3E-B951-3F39-36FD-7732961C193D}"/>
              </a:ext>
            </a:extLst>
          </p:cNvPr>
          <p:cNvSpPr txBox="1"/>
          <p:nvPr/>
        </p:nvSpPr>
        <p:spPr>
          <a:xfrm>
            <a:off x="5069958" y="3244334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4EDC6A-9095-D6AA-2DA4-6EB51786163C}"/>
              </a:ext>
            </a:extLst>
          </p:cNvPr>
          <p:cNvSpPr txBox="1"/>
          <p:nvPr/>
        </p:nvSpPr>
        <p:spPr>
          <a:xfrm>
            <a:off x="5069958" y="3452544"/>
            <a:ext cx="389401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Права (сделаем на </a:t>
            </a:r>
            <a:r>
              <a:rPr lang="ru-RU" sz="1200" dirty="0" err="1"/>
              <a:t>бекенде</a:t>
            </a:r>
            <a:r>
              <a:rPr lang="ru-RU" sz="1200" dirty="0"/>
              <a:t> как для </a:t>
            </a:r>
            <a:r>
              <a:rPr lang="ru-RU" sz="1200" dirty="0" err="1"/>
              <a:t>помошников</a:t>
            </a:r>
            <a:r>
              <a:rPr lang="ru-RU" sz="1200" dirty="0"/>
              <a:t> старосты)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43A51D-37FE-1C4A-4267-77248F72D540}"/>
              </a:ext>
            </a:extLst>
          </p:cNvPr>
          <p:cNvSpPr txBox="1"/>
          <p:nvPr/>
        </p:nvSpPr>
        <p:spPr>
          <a:xfrm>
            <a:off x="5069958" y="3665314"/>
            <a:ext cx="26789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Тг</a:t>
            </a:r>
            <a:r>
              <a:rPr lang="ru-RU" sz="1200" dirty="0"/>
              <a:t> </a:t>
            </a:r>
            <a:r>
              <a:rPr lang="en-US" sz="1200" dirty="0"/>
              <a:t>id</a:t>
            </a:r>
            <a:endParaRPr lang="ru-RU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209FAA-7515-302C-DB54-818EF63430E9}"/>
              </a:ext>
            </a:extLst>
          </p:cNvPr>
          <p:cNvSpPr txBox="1"/>
          <p:nvPr/>
        </p:nvSpPr>
        <p:spPr>
          <a:xfrm>
            <a:off x="5069958" y="4190630"/>
            <a:ext cx="15432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Если создают препода</a:t>
            </a:r>
            <a:r>
              <a:rPr lang="en-US" sz="1200" dirty="0"/>
              <a:t>:</a:t>
            </a:r>
            <a:endParaRPr lang="ru-RU" sz="1200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634753E-7301-5DAD-BECB-BAEF977A1799}"/>
              </a:ext>
            </a:extLst>
          </p:cNvPr>
          <p:cNvSpPr/>
          <p:nvPr/>
        </p:nvSpPr>
        <p:spPr>
          <a:xfrm>
            <a:off x="4964327" y="4389798"/>
            <a:ext cx="7111568" cy="8726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184D49D-8EA7-FAB7-4164-BC421B51BE11}"/>
              </a:ext>
            </a:extLst>
          </p:cNvPr>
          <p:cNvSpPr txBox="1"/>
          <p:nvPr/>
        </p:nvSpPr>
        <p:spPr>
          <a:xfrm>
            <a:off x="5069958" y="4454835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E6721A-1086-C5FB-A2B9-39425650B21F}"/>
              </a:ext>
            </a:extLst>
          </p:cNvPr>
          <p:cNvSpPr txBox="1"/>
          <p:nvPr/>
        </p:nvSpPr>
        <p:spPr>
          <a:xfrm>
            <a:off x="5069958" y="4663045"/>
            <a:ext cx="120789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Табельный номер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82E8F38-C1D0-5EFB-97F7-D256D9A593D4}"/>
              </a:ext>
            </a:extLst>
          </p:cNvPr>
          <p:cNvSpPr txBox="1"/>
          <p:nvPr/>
        </p:nvSpPr>
        <p:spPr>
          <a:xfrm>
            <a:off x="5069958" y="4875815"/>
            <a:ext cx="133068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Тг</a:t>
            </a:r>
            <a:r>
              <a:rPr lang="ru-RU" sz="1200" dirty="0"/>
              <a:t> </a:t>
            </a:r>
            <a:r>
              <a:rPr lang="en-US" sz="1200" dirty="0"/>
              <a:t>id</a:t>
            </a:r>
            <a:r>
              <a:rPr lang="ru-RU" sz="1200" dirty="0"/>
              <a:t> – опционально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6EA1C9-A599-CC3A-A535-4002050B4BCF}"/>
              </a:ext>
            </a:extLst>
          </p:cNvPr>
          <p:cNvSpPr txBox="1"/>
          <p:nvPr/>
        </p:nvSpPr>
        <p:spPr>
          <a:xfrm>
            <a:off x="5069958" y="5401131"/>
            <a:ext cx="151772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Если создают студента</a:t>
            </a:r>
            <a:r>
              <a:rPr lang="en-US" sz="1200" dirty="0"/>
              <a:t>:</a:t>
            </a:r>
            <a:endParaRPr lang="ru-RU" sz="1200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EBF6C030-AF93-FE98-9B21-7E90C3B599BA}"/>
              </a:ext>
            </a:extLst>
          </p:cNvPr>
          <p:cNvSpPr/>
          <p:nvPr/>
        </p:nvSpPr>
        <p:spPr>
          <a:xfrm>
            <a:off x="4964327" y="5600299"/>
            <a:ext cx="7111568" cy="87265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4EE003-1B63-BB0C-7095-87E95167900B}"/>
              </a:ext>
            </a:extLst>
          </p:cNvPr>
          <p:cNvSpPr txBox="1"/>
          <p:nvPr/>
        </p:nvSpPr>
        <p:spPr>
          <a:xfrm>
            <a:off x="5069958" y="5665336"/>
            <a:ext cx="27251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Фио</a:t>
            </a:r>
            <a:endParaRPr lang="ru-RU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C4518E-5F27-EC8B-3C53-5C09208E23E3}"/>
              </a:ext>
            </a:extLst>
          </p:cNvPr>
          <p:cNvSpPr txBox="1"/>
          <p:nvPr/>
        </p:nvSpPr>
        <p:spPr>
          <a:xfrm>
            <a:off x="5069958" y="5873546"/>
            <a:ext cx="300774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Группа (вначале группа должна быть создана)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1522DAC-2151-BCC7-F86A-D1DC0AD035B3}"/>
              </a:ext>
            </a:extLst>
          </p:cNvPr>
          <p:cNvSpPr txBox="1"/>
          <p:nvPr/>
        </p:nvSpPr>
        <p:spPr>
          <a:xfrm>
            <a:off x="5069958" y="6086316"/>
            <a:ext cx="3031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 err="1"/>
              <a:t>Тг</a:t>
            </a:r>
            <a:r>
              <a:rPr lang="ru-RU" sz="1200" dirty="0"/>
              <a:t> </a:t>
            </a:r>
            <a:r>
              <a:rPr lang="en-US" sz="1200" dirty="0"/>
              <a:t>id</a:t>
            </a:r>
            <a:r>
              <a:rPr lang="ru-RU" sz="1200" dirty="0"/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60DD4D-36E0-3292-2781-2329B9609E1E}"/>
              </a:ext>
            </a:extLst>
          </p:cNvPr>
          <p:cNvSpPr txBox="1"/>
          <p:nvPr/>
        </p:nvSpPr>
        <p:spPr>
          <a:xfrm rot="5400000">
            <a:off x="10678527" y="2347488"/>
            <a:ext cx="1442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1469789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АДМИН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админ хочет видеть всех пользователей и </a:t>
            </a:r>
            <a:r>
              <a:rPr lang="ru-RU" sz="1100" dirty="0" err="1"/>
              <a:t>полностлью</a:t>
            </a:r>
            <a:r>
              <a:rPr lang="ru-RU" sz="1100" dirty="0"/>
              <a:t> </a:t>
            </a:r>
            <a:r>
              <a:rPr lang="ru-RU" sz="1100" dirty="0" err="1"/>
              <a:t>упрапвлять</a:t>
            </a:r>
            <a:r>
              <a:rPr lang="ru-RU" sz="1100" dirty="0"/>
              <a:t> ими</a:t>
            </a:r>
          </a:p>
          <a:p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706386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133 – СТРАНИЦА АДМИН – ГРУППЫ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ED41E-EFB2-66F6-86F6-569FBF6A3540}"/>
              </a:ext>
            </a:extLst>
          </p:cNvPr>
          <p:cNvSpPr txBox="1"/>
          <p:nvPr/>
        </p:nvSpPr>
        <p:spPr>
          <a:xfrm>
            <a:off x="5174233" y="4816254"/>
            <a:ext cx="1124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Добавить группу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42319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по умолчанию открываются активные, в архив переносятся группы которые закончили обучение выпустились или расформировались. Группы с данными не удаляются</a:t>
            </a:r>
          </a:p>
          <a:p>
            <a:endParaRPr lang="ru-RU" sz="1100" dirty="0"/>
          </a:p>
          <a:p>
            <a:r>
              <a:rPr lang="ru-RU" sz="1100" dirty="0"/>
              <a:t>2 – фильтры тут по чекбоксу те выбрать несколько можно</a:t>
            </a:r>
          </a:p>
          <a:p>
            <a:endParaRPr lang="ru-RU" sz="1100" dirty="0"/>
          </a:p>
          <a:p>
            <a:r>
              <a:rPr lang="ru-RU" sz="1100" dirty="0"/>
              <a:t>3  -в меню есть такие кнопки как «редактировать» , «архивировать», «Удалить» - это подтверждается паролем администратора, «Назначить старосту» - открывается список студентов группы и там ставится чекбокс кто староста, перевести группу на следующий курс</a:t>
            </a:r>
          </a:p>
          <a:p>
            <a:endParaRPr lang="ru-RU" sz="1100" dirty="0"/>
          </a:p>
          <a:p>
            <a:r>
              <a:rPr lang="ru-RU" sz="1100" dirty="0"/>
              <a:t>4 – при создании группы надо ещё указать сколько лет обучение и семестр создаётся осенний и весенний и после </a:t>
            </a:r>
            <a:r>
              <a:rPr lang="ru-RU" sz="1100" dirty="0" err="1"/>
              <a:t>весенего</a:t>
            </a:r>
            <a:r>
              <a:rPr lang="ru-RU" sz="1100" dirty="0"/>
              <a:t> как он закончился все группы у которых подошёл срок работы должны архивироваться а потом у других групп должен поменяться номер (на курс больше) надо очень важно проверить </a:t>
            </a:r>
            <a:r>
              <a:rPr lang="ru-RU" sz="1100" dirty="0" err="1"/>
              <a:t>бекенд</a:t>
            </a:r>
            <a:r>
              <a:rPr lang="ru-RU" sz="1100" dirty="0"/>
              <a:t>. Ручная кнопка для редких случаев но пусть будет и после ручной больше ничего не происходит автоматически в если должно</a:t>
            </a:r>
          </a:p>
          <a:p>
            <a:endParaRPr lang="ru-RU" sz="1100" dirty="0"/>
          </a:p>
          <a:p>
            <a:r>
              <a:rPr lang="ru-RU" sz="1100" dirty="0"/>
              <a:t>5 – разделим буквенный и цифровой код для удобства работы с </a:t>
            </a:r>
            <a:r>
              <a:rPr lang="ru-RU" sz="1100" dirty="0" err="1"/>
              <a:t>бекендом</a:t>
            </a:r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  <a:p>
            <a:endParaRPr lang="ru-RU" sz="11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FB400F6-2D37-ECA3-9350-8BABADA36ABE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7D01B2A9-9237-A6CD-8EB0-49C22477DF2A}"/>
                </a:ext>
              </a:extLst>
            </p:cNvPr>
            <p:cNvGrpSpPr/>
            <p:nvPr/>
          </p:nvGrpSpPr>
          <p:grpSpPr>
            <a:xfrm>
              <a:off x="4928314" y="128790"/>
              <a:ext cx="3112396" cy="287630"/>
              <a:chOff x="1803041" y="2137890"/>
              <a:chExt cx="3369003" cy="523744"/>
            </a:xfrm>
          </p:grpSpPr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CB9D77A1-8BA0-0445-A143-6BA823F925A1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33690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C27722EB-57FC-9C3A-7F8A-39E1EE941802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891795" cy="504387"/>
                <a:chOff x="2082085" y="1725766"/>
                <a:chExt cx="2891795" cy="504387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C0820A-7947-D440-A246-5C27BA8F328E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4C9D9FF-3F47-015B-0C60-44B223D6B264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175511F-DFE2-1C8B-AEC6-C1BE49C7A5AD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60FBB6D-358D-62DE-1266-3C118BD3C40B}"/>
                    </a:ext>
                  </a:extLst>
                </p:cNvPr>
                <p:cNvSpPr txBox="1"/>
                <p:nvPr/>
              </p:nvSpPr>
              <p:spPr>
                <a:xfrm>
                  <a:off x="4308964" y="1725766"/>
                  <a:ext cx="664916" cy="5043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админ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941B3C12-7961-02C8-F6AF-28B2C31B91BA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5C8CCC-D83B-3D64-01AB-B6152C117900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F6B41A-0F36-C8D7-11CF-96110EF71808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89845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пользователи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72ECB4-8826-9BD0-DDF0-41FCF7B01012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463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группы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88F0DE-9EB3-BB43-24D7-F32AB7DE1FBA}"/>
                  </a:ext>
                </a:extLst>
              </p:cNvPr>
              <p:cNvSpPr txBox="1"/>
              <p:nvPr/>
            </p:nvSpPr>
            <p:spPr>
              <a:xfrm>
                <a:off x="6156695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0506EE-3AF2-D632-5FD6-49654682E695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D172937-097F-019B-A5FA-ACF2169B9EF4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FC6F7FA-2A26-89A9-1DC0-C86157801133}"/>
                  </a:ext>
                </a:extLst>
              </p:cNvPr>
              <p:cNvSpPr txBox="1"/>
              <p:nvPr/>
            </p:nvSpPr>
            <p:spPr>
              <a:xfrm>
                <a:off x="5307408" y="2814035"/>
                <a:ext cx="6467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Семестры</a:t>
                </a:r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F241C79D-F095-B8CF-2A11-B5522E48615E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6E9B8CE-6968-BC28-5FDC-B6FB7CAB5967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4646890E-D2EF-537B-D421-9253E0360A92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80E662C2-7DD5-4089-2D27-0A9A74898708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4D1E07-F08F-B28A-AF68-7D9D4D259474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A24E678-14F7-6D7C-26ED-99CE6C4D2B33}"/>
              </a:ext>
            </a:extLst>
          </p:cNvPr>
          <p:cNvSpPr/>
          <p:nvPr/>
        </p:nvSpPr>
        <p:spPr>
          <a:xfrm>
            <a:off x="4964327" y="1382402"/>
            <a:ext cx="149016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60FC803-CC51-F3D7-8A16-E7E182D00CC2}"/>
              </a:ext>
            </a:extLst>
          </p:cNvPr>
          <p:cNvSpPr/>
          <p:nvPr/>
        </p:nvSpPr>
        <p:spPr>
          <a:xfrm>
            <a:off x="6900451" y="1382402"/>
            <a:ext cx="149016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4936DA-C614-8327-3E47-357B0E7CB917}"/>
              </a:ext>
            </a:extLst>
          </p:cNvPr>
          <p:cNvSpPr txBox="1"/>
          <p:nvPr/>
        </p:nvSpPr>
        <p:spPr>
          <a:xfrm>
            <a:off x="5007212" y="1433883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активные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139FC0-3A6C-B43E-0D46-70F6B7AE3FD1}"/>
              </a:ext>
            </a:extLst>
          </p:cNvPr>
          <p:cNvSpPr txBox="1"/>
          <p:nvPr/>
        </p:nvSpPr>
        <p:spPr>
          <a:xfrm>
            <a:off x="6977906" y="1395316"/>
            <a:ext cx="37683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архив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F644C56-0A0B-040D-1071-FA71DEC1561E}"/>
              </a:ext>
            </a:extLst>
          </p:cNvPr>
          <p:cNvSpPr/>
          <p:nvPr/>
        </p:nvSpPr>
        <p:spPr>
          <a:xfrm>
            <a:off x="9112773" y="1382402"/>
            <a:ext cx="149016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789251-2CB4-1130-0C8C-7723720DE711}"/>
              </a:ext>
            </a:extLst>
          </p:cNvPr>
          <p:cNvSpPr txBox="1"/>
          <p:nvPr/>
        </p:nvSpPr>
        <p:spPr>
          <a:xfrm>
            <a:off x="9190228" y="1395316"/>
            <a:ext cx="51924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Создать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58FC578-187E-7BFC-6F16-D28B3ACF75D2}"/>
              </a:ext>
            </a:extLst>
          </p:cNvPr>
          <p:cNvSpPr/>
          <p:nvPr/>
        </p:nvSpPr>
        <p:spPr>
          <a:xfrm>
            <a:off x="4964327" y="1813274"/>
            <a:ext cx="1936124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77474F-D3C9-C7E5-0C16-7F5AC51C8BB2}"/>
              </a:ext>
            </a:extLst>
          </p:cNvPr>
          <p:cNvSpPr txBox="1"/>
          <p:nvPr/>
        </p:nvSpPr>
        <p:spPr>
          <a:xfrm>
            <a:off x="5007212" y="1864755"/>
            <a:ext cx="18102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Поиск по названию группы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FB63759-625F-EDEF-A005-6CFBCA547BED}"/>
              </a:ext>
            </a:extLst>
          </p:cNvPr>
          <p:cNvSpPr/>
          <p:nvPr/>
        </p:nvSpPr>
        <p:spPr>
          <a:xfrm>
            <a:off x="7072648" y="1813274"/>
            <a:ext cx="127715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75A4756-52B4-7303-0375-BB995AA018DB}"/>
              </a:ext>
            </a:extLst>
          </p:cNvPr>
          <p:cNvSpPr txBox="1"/>
          <p:nvPr/>
        </p:nvSpPr>
        <p:spPr>
          <a:xfrm>
            <a:off x="7115533" y="1864755"/>
            <a:ext cx="109837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Фильтр по курсу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3AFBB9C-D839-AD65-01E6-D0069BA67F7C}"/>
              </a:ext>
            </a:extLst>
          </p:cNvPr>
          <p:cNvSpPr/>
          <p:nvPr/>
        </p:nvSpPr>
        <p:spPr>
          <a:xfrm>
            <a:off x="8474195" y="1813274"/>
            <a:ext cx="1277155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45AAA5-B34C-1E4A-944C-9BB881286E2C}"/>
              </a:ext>
            </a:extLst>
          </p:cNvPr>
          <p:cNvSpPr txBox="1"/>
          <p:nvPr/>
        </p:nvSpPr>
        <p:spPr>
          <a:xfrm>
            <a:off x="8517080" y="1864755"/>
            <a:ext cx="10441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Фильтр по коду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7C17B59-B155-6CC9-7D1B-8802FAA70C1E}"/>
              </a:ext>
            </a:extLst>
          </p:cNvPr>
          <p:cNvSpPr/>
          <p:nvPr/>
        </p:nvSpPr>
        <p:spPr>
          <a:xfrm>
            <a:off x="4964327" y="2180823"/>
            <a:ext cx="6871358" cy="13998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1BC85C-AD4F-943B-FD8D-558A76240DE8}"/>
              </a:ext>
            </a:extLst>
          </p:cNvPr>
          <p:cNvSpPr txBox="1"/>
          <p:nvPr/>
        </p:nvSpPr>
        <p:spPr>
          <a:xfrm>
            <a:off x="5117128" y="2329849"/>
            <a:ext cx="74417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Код группы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054945-FBBD-5A95-2FB9-2FD6FA3E1B2F}"/>
              </a:ext>
            </a:extLst>
          </p:cNvPr>
          <p:cNvSpPr txBox="1"/>
          <p:nvPr/>
        </p:nvSpPr>
        <p:spPr>
          <a:xfrm>
            <a:off x="6119088" y="2329849"/>
            <a:ext cx="2946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Курс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856B3E-ABEB-1650-EFDF-08CBEB8BEA7F}"/>
              </a:ext>
            </a:extLst>
          </p:cNvPr>
          <p:cNvSpPr txBox="1"/>
          <p:nvPr/>
        </p:nvSpPr>
        <p:spPr>
          <a:xfrm>
            <a:off x="6752366" y="2329849"/>
            <a:ext cx="2946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Курс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15D6E0-C1D2-F81F-8602-7612C5BD3409}"/>
              </a:ext>
            </a:extLst>
          </p:cNvPr>
          <p:cNvSpPr txBox="1"/>
          <p:nvPr/>
        </p:nvSpPr>
        <p:spPr>
          <a:xfrm>
            <a:off x="7563909" y="2329849"/>
            <a:ext cx="115602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Кол-во студентов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634FCA-E17A-877B-88F7-C078BD16A5B6}"/>
              </a:ext>
            </a:extLst>
          </p:cNvPr>
          <p:cNvSpPr txBox="1"/>
          <p:nvPr/>
        </p:nvSpPr>
        <p:spPr>
          <a:xfrm>
            <a:off x="9039146" y="2329849"/>
            <a:ext cx="120436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Кто староста (</a:t>
            </a:r>
            <a:r>
              <a:rPr lang="ru-RU" sz="1200" dirty="0" err="1"/>
              <a:t>фио</a:t>
            </a:r>
            <a:r>
              <a:rPr lang="ru-RU" sz="1200" dirty="0"/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30D75A-D2AD-E1BD-68EA-47C98A639ED8}"/>
              </a:ext>
            </a:extLst>
          </p:cNvPr>
          <p:cNvSpPr txBox="1"/>
          <p:nvPr/>
        </p:nvSpPr>
        <p:spPr>
          <a:xfrm rot="5400000">
            <a:off x="10743937" y="2512747"/>
            <a:ext cx="1442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….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93D8E790-8A8A-36BE-7223-29FF9D3FE96B}"/>
              </a:ext>
            </a:extLst>
          </p:cNvPr>
          <p:cNvSpPr/>
          <p:nvPr/>
        </p:nvSpPr>
        <p:spPr>
          <a:xfrm>
            <a:off x="4990260" y="3709115"/>
            <a:ext cx="1827191" cy="572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FE3B61-ACD6-0B90-8842-63CB46F8B0EC}"/>
              </a:ext>
            </a:extLst>
          </p:cNvPr>
          <p:cNvSpPr txBox="1"/>
          <p:nvPr/>
        </p:nvSpPr>
        <p:spPr>
          <a:xfrm>
            <a:off x="5318996" y="3903087"/>
            <a:ext cx="112453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Добавить группу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0E43476-4E2D-B06E-57F9-7108D609CDC6}"/>
              </a:ext>
            </a:extLst>
          </p:cNvPr>
          <p:cNvSpPr/>
          <p:nvPr/>
        </p:nvSpPr>
        <p:spPr>
          <a:xfrm>
            <a:off x="6956441" y="3709115"/>
            <a:ext cx="1827191" cy="5726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2EA266F-195F-F45B-FCD1-7D6AC24D5913}"/>
              </a:ext>
            </a:extLst>
          </p:cNvPr>
          <p:cNvSpPr txBox="1"/>
          <p:nvPr/>
        </p:nvSpPr>
        <p:spPr>
          <a:xfrm>
            <a:off x="7074820" y="3810754"/>
            <a:ext cx="147521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Перевести все группы </a:t>
            </a:r>
            <a:br>
              <a:rPr lang="ru-RU" sz="1200" dirty="0"/>
            </a:br>
            <a:r>
              <a:rPr lang="ru-RU" sz="1200" dirty="0"/>
              <a:t>на следующий курс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CFAC17F-B786-5650-8681-1C98F51213C9}"/>
              </a:ext>
            </a:extLst>
          </p:cNvPr>
          <p:cNvSpPr/>
          <p:nvPr/>
        </p:nvSpPr>
        <p:spPr>
          <a:xfrm>
            <a:off x="5179345" y="5108620"/>
            <a:ext cx="4572005" cy="104748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95DE6F-57F0-6D4E-7310-DB6045944056}"/>
              </a:ext>
            </a:extLst>
          </p:cNvPr>
          <p:cNvSpPr txBox="1"/>
          <p:nvPr/>
        </p:nvSpPr>
        <p:spPr>
          <a:xfrm>
            <a:off x="5299036" y="5259536"/>
            <a:ext cx="74417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Код группы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91AB14-6E1B-DAEE-01DA-9D29A3E7214C}"/>
              </a:ext>
            </a:extLst>
          </p:cNvPr>
          <p:cNvSpPr txBox="1"/>
          <p:nvPr/>
        </p:nvSpPr>
        <p:spPr>
          <a:xfrm>
            <a:off x="6302820" y="5259536"/>
            <a:ext cx="14815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Цифровой код группы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472C525-AD1B-163A-AF15-B0F9A3D297B8}"/>
              </a:ext>
            </a:extLst>
          </p:cNvPr>
          <p:cNvSpPr txBox="1"/>
          <p:nvPr/>
        </p:nvSpPr>
        <p:spPr>
          <a:xfrm>
            <a:off x="5299036" y="5531819"/>
            <a:ext cx="169091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лет обучения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8103E98-4477-0184-015F-EDD3B3016B94}"/>
              </a:ext>
            </a:extLst>
          </p:cNvPr>
          <p:cNvSpPr txBox="1"/>
          <p:nvPr/>
        </p:nvSpPr>
        <p:spPr>
          <a:xfrm>
            <a:off x="5299036" y="5867401"/>
            <a:ext cx="23926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Староста (выбрать из списка группы)</a:t>
            </a:r>
          </a:p>
        </p:txBody>
      </p:sp>
    </p:spTree>
    <p:extLst>
      <p:ext uri="{BB962C8B-B14F-4D97-AF65-F5344CB8AC3E}">
        <p14:creationId xmlns:p14="http://schemas.microsoft.com/office/powerpoint/2010/main" val="2525555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133 – СТРАНИЦА АДМИН – ГРУППЫ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Важно очень проверить </a:t>
            </a:r>
            <a:r>
              <a:rPr lang="ru-RU" sz="1100" dirty="0" err="1"/>
              <a:t>досканально</a:t>
            </a:r>
            <a:r>
              <a:rPr lang="ru-RU" sz="1100" dirty="0"/>
              <a:t> функционирование алгоритма перевода группы на другой курс</a:t>
            </a:r>
          </a:p>
        </p:txBody>
      </p:sp>
    </p:spTree>
    <p:extLst>
      <p:ext uri="{BB962C8B-B14F-4D97-AF65-F5344CB8AC3E}">
        <p14:creationId xmlns:p14="http://schemas.microsoft.com/office/powerpoint/2010/main" val="2342126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134 – СТРАНИЦА АДМИН – СЕМЕСТРЫ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семестры можно удалить (но с подтверждения пароля администратора) и можно </a:t>
            </a:r>
            <a:r>
              <a:rPr lang="ru-RU" sz="1100" dirty="0" err="1"/>
              <a:t>редактирвать</a:t>
            </a:r>
            <a:endParaRPr lang="ru-RU" sz="11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7058D3-B9FB-282C-B8A7-182EB46C976F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D9A2338B-8B53-3C9D-B505-7F29D71E2F5F}"/>
                </a:ext>
              </a:extLst>
            </p:cNvPr>
            <p:cNvGrpSpPr/>
            <p:nvPr/>
          </p:nvGrpSpPr>
          <p:grpSpPr>
            <a:xfrm>
              <a:off x="4928314" y="128790"/>
              <a:ext cx="3112396" cy="287630"/>
              <a:chOff x="1803041" y="2137890"/>
              <a:chExt cx="3369003" cy="523744"/>
            </a:xfrm>
          </p:grpSpPr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C6D9A696-39F9-F59C-8150-9EA8C014B020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33690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880126DC-3616-6A0D-4333-7FD9E5A352A7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891795" cy="504387"/>
                <a:chOff x="2082085" y="1725766"/>
                <a:chExt cx="2891795" cy="504387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FB965C5-A4F2-1646-D166-E735DACC46CD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0C105D8-E283-626E-521A-A15FBCB63F53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3A5A864-4BC6-C0F0-0703-91AADA4888B7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4366291-5791-C67B-6131-BE9A7390EABA}"/>
                    </a:ext>
                  </a:extLst>
                </p:cNvPr>
                <p:cNvSpPr txBox="1"/>
                <p:nvPr/>
              </p:nvSpPr>
              <p:spPr>
                <a:xfrm>
                  <a:off x="4308964" y="1725766"/>
                  <a:ext cx="664916" cy="5043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админ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34753856-73C4-5009-B5F2-B9F9C0B1DC0E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1B37AF-2EF0-13F7-51D2-0090F256BF00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CA633E-0471-B13D-BCB2-55A3E7DBF1F8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89845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пользователи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0B3A89-7392-FA00-FDD8-2F0C5D5594F9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463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группы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D74934-1CDF-1874-A01C-989E4BD21D49}"/>
                  </a:ext>
                </a:extLst>
              </p:cNvPr>
              <p:cNvSpPr txBox="1"/>
              <p:nvPr/>
            </p:nvSpPr>
            <p:spPr>
              <a:xfrm>
                <a:off x="6156695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8F95EA6-1D6F-FDC8-B61B-1A30770A4C5C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6EC7972-2D3B-3DCC-9D38-782DA14915B4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4B3372D-316D-8890-40FA-921AEC0E8674}"/>
                  </a:ext>
                </a:extLst>
              </p:cNvPr>
              <p:cNvSpPr txBox="1"/>
              <p:nvPr/>
            </p:nvSpPr>
            <p:spPr>
              <a:xfrm>
                <a:off x="5307408" y="2814035"/>
                <a:ext cx="6467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Семестры</a:t>
                </a:r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1534DB30-1088-72DE-5F29-F0895776690D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5F624D-1FE5-5E19-47D7-8BC6723A37ED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EB4AA81-F1D1-0061-80FF-08F4E52D37B1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297BFCAA-7721-8AA6-DE73-4489D540D721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BFB2DE-034E-D66E-1E21-FF394B1FB76A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8D3A9B4-EF2F-A84E-9C42-D61B0D48612C}"/>
              </a:ext>
            </a:extLst>
          </p:cNvPr>
          <p:cNvSpPr/>
          <p:nvPr/>
        </p:nvSpPr>
        <p:spPr>
          <a:xfrm>
            <a:off x="4964327" y="1136165"/>
            <a:ext cx="149016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57AC5B-836E-30B5-1D65-AC1693CD8DE0}"/>
              </a:ext>
            </a:extLst>
          </p:cNvPr>
          <p:cNvSpPr txBox="1"/>
          <p:nvPr/>
        </p:nvSpPr>
        <p:spPr>
          <a:xfrm>
            <a:off x="5046801" y="1187646"/>
            <a:ext cx="71333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+ </a:t>
            </a:r>
            <a:r>
              <a:rPr lang="ru-RU" sz="1200" dirty="0" err="1"/>
              <a:t>секместр</a:t>
            </a:r>
            <a:endParaRPr lang="ru-RU" sz="120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9BAEAA2-C6F2-DB2D-1032-749A75A5A2C4}"/>
              </a:ext>
            </a:extLst>
          </p:cNvPr>
          <p:cNvSpPr/>
          <p:nvPr/>
        </p:nvSpPr>
        <p:spPr>
          <a:xfrm>
            <a:off x="4964326" y="1552582"/>
            <a:ext cx="7073127" cy="11176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8B0B3B-4E68-4055-A2BA-0AECBCAE685D}"/>
              </a:ext>
            </a:extLst>
          </p:cNvPr>
          <p:cNvSpPr txBox="1"/>
          <p:nvPr/>
        </p:nvSpPr>
        <p:spPr>
          <a:xfrm>
            <a:off x="5082988" y="1648830"/>
            <a:ext cx="618759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 (список из 2-х вариантов: осенний или весенний) + автоматом ставится текущий год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8C45A3-51AF-0921-A5DD-587675C060AC}"/>
              </a:ext>
            </a:extLst>
          </p:cNvPr>
          <p:cNvSpPr txBox="1"/>
          <p:nvPr/>
        </p:nvSpPr>
        <p:spPr>
          <a:xfrm>
            <a:off x="5082988" y="1876669"/>
            <a:ext cx="163102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Выбирается дата начала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226A44-9A6E-3D40-FE95-DDF63F3D4C06}"/>
              </a:ext>
            </a:extLst>
          </p:cNvPr>
          <p:cNvSpPr txBox="1"/>
          <p:nvPr/>
        </p:nvSpPr>
        <p:spPr>
          <a:xfrm>
            <a:off x="6998520" y="1876669"/>
            <a:ext cx="15679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Выбирается дата конца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362E777-1B29-FE0F-A416-6E4BD108778A}"/>
              </a:ext>
            </a:extLst>
          </p:cNvPr>
          <p:cNvSpPr/>
          <p:nvPr/>
        </p:nvSpPr>
        <p:spPr>
          <a:xfrm>
            <a:off x="5082988" y="2310939"/>
            <a:ext cx="1490160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F7322D-4065-318A-8654-FE10471D008E}"/>
              </a:ext>
            </a:extLst>
          </p:cNvPr>
          <p:cNvSpPr txBox="1"/>
          <p:nvPr/>
        </p:nvSpPr>
        <p:spPr>
          <a:xfrm>
            <a:off x="5265405" y="2375901"/>
            <a:ext cx="6794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Сохранить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C4CA6A-4D04-E1F3-3275-8DA3833F2EDA}"/>
              </a:ext>
            </a:extLst>
          </p:cNvPr>
          <p:cNvSpPr/>
          <p:nvPr/>
        </p:nvSpPr>
        <p:spPr>
          <a:xfrm>
            <a:off x="4928314" y="3321266"/>
            <a:ext cx="7109139" cy="145316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00D46AC-2753-A01C-DB1C-DADC2DF50545}"/>
              </a:ext>
            </a:extLst>
          </p:cNvPr>
          <p:cNvSpPr/>
          <p:nvPr/>
        </p:nvSpPr>
        <p:spPr>
          <a:xfrm>
            <a:off x="5082987" y="3011386"/>
            <a:ext cx="2459739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43BFB3-E93F-C6CC-916B-D15E7295AC05}"/>
              </a:ext>
            </a:extLst>
          </p:cNvPr>
          <p:cNvSpPr txBox="1"/>
          <p:nvPr/>
        </p:nvSpPr>
        <p:spPr>
          <a:xfrm>
            <a:off x="5219083" y="3080645"/>
            <a:ext cx="219989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Статус активные или неактивные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32C0C4-3CCE-6195-8B77-A2CDEA27F94D}"/>
              </a:ext>
            </a:extLst>
          </p:cNvPr>
          <p:cNvSpPr txBox="1"/>
          <p:nvPr/>
        </p:nvSpPr>
        <p:spPr>
          <a:xfrm>
            <a:off x="5150996" y="3503714"/>
            <a:ext cx="62517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Название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253A33-EA16-044E-3B5E-2EDD7B0CD1E2}"/>
              </a:ext>
            </a:extLst>
          </p:cNvPr>
          <p:cNvSpPr txBox="1"/>
          <p:nvPr/>
        </p:nvSpPr>
        <p:spPr>
          <a:xfrm>
            <a:off x="6207939" y="3503714"/>
            <a:ext cx="47609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Начало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D3DF87-63A0-7B51-2C85-C71E765B0520}"/>
              </a:ext>
            </a:extLst>
          </p:cNvPr>
          <p:cNvSpPr txBox="1"/>
          <p:nvPr/>
        </p:nvSpPr>
        <p:spPr>
          <a:xfrm>
            <a:off x="7338063" y="3503714"/>
            <a:ext cx="40498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Конец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5FEC54-DCF3-9878-A8BB-157A64F31B76}"/>
              </a:ext>
            </a:extLst>
          </p:cNvPr>
          <p:cNvSpPr txBox="1"/>
          <p:nvPr/>
        </p:nvSpPr>
        <p:spPr>
          <a:xfrm>
            <a:off x="8425396" y="3503714"/>
            <a:ext cx="40774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Статус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08A177-6AA1-91FC-9E8F-FA924F8759D7}"/>
              </a:ext>
            </a:extLst>
          </p:cNvPr>
          <p:cNvSpPr txBox="1"/>
          <p:nvPr/>
        </p:nvSpPr>
        <p:spPr>
          <a:xfrm rot="5400000">
            <a:off x="9515486" y="3503714"/>
            <a:ext cx="14427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6144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134 – СТРАНИЦА АДМИН – СЕМЕСТРЫ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Проверить систему работы семестров на </a:t>
            </a:r>
            <a:r>
              <a:rPr lang="ru-RU" sz="1100" dirty="0" err="1"/>
              <a:t>бекенде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89053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55DE34E-1F52-2BE9-468C-A5BC762F6445}"/>
              </a:ext>
            </a:extLst>
          </p:cNvPr>
          <p:cNvSpPr>
            <a:spLocks/>
          </p:cNvSpPr>
          <p:nvPr/>
        </p:nvSpPr>
        <p:spPr>
          <a:xfrm>
            <a:off x="4800600" y="0"/>
            <a:ext cx="7391399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8CB585-D000-9D9E-13D0-F9ED93B0ED70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135 – СТРАНИЦА АДМИН – КАРТА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6BACE-FADE-7E5D-4C20-821ABD1C29EE}"/>
              </a:ext>
            </a:extLst>
          </p:cNvPr>
          <p:cNvSpPr txBox="1"/>
          <p:nvPr/>
        </p:nvSpPr>
        <p:spPr>
          <a:xfrm>
            <a:off x="191164" y="1110702"/>
            <a:ext cx="43765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в меню можно редактировать данные, корпус и этаж </a:t>
            </a:r>
            <a:r>
              <a:rPr lang="ru-RU" sz="1100" dirty="0" err="1"/>
              <a:t>пимшется</a:t>
            </a:r>
            <a:r>
              <a:rPr lang="ru-RU" sz="1100" dirty="0"/>
              <a:t> одной цифрой и отправляется в </a:t>
            </a:r>
            <a:r>
              <a:rPr lang="ru-RU" sz="1100" dirty="0" err="1"/>
              <a:t>бекенд</a:t>
            </a:r>
            <a:endParaRPr lang="ru-RU" sz="1100" dirty="0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0744B96-39FE-63DB-B28D-383638DCBDE0}"/>
              </a:ext>
            </a:extLst>
          </p:cNvPr>
          <p:cNvGrpSpPr/>
          <p:nvPr/>
        </p:nvGrpSpPr>
        <p:grpSpPr>
          <a:xfrm>
            <a:off x="4928314" y="96316"/>
            <a:ext cx="7180628" cy="1014386"/>
            <a:chOff x="4928314" y="96316"/>
            <a:chExt cx="7180628" cy="1014386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EEFFBCDB-131B-07E7-E6DE-67B3145A7AC7}"/>
                </a:ext>
              </a:extLst>
            </p:cNvPr>
            <p:cNvGrpSpPr/>
            <p:nvPr/>
          </p:nvGrpSpPr>
          <p:grpSpPr>
            <a:xfrm>
              <a:off x="4928314" y="128790"/>
              <a:ext cx="3112396" cy="287630"/>
              <a:chOff x="1803041" y="2137890"/>
              <a:chExt cx="3369003" cy="523744"/>
            </a:xfrm>
          </p:grpSpPr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B0015773-5FB8-2780-DE15-9B6EFFF4F096}"/>
                  </a:ext>
                </a:extLst>
              </p:cNvPr>
              <p:cNvSpPr/>
              <p:nvPr/>
            </p:nvSpPr>
            <p:spPr>
              <a:xfrm>
                <a:off x="1803041" y="2137894"/>
                <a:ext cx="3369003" cy="523740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grpSp>
            <p:nvGrpSpPr>
              <p:cNvPr id="22" name="Группа 21">
                <a:extLst>
                  <a:ext uri="{FF2B5EF4-FFF2-40B4-BE49-F238E27FC236}">
                    <a16:creationId xmlns:a16="http://schemas.microsoft.com/office/drawing/2014/main" id="{01EEF94B-C8B2-CA24-A564-2B17E6C74384}"/>
                  </a:ext>
                </a:extLst>
              </p:cNvPr>
              <p:cNvGrpSpPr/>
              <p:nvPr/>
            </p:nvGrpSpPr>
            <p:grpSpPr>
              <a:xfrm>
                <a:off x="1970467" y="2137890"/>
                <a:ext cx="2891795" cy="504387"/>
                <a:chOff x="2082085" y="1725766"/>
                <a:chExt cx="2891795" cy="504387"/>
              </a:xfrm>
            </p:grpSpPr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1C7A82D-AFA4-D231-91F3-5C31764EA123}"/>
                    </a:ext>
                  </a:extLst>
                </p:cNvPr>
                <p:cNvSpPr txBox="1"/>
                <p:nvPr/>
              </p:nvSpPr>
              <p:spPr>
                <a:xfrm>
                  <a:off x="2082085" y="1725768"/>
                  <a:ext cx="7441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староста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D34B029-4900-D3A0-B8F9-7F79EA9E4EF6}"/>
                    </a:ext>
                  </a:extLst>
                </p:cNvPr>
                <p:cNvSpPr txBox="1"/>
                <p:nvPr/>
              </p:nvSpPr>
              <p:spPr>
                <a:xfrm>
                  <a:off x="2826199" y="1725766"/>
                  <a:ext cx="675826" cy="27700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студент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62603A4-9929-8F1C-FB48-07863D39DA87}"/>
                    </a:ext>
                  </a:extLst>
                </p:cNvPr>
                <p:cNvSpPr txBox="1"/>
                <p:nvPr/>
              </p:nvSpPr>
              <p:spPr>
                <a:xfrm>
                  <a:off x="3566659" y="1725766"/>
                  <a:ext cx="760073" cy="5043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Учитель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32A7792-C40C-ECEC-C97B-8292FBAAEBF8}"/>
                    </a:ext>
                  </a:extLst>
                </p:cNvPr>
                <p:cNvSpPr txBox="1"/>
                <p:nvPr/>
              </p:nvSpPr>
              <p:spPr>
                <a:xfrm>
                  <a:off x="4308964" y="1725766"/>
                  <a:ext cx="664916" cy="5043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ru-RU" sz="1200" dirty="0"/>
                    <a:t>админ</a:t>
                  </a:r>
                </a:p>
              </p:txBody>
            </p:sp>
          </p:grp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0DD65C6-4329-BC1C-A641-869FE518494A}"/>
                </a:ext>
              </a:extLst>
            </p:cNvPr>
            <p:cNvGrpSpPr/>
            <p:nvPr/>
          </p:nvGrpSpPr>
          <p:grpSpPr>
            <a:xfrm>
              <a:off x="4928315" y="598868"/>
              <a:ext cx="4738618" cy="184666"/>
              <a:chOff x="2659614" y="2814035"/>
              <a:chExt cx="4738618" cy="184666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1A4AA0-A418-BF95-66DB-79B9088CE182}"/>
                  </a:ext>
                </a:extLst>
              </p:cNvPr>
              <p:cNvSpPr txBox="1"/>
              <p:nvPr/>
            </p:nvSpPr>
            <p:spPr>
              <a:xfrm>
                <a:off x="2659614" y="2814035"/>
                <a:ext cx="50206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главная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D883BB-C4FC-1806-BFE4-46895F4BBC66}"/>
                  </a:ext>
                </a:extLst>
              </p:cNvPr>
              <p:cNvSpPr txBox="1"/>
              <p:nvPr/>
            </p:nvSpPr>
            <p:spPr>
              <a:xfrm>
                <a:off x="3353373" y="2814035"/>
                <a:ext cx="89845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пользователи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9B9037-C01C-E6A0-718F-D5A035E28271}"/>
                  </a:ext>
                </a:extLst>
              </p:cNvPr>
              <p:cNvSpPr txBox="1"/>
              <p:nvPr/>
            </p:nvSpPr>
            <p:spPr>
              <a:xfrm>
                <a:off x="4497961" y="2814035"/>
                <a:ext cx="46371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группы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90E0A4A-7585-19F2-534C-39604306FF3D}"/>
                  </a:ext>
                </a:extLst>
              </p:cNvPr>
              <p:cNvSpPr txBox="1"/>
              <p:nvPr/>
            </p:nvSpPr>
            <p:spPr>
              <a:xfrm>
                <a:off x="6156695" y="2814035"/>
                <a:ext cx="35682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карта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979C3D7-CC2A-DB61-009D-189B2FC5C85F}"/>
                  </a:ext>
                </a:extLst>
              </p:cNvPr>
              <p:cNvSpPr txBox="1"/>
              <p:nvPr/>
            </p:nvSpPr>
            <p:spPr>
              <a:xfrm>
                <a:off x="6844072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8B082C-69AC-127C-012F-D9A74893FB5B}"/>
                  </a:ext>
                </a:extLst>
              </p:cNvPr>
              <p:cNvSpPr txBox="1"/>
              <p:nvPr/>
            </p:nvSpPr>
            <p:spPr>
              <a:xfrm>
                <a:off x="7398167" y="2814035"/>
                <a:ext cx="6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endParaRPr lang="ru-RU" sz="1200" b="1" dirty="0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70A8D7B-C58D-1D68-0CC1-751E98D45A2A}"/>
                  </a:ext>
                </a:extLst>
              </p:cNvPr>
              <p:cNvSpPr txBox="1"/>
              <p:nvPr/>
            </p:nvSpPr>
            <p:spPr>
              <a:xfrm>
                <a:off x="5307408" y="2814035"/>
                <a:ext cx="64671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Семестры</a:t>
                </a:r>
              </a:p>
            </p:txBody>
          </p:sp>
        </p:grp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3B8ABE87-42A2-BBDE-94F1-AB5108886224}"/>
                </a:ext>
              </a:extLst>
            </p:cNvPr>
            <p:cNvSpPr/>
            <p:nvPr/>
          </p:nvSpPr>
          <p:spPr>
            <a:xfrm>
              <a:off x="11638209" y="96316"/>
              <a:ext cx="369194" cy="369194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009C4A-2CC3-52E8-13BF-EC256943B51A}"/>
                </a:ext>
              </a:extLst>
            </p:cNvPr>
            <p:cNvSpPr txBox="1"/>
            <p:nvPr/>
          </p:nvSpPr>
          <p:spPr>
            <a:xfrm>
              <a:off x="11536669" y="188580"/>
              <a:ext cx="572273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ru-RU" sz="1200" dirty="0"/>
                <a:t>профиль</a:t>
              </a:r>
            </a:p>
          </p:txBody>
        </p: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60D4713A-BD1E-393C-D55E-A4DB1AE741DE}"/>
                </a:ext>
              </a:extLst>
            </p:cNvPr>
            <p:cNvGrpSpPr/>
            <p:nvPr/>
          </p:nvGrpSpPr>
          <p:grpSpPr>
            <a:xfrm>
              <a:off x="10908405" y="513981"/>
              <a:ext cx="1167685" cy="596721"/>
              <a:chOff x="10908405" y="513981"/>
              <a:chExt cx="1167685" cy="596721"/>
            </a:xfrm>
          </p:grpSpPr>
          <p:sp>
            <p:nvSpPr>
              <p:cNvPr id="12" name="Прямоугольник 11">
                <a:extLst>
                  <a:ext uri="{FF2B5EF4-FFF2-40B4-BE49-F238E27FC236}">
                    <a16:creationId xmlns:a16="http://schemas.microsoft.com/office/drawing/2014/main" id="{44687AF0-2831-1F2C-AAB1-F594AB3EB0B6}"/>
                  </a:ext>
                </a:extLst>
              </p:cNvPr>
              <p:cNvSpPr/>
              <p:nvPr/>
            </p:nvSpPr>
            <p:spPr>
              <a:xfrm>
                <a:off x="10908405" y="513981"/>
                <a:ext cx="1167685" cy="596721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C2807B4-C9AA-6B7B-33F9-24B457029D16}"/>
                  </a:ext>
                </a:extLst>
              </p:cNvPr>
              <p:cNvSpPr txBox="1"/>
              <p:nvPr/>
            </p:nvSpPr>
            <p:spPr>
              <a:xfrm>
                <a:off x="11032536" y="603721"/>
                <a:ext cx="69570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ru-RU" sz="1200" dirty="0"/>
                  <a:t>Настройки</a:t>
                </a:r>
                <a:br>
                  <a:rPr lang="ru-RU" sz="1200" dirty="0"/>
                </a:br>
                <a:r>
                  <a:rPr lang="ru-RU" sz="1200" dirty="0"/>
                  <a:t>Выход</a:t>
                </a:r>
              </a:p>
            </p:txBody>
          </p:sp>
        </p:grpSp>
      </p:grp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CC42708-2F7B-C510-B0D8-04EE1283284F}"/>
              </a:ext>
            </a:extLst>
          </p:cNvPr>
          <p:cNvSpPr/>
          <p:nvPr/>
        </p:nvSpPr>
        <p:spPr>
          <a:xfrm>
            <a:off x="4928314" y="1051526"/>
            <a:ext cx="957331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D9E107-78EE-A01B-24B8-EF0D07416053}"/>
              </a:ext>
            </a:extLst>
          </p:cNvPr>
          <p:cNvSpPr txBox="1"/>
          <p:nvPr/>
        </p:nvSpPr>
        <p:spPr>
          <a:xfrm>
            <a:off x="5047995" y="1103007"/>
            <a:ext cx="6239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Добавить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0D56A0B-F066-2DF3-75E6-A13DD2D8F71A}"/>
              </a:ext>
            </a:extLst>
          </p:cNvPr>
          <p:cNvSpPr/>
          <p:nvPr/>
        </p:nvSpPr>
        <p:spPr>
          <a:xfrm>
            <a:off x="4928314" y="1399504"/>
            <a:ext cx="6915956" cy="9186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792D49-61BC-4A38-E75A-1C8B62429CB6}"/>
              </a:ext>
            </a:extLst>
          </p:cNvPr>
          <p:cNvSpPr/>
          <p:nvPr/>
        </p:nvSpPr>
        <p:spPr>
          <a:xfrm>
            <a:off x="5057271" y="1528296"/>
            <a:ext cx="1828633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A76B18-DECD-F2DD-94AB-2E4CC6B7CFD2}"/>
              </a:ext>
            </a:extLst>
          </p:cNvPr>
          <p:cNvSpPr txBox="1"/>
          <p:nvPr/>
        </p:nvSpPr>
        <p:spPr>
          <a:xfrm>
            <a:off x="5176952" y="1579777"/>
            <a:ext cx="162070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Корпус цифрой пишется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D79C40F-B30E-37F4-EFB9-2B9980D3457A}"/>
              </a:ext>
            </a:extLst>
          </p:cNvPr>
          <p:cNvSpPr/>
          <p:nvPr/>
        </p:nvSpPr>
        <p:spPr>
          <a:xfrm>
            <a:off x="7030544" y="1528296"/>
            <a:ext cx="1828633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0201D1-C4C7-1C93-F43B-5281D4526176}"/>
              </a:ext>
            </a:extLst>
          </p:cNvPr>
          <p:cNvSpPr txBox="1"/>
          <p:nvPr/>
        </p:nvSpPr>
        <p:spPr>
          <a:xfrm>
            <a:off x="7150225" y="1579777"/>
            <a:ext cx="86677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Этаж цифрой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ADADC02-D3AB-74AC-D07D-71F2682012FA}"/>
              </a:ext>
            </a:extLst>
          </p:cNvPr>
          <p:cNvSpPr/>
          <p:nvPr/>
        </p:nvSpPr>
        <p:spPr>
          <a:xfrm>
            <a:off x="5057271" y="1890102"/>
            <a:ext cx="1828633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51F6A8-BC21-5113-0E00-74665E59DA93}"/>
              </a:ext>
            </a:extLst>
          </p:cNvPr>
          <p:cNvSpPr txBox="1"/>
          <p:nvPr/>
        </p:nvSpPr>
        <p:spPr>
          <a:xfrm>
            <a:off x="5176952" y="1941583"/>
            <a:ext cx="108683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Прикрепить </a:t>
            </a:r>
            <a:r>
              <a:rPr lang="en-US" sz="1200" dirty="0" err="1"/>
              <a:t>png</a:t>
            </a:r>
            <a:endParaRPr lang="ru-RU" sz="120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A6EF3D2-FE33-A2B8-99E0-57E4D0B81A9C}"/>
              </a:ext>
            </a:extLst>
          </p:cNvPr>
          <p:cNvSpPr/>
          <p:nvPr/>
        </p:nvSpPr>
        <p:spPr>
          <a:xfrm>
            <a:off x="7030544" y="1890102"/>
            <a:ext cx="1828633" cy="2876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2869A6-4CBF-D075-3DA5-F2AD75C697B1}"/>
              </a:ext>
            </a:extLst>
          </p:cNvPr>
          <p:cNvSpPr txBox="1"/>
          <p:nvPr/>
        </p:nvSpPr>
        <p:spPr>
          <a:xfrm>
            <a:off x="7150225" y="1941583"/>
            <a:ext cx="101668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Прикрепить </a:t>
            </a:r>
            <a:r>
              <a:rPr lang="en-US" sz="1200" dirty="0" err="1"/>
              <a:t>svg</a:t>
            </a:r>
            <a:endParaRPr lang="ru-RU" sz="1200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DCFDA83-C3ED-80BD-6B14-8A8B0B60F26D}"/>
              </a:ext>
            </a:extLst>
          </p:cNvPr>
          <p:cNvSpPr/>
          <p:nvPr/>
        </p:nvSpPr>
        <p:spPr>
          <a:xfrm>
            <a:off x="4928314" y="2451279"/>
            <a:ext cx="6915956" cy="202627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A88C83-C199-E5C4-F72C-75EECC9C06D1}"/>
              </a:ext>
            </a:extLst>
          </p:cNvPr>
          <p:cNvSpPr txBox="1"/>
          <p:nvPr/>
        </p:nvSpPr>
        <p:spPr>
          <a:xfrm>
            <a:off x="5082988" y="2561756"/>
            <a:ext cx="45730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Корпус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7B047F-B93D-EE3B-AECF-636CEBA17C09}"/>
              </a:ext>
            </a:extLst>
          </p:cNvPr>
          <p:cNvSpPr txBox="1"/>
          <p:nvPr/>
        </p:nvSpPr>
        <p:spPr>
          <a:xfrm>
            <a:off x="5918365" y="2561756"/>
            <a:ext cx="323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Этаж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DFBA2B-4623-807C-1AAC-29D23780125D}"/>
              </a:ext>
            </a:extLst>
          </p:cNvPr>
          <p:cNvSpPr txBox="1"/>
          <p:nvPr/>
        </p:nvSpPr>
        <p:spPr>
          <a:xfrm>
            <a:off x="6782031" y="2561756"/>
            <a:ext cx="130747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Статус загрузки </a:t>
            </a:r>
            <a:r>
              <a:rPr lang="en-US" sz="1200" dirty="0" err="1"/>
              <a:t>png</a:t>
            </a:r>
            <a:endParaRPr lang="ru-RU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86DE07-20F3-5168-FA01-9A07F2CCBA8F}"/>
              </a:ext>
            </a:extLst>
          </p:cNvPr>
          <p:cNvSpPr txBox="1"/>
          <p:nvPr/>
        </p:nvSpPr>
        <p:spPr>
          <a:xfrm>
            <a:off x="8496299" y="2561756"/>
            <a:ext cx="123732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Статус загрузки </a:t>
            </a:r>
            <a:r>
              <a:rPr lang="en-US" sz="1200" dirty="0" err="1"/>
              <a:t>svg</a:t>
            </a:r>
            <a:endParaRPr lang="ru-RU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D7FDDF-574C-B31E-5696-8E5739F807BE}"/>
              </a:ext>
            </a:extLst>
          </p:cNvPr>
          <p:cNvSpPr txBox="1"/>
          <p:nvPr/>
        </p:nvSpPr>
        <p:spPr>
          <a:xfrm>
            <a:off x="9966517" y="2561756"/>
            <a:ext cx="165583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Количество выбора этого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B061C78-7495-9894-269C-7AFBC88B9982}"/>
              </a:ext>
            </a:extLst>
          </p:cNvPr>
          <p:cNvSpPr txBox="1"/>
          <p:nvPr/>
        </p:nvSpPr>
        <p:spPr>
          <a:xfrm rot="5400000">
            <a:off x="11712811" y="2841834"/>
            <a:ext cx="10579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ru-RU" sz="1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26947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BF1D13-CE06-C806-8463-F69A90EE5805}"/>
              </a:ext>
            </a:extLst>
          </p:cNvPr>
          <p:cNvSpPr/>
          <p:nvPr/>
        </p:nvSpPr>
        <p:spPr>
          <a:xfrm>
            <a:off x="1" y="0"/>
            <a:ext cx="4800600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ПК – </a:t>
            </a:r>
            <a:r>
              <a:rPr lang="en-US" dirty="0"/>
              <a:t>XXX</a:t>
            </a:r>
            <a:r>
              <a:rPr lang="ru-RU" dirty="0"/>
              <a:t> – СТРАНИЦА АДМИН – </a:t>
            </a:r>
            <a:r>
              <a:rPr lang="en-US" dirty="0"/>
              <a:t>XXX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437AA22-DE2F-A879-84F5-0810F36EAB2D}"/>
              </a:ext>
            </a:extLst>
          </p:cNvPr>
          <p:cNvSpPr/>
          <p:nvPr/>
        </p:nvSpPr>
        <p:spPr>
          <a:xfrm>
            <a:off x="4800601" y="0"/>
            <a:ext cx="7391398" cy="914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Job </a:t>
            </a:r>
            <a:r>
              <a:rPr lang="ru-RU" dirty="0"/>
              <a:t>и</a:t>
            </a:r>
            <a:r>
              <a:rPr lang="en-US" dirty="0"/>
              <a:t> User Story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6B0A3-EADC-13E1-99CB-6B2A5EA9B5BD}"/>
              </a:ext>
            </a:extLst>
          </p:cNvPr>
          <p:cNvSpPr txBox="1"/>
          <p:nvPr/>
        </p:nvSpPr>
        <p:spPr>
          <a:xfrm>
            <a:off x="191164" y="1247804"/>
            <a:ext cx="4376544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ru-RU" sz="1100" dirty="0"/>
              <a:t>1 – админ должен иметь возможность загружать планы корпусов, после этого они </a:t>
            </a:r>
            <a:r>
              <a:rPr lang="ru-RU" sz="1100" dirty="0" err="1"/>
              <a:t>хешируются</a:t>
            </a:r>
            <a:r>
              <a:rPr lang="ru-RU" sz="1100" dirty="0"/>
              <a:t> и отдаётся уже всем </a:t>
            </a:r>
            <a:r>
              <a:rPr lang="ru-RU" sz="1100" dirty="0" err="1"/>
              <a:t>хеш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7747338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770</Words>
  <Application>Microsoft Office PowerPoint</Application>
  <PresentationFormat>Широкоэкранный</PresentationFormat>
  <Paragraphs>179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keysoft.store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Дитковский</dc:creator>
  <cp:lastModifiedBy>Максим Дитковский</cp:lastModifiedBy>
  <cp:revision>97</cp:revision>
  <dcterms:created xsi:type="dcterms:W3CDTF">2026-07-26T18:25:54Z</dcterms:created>
  <dcterms:modified xsi:type="dcterms:W3CDTF">2026-07-29T20:11:46Z</dcterms:modified>
</cp:coreProperties>
</file>